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los tres números. Que sepa desde el segundo uno que la conversación es de miles, no de cientos de miles.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Omar sólo lee un slide, que sea 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nivel 1 es el que se vende primero y el que hace dinero. Los niveles 2 y 3 son a dónde puede llegar, no por dónde se empieza.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Anticipar la objeción antes de que Omar la haga: sí, $22,978 se parece al precio de un montacargas nuevo. Por eso el que se vende primero es el nivel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argumento que le cierra a un jefe: no es un negocio nuevo separado, es un diferenciador para el negocio que ya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simulador en vivo si hay tiempo. Es lo que convierte esto de una idea a algo que ya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slide de la decisión. Dejar que Omar pregunte. La recomendación viene en el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que importa: 1.9 años. Y el contraste: el autónomo de fábrica tarda 7.2 años en pagarse, o sea nunca dentro de un ciclo de inversión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el slide en pantalla mientras habla. La imagen se explica sola; no hay que narrarla renglón por renglón.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es el que da credibilidad. Si le vendés a Omar el cuento gringo del retorno en cuatro meses, lo va a descubrir solo y pierde confianza en todo lo demás. Decilo vos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argumento que convence a un financiero: el barato no es peor, es el que compra información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slide que contesta "¿por qué no traen seguridad desde el principio?". La respuesta es que la norma manda separarlas, así que agregarlas después no es deuda técnica: es la arquitectura correcta. Referencias: ISO 3691-4:2023, IEC 61496, ISO 13850.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matiz honesto: el hardware es add-on, pero el sobre de velocidad no. Si desarrollamos a 3 m/s y después metemos el escáner, hay que rehacer el control. Por eso se fija ahora, y no cuesta nada fijarlo.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la anécdota del profesor en voz alta, corta. Y rematar con el argumento de negocio: el foso no es el sensor, es el software. Si Omar entiende eso, entiende por qué la Fase 0 es suficiente para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 por qué un LiDAR de $749 en un prototipo barato: porque sin él no se prueba la navegación, que es justamente lo que no sabemos.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primer cliente vale más el caso de referencia que el margen. Pero la decisión es de Omar.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negocio de hardware puro no le interesa a un financiero; uno con cola recurrente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jefe financiero desconfía más de una presentación sin riesgos que de una con ocho.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se mitigan con información, no con dinero. Por eso la visita al cliente y la prueba de taller van antes del desembolso.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puertas le dan tranquilidad al financiero: no es un cheque en blanco, son tres decisiones con criterio definido.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pérdida máxima cuantificada. Es la frase que un jefe financiero necesita oír para decir que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Tener el BOM abierto en la laptop por si Omar pide ver una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C"/>
        </a:solidFill>
      </p:bgPr>
    </p:bg>
    <p:spTree>
      <p:nvGrpSpPr>
        <p:cNvPr id="1" name=""/>
        <p:cNvGrpSpPr/>
        <p:nvPr/>
      </p:nvGrpSpPr>
      <p:grpSpPr>
        <a:xfrm>
          <a:off x="0" y="0"/>
          <a:ext cx="0" cy="0"/>
          <a:chOff x="0" y="0"/>
          <a:chExt cx="0" cy="0"/>
        </a:xfrm>
      </p:grpSpPr>
      <p:sp>
        <p:nvSpPr>
          <p:cNvPr id="2" name="Shape 0"/>
          <p:cNvSpPr/>
          <p:nvPr/>
        </p:nvSpPr>
        <p:spPr>
          <a:xfrm>
            <a:off x="822960" y="2331720"/>
            <a:ext cx="1371600" cy="41148"/>
          </a:xfrm>
          <a:prstGeom prst="rect">
            <a:avLst/>
          </a:prstGeom>
          <a:solidFill>
            <a:srgbClr val="F5C518"/>
          </a:solidFill>
          <a:ln/>
        </p:spPr>
      </p:sp>
      <p:sp>
        <p:nvSpPr>
          <p:cNvPr id="3" name="Text 1"/>
          <p:cNvSpPr/>
          <p:nvPr/>
        </p:nvSpPr>
        <p:spPr>
          <a:xfrm>
            <a:off x="822960" y="1051560"/>
            <a:ext cx="5486400" cy="914400"/>
          </a:xfrm>
          <a:prstGeom prst="rect">
            <a:avLst/>
          </a:prstGeom>
          <a:noFill/>
          <a:ln/>
        </p:spPr>
        <p:txBody>
          <a:bodyPr wrap="square" lIns="0" tIns="0" rIns="0" bIns="0" rtlCol="0" anchor="ctr"/>
          <a:lstStyle/>
          <a:p>
            <a:pPr indent="0" marL="0">
              <a:buNone/>
            </a:pPr>
            <a:r>
              <a:rPr lang="en-US" sz="5400" b="1" dirty="0">
                <a:solidFill>
                  <a:srgbClr val="F5C518"/>
                </a:solidFill>
                <a:latin typeface="Cambria" pitchFamily="34" charset="0"/>
                <a:ea typeface="Cambria" pitchFamily="34" charset="-122"/>
                <a:cs typeface="Cambria" pitchFamily="34" charset="-120"/>
              </a:rPr>
              <a:t>TaTa</a:t>
            </a:r>
            <a:endParaRPr lang="en-US" sz="5400" dirty="0"/>
          </a:p>
        </p:txBody>
      </p:sp>
      <p:sp>
        <p:nvSpPr>
          <p:cNvPr id="4" name="Text 2"/>
          <p:cNvSpPr/>
          <p:nvPr/>
        </p:nvSpPr>
        <p:spPr>
          <a:xfrm>
            <a:off x="850392" y="1920240"/>
            <a:ext cx="8229600" cy="36576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Tecnología Avanzada de Transporte Autónomo · un proyecto de Montasa</a:t>
            </a:r>
            <a:endParaRPr lang="en-US" sz="1400" dirty="0"/>
          </a:p>
        </p:txBody>
      </p:sp>
      <p:sp>
        <p:nvSpPr>
          <p:cNvPr id="5" name="Text 3"/>
          <p:cNvSpPr/>
          <p:nvPr/>
        </p:nvSpPr>
        <p:spPr>
          <a:xfrm>
            <a:off x="822960" y="2606040"/>
            <a:ext cx="8686800" cy="1463040"/>
          </a:xfrm>
          <a:prstGeom prst="rect">
            <a:avLst/>
          </a:prstGeom>
          <a:noFill/>
          <a:ln/>
        </p:spPr>
        <p:txBody>
          <a:bodyPr wrap="square" lIns="0" tIns="0" rIns="0" bIns="0" rtlCol="0" anchor="ctr"/>
          <a:lstStyle/>
          <a:p>
            <a:pPr indent="0" marL="0">
              <a:lnSpc>
                <a:spcPts val="3800"/>
              </a:lnSpc>
              <a:buNone/>
            </a:pPr>
            <a:r>
              <a:rPr lang="en-US" sz="3000" b="1" dirty="0">
                <a:solidFill>
                  <a:srgbClr val="ECEBE6"/>
                </a:solidFill>
                <a:latin typeface="Cambria" pitchFamily="34" charset="0"/>
                <a:ea typeface="Cambria" pitchFamily="34" charset="-122"/>
                <a:cs typeface="Cambria" pitchFamily="34" charset="-120"/>
              </a:rPr>
              <a:t>Tres caminos para construir</a:t>
            </a:r>
            <a:endParaRPr lang="en-US" sz="3000" dirty="0"/>
          </a:p>
          <a:p>
            <a:pPr indent="0" marL="0">
              <a:lnSpc>
                <a:spcPts val="3800"/>
              </a:lnSpc>
              <a:buNone/>
            </a:pPr>
            <a:r>
              <a:rPr lang="en-US" sz="3000" b="1" dirty="0">
                <a:solidFill>
                  <a:srgbClr val="ECEBE6"/>
                </a:solidFill>
                <a:latin typeface="Cambria" pitchFamily="34" charset="0"/>
                <a:ea typeface="Cambria" pitchFamily="34" charset="-122"/>
                <a:cs typeface="Cambria" pitchFamily="34" charset="-120"/>
              </a:rPr>
              <a:t>el primer montacargas autónomo</a:t>
            </a:r>
            <a:endParaRPr lang="en-US" sz="3000" dirty="0"/>
          </a:p>
        </p:txBody>
      </p:sp>
      <p:sp>
        <p:nvSpPr>
          <p:cNvPr id="6" name="Shape 4"/>
          <p:cNvSpPr/>
          <p:nvPr/>
        </p:nvSpPr>
        <p:spPr>
          <a:xfrm>
            <a:off x="822960" y="4343400"/>
            <a:ext cx="2926080" cy="1234440"/>
          </a:xfrm>
          <a:prstGeom prst="roundRect">
            <a:avLst>
              <a:gd name="adj" fmla="val 6667"/>
            </a:avLst>
          </a:prstGeom>
          <a:solidFill>
            <a:srgbClr val="20242B"/>
          </a:solidFill>
          <a:ln/>
          <a:effectLst>
            <a:outerShdw sx="100000" sy="100000" kx="0" ky="0" algn="bl" rotWithShape="0" blurRad="152400" dist="38100" dir="5400000">
              <a:srgbClr val="000000">
                <a:alpha val="28000"/>
              </a:srgbClr>
            </a:outerShdw>
          </a:effectLst>
        </p:spPr>
      </p:sp>
      <p:sp>
        <p:nvSpPr>
          <p:cNvPr id="7" name="Text 5"/>
          <p:cNvSpPr/>
          <p:nvPr/>
        </p:nvSpPr>
        <p:spPr>
          <a:xfrm>
            <a:off x="1097280" y="4480560"/>
            <a:ext cx="2651760" cy="274320"/>
          </a:xfrm>
          <a:prstGeom prst="rect">
            <a:avLst/>
          </a:prstGeom>
          <a:noFill/>
          <a:ln/>
        </p:spPr>
        <p:txBody>
          <a:bodyPr wrap="square" lIns="0" tIns="0" rIns="0" bIns="0" rtlCol="0" anchor="ctr"/>
          <a:lstStyle/>
          <a:p>
            <a:pPr indent="0" marL="0">
              <a:buNone/>
            </a:pPr>
            <a:r>
              <a:rPr lang="en-US" sz="1000" b="1" spc="100" kern="0" dirty="0">
                <a:solidFill>
                  <a:srgbClr val="37C3FF"/>
                </a:solidFill>
                <a:latin typeface="Calibri" pitchFamily="34" charset="0"/>
                <a:ea typeface="Calibri" pitchFamily="34" charset="-122"/>
                <a:cs typeface="Calibri" pitchFamily="34" charset="-120"/>
              </a:rPr>
              <a:t>Fase 0 · Validación</a:t>
            </a:r>
            <a:endParaRPr lang="en-US" sz="1000" dirty="0"/>
          </a:p>
        </p:txBody>
      </p:sp>
      <p:sp>
        <p:nvSpPr>
          <p:cNvPr id="8" name="Text 6"/>
          <p:cNvSpPr/>
          <p:nvPr/>
        </p:nvSpPr>
        <p:spPr>
          <a:xfrm>
            <a:off x="1097280" y="4791456"/>
            <a:ext cx="2377440" cy="548640"/>
          </a:xfrm>
          <a:prstGeom prst="rect">
            <a:avLst/>
          </a:prstGeom>
          <a:noFill/>
          <a:ln/>
        </p:spPr>
        <p:txBody>
          <a:bodyPr wrap="square" lIns="0" tIns="0" rIns="0" bIns="0" rtlCol="0" anchor="ctr"/>
          <a:lstStyle/>
          <a:p>
            <a:pPr indent="0" marL="0">
              <a:buNone/>
            </a:pPr>
            <a:r>
              <a:rPr lang="en-US" sz="2600" b="1" dirty="0">
                <a:solidFill>
                  <a:srgbClr val="ECEBE6"/>
                </a:solidFill>
                <a:latin typeface="Cambria" pitchFamily="34" charset="0"/>
                <a:ea typeface="Cambria" pitchFamily="34" charset="-122"/>
                <a:cs typeface="Cambria" pitchFamily="34" charset="-120"/>
              </a:rPr>
              <a:t>$3,000</a:t>
            </a:r>
            <a:endParaRPr lang="en-US" sz="2600" dirty="0"/>
          </a:p>
        </p:txBody>
      </p:sp>
      <p:sp>
        <p:nvSpPr>
          <p:cNvPr id="9" name="Shape 7"/>
          <p:cNvSpPr/>
          <p:nvPr/>
        </p:nvSpPr>
        <p:spPr>
          <a:xfrm>
            <a:off x="4023360" y="4343400"/>
            <a:ext cx="2926080" cy="1234440"/>
          </a:xfrm>
          <a:prstGeom prst="roundRect">
            <a:avLst>
              <a:gd name="adj" fmla="val 6667"/>
            </a:avLst>
          </a:prstGeom>
          <a:solidFill>
            <a:srgbClr val="20242B"/>
          </a:solidFill>
          <a:ln/>
          <a:effectLst>
            <a:outerShdw sx="100000" sy="100000" kx="0" ky="0" algn="bl" rotWithShape="0" blurRad="152400" dist="38100" dir="5400000">
              <a:srgbClr val="000000">
                <a:alpha val="28000"/>
              </a:srgbClr>
            </a:outerShdw>
          </a:effectLst>
        </p:spPr>
      </p:sp>
      <p:sp>
        <p:nvSpPr>
          <p:cNvPr id="10" name="Text 8"/>
          <p:cNvSpPr/>
          <p:nvPr/>
        </p:nvSpPr>
        <p:spPr>
          <a:xfrm>
            <a:off x="4297680" y="4480560"/>
            <a:ext cx="2651760" cy="274320"/>
          </a:xfrm>
          <a:prstGeom prst="rect">
            <a:avLst/>
          </a:prstGeom>
          <a:noFill/>
          <a:ln/>
        </p:spPr>
        <p:txBody>
          <a:bodyPr wrap="square" lIns="0" tIns="0" rIns="0" bIns="0" rtlCol="0" anchor="ctr"/>
          <a:lstStyle/>
          <a:p>
            <a:pPr indent="0" marL="0">
              <a:buNone/>
            </a:pPr>
            <a:r>
              <a:rPr lang="en-US" sz="1000" b="1" spc="100" kern="0" dirty="0">
                <a:solidFill>
                  <a:srgbClr val="F5C518"/>
                </a:solidFill>
                <a:latin typeface="Calibri" pitchFamily="34" charset="0"/>
                <a:ea typeface="Calibri" pitchFamily="34" charset="-122"/>
                <a:cs typeface="Calibri" pitchFamily="34" charset="-120"/>
              </a:rPr>
              <a:t>Fase 1 · Producto</a:t>
            </a:r>
            <a:endParaRPr lang="en-US" sz="1000" dirty="0"/>
          </a:p>
        </p:txBody>
      </p:sp>
      <p:sp>
        <p:nvSpPr>
          <p:cNvPr id="11" name="Text 9"/>
          <p:cNvSpPr/>
          <p:nvPr/>
        </p:nvSpPr>
        <p:spPr>
          <a:xfrm>
            <a:off x="4297680" y="4791456"/>
            <a:ext cx="2377440" cy="548640"/>
          </a:xfrm>
          <a:prstGeom prst="rect">
            <a:avLst/>
          </a:prstGeom>
          <a:noFill/>
          <a:ln/>
        </p:spPr>
        <p:txBody>
          <a:bodyPr wrap="square" lIns="0" tIns="0" rIns="0" bIns="0" rtlCol="0" anchor="ctr"/>
          <a:lstStyle/>
          <a:p>
            <a:pPr indent="0" marL="0">
              <a:buNone/>
            </a:pPr>
            <a:r>
              <a:rPr lang="en-US" sz="2600" b="1" dirty="0">
                <a:solidFill>
                  <a:srgbClr val="ECEBE6"/>
                </a:solidFill>
                <a:latin typeface="Cambria" pitchFamily="34" charset="0"/>
                <a:ea typeface="Cambria" pitchFamily="34" charset="-122"/>
                <a:cs typeface="Cambria" pitchFamily="34" charset="-120"/>
              </a:rPr>
              <a:t>$10,000</a:t>
            </a:r>
            <a:endParaRPr lang="en-US" sz="2600" dirty="0"/>
          </a:p>
        </p:txBody>
      </p:sp>
      <p:sp>
        <p:nvSpPr>
          <p:cNvPr id="12" name="Shape 10"/>
          <p:cNvSpPr/>
          <p:nvPr/>
        </p:nvSpPr>
        <p:spPr>
          <a:xfrm>
            <a:off x="7223760" y="4343400"/>
            <a:ext cx="2926080" cy="1234440"/>
          </a:xfrm>
          <a:prstGeom prst="roundRect">
            <a:avLst>
              <a:gd name="adj" fmla="val 6667"/>
            </a:avLst>
          </a:prstGeom>
          <a:solidFill>
            <a:srgbClr val="20242B"/>
          </a:solidFill>
          <a:ln/>
          <a:effectLst>
            <a:outerShdw sx="100000" sy="100000" kx="0" ky="0" algn="bl" rotWithShape="0" blurRad="152400" dist="38100" dir="5400000">
              <a:srgbClr val="000000">
                <a:alpha val="28000"/>
              </a:srgbClr>
            </a:outerShdw>
          </a:effectLst>
        </p:spPr>
      </p:sp>
      <p:sp>
        <p:nvSpPr>
          <p:cNvPr id="13" name="Text 11"/>
          <p:cNvSpPr/>
          <p:nvPr/>
        </p:nvSpPr>
        <p:spPr>
          <a:xfrm>
            <a:off x="7498080" y="4480560"/>
            <a:ext cx="2651760" cy="274320"/>
          </a:xfrm>
          <a:prstGeom prst="rect">
            <a:avLst/>
          </a:prstGeom>
          <a:noFill/>
          <a:ln/>
        </p:spPr>
        <p:txBody>
          <a:bodyPr wrap="square" lIns="0" tIns="0" rIns="0" bIns="0" rtlCol="0" anchor="ctr"/>
          <a:lstStyle/>
          <a:p>
            <a:pPr indent="0" marL="0">
              <a:buNone/>
            </a:pPr>
            <a:r>
              <a:rPr lang="en-US" sz="1000" b="1" spc="100" kern="0" dirty="0">
                <a:solidFill>
                  <a:srgbClr val="39D98A"/>
                </a:solidFill>
                <a:latin typeface="Calibri" pitchFamily="34" charset="0"/>
                <a:ea typeface="Calibri" pitchFamily="34" charset="-122"/>
                <a:cs typeface="Calibri" pitchFamily="34" charset="-120"/>
              </a:rPr>
              <a:t>Fase 2 · Certificado</a:t>
            </a:r>
            <a:endParaRPr lang="en-US" sz="1000" dirty="0"/>
          </a:p>
        </p:txBody>
      </p:sp>
      <p:sp>
        <p:nvSpPr>
          <p:cNvPr id="14" name="Text 12"/>
          <p:cNvSpPr/>
          <p:nvPr/>
        </p:nvSpPr>
        <p:spPr>
          <a:xfrm>
            <a:off x="7498080" y="4791456"/>
            <a:ext cx="2377440" cy="548640"/>
          </a:xfrm>
          <a:prstGeom prst="rect">
            <a:avLst/>
          </a:prstGeom>
          <a:noFill/>
          <a:ln/>
        </p:spPr>
        <p:txBody>
          <a:bodyPr wrap="square" lIns="0" tIns="0" rIns="0" bIns="0" rtlCol="0" anchor="ctr"/>
          <a:lstStyle/>
          <a:p>
            <a:pPr indent="0" marL="0">
              <a:buNone/>
            </a:pPr>
            <a:r>
              <a:rPr lang="en-US" sz="2600" b="1" dirty="0">
                <a:solidFill>
                  <a:srgbClr val="ECEBE6"/>
                </a:solidFill>
                <a:latin typeface="Cambria" pitchFamily="34" charset="0"/>
                <a:ea typeface="Cambria" pitchFamily="34" charset="-122"/>
                <a:cs typeface="Cambria" pitchFamily="34" charset="-120"/>
              </a:rPr>
              <a:t>$25,000</a:t>
            </a:r>
            <a:endParaRPr lang="en-US" sz="2600" dirty="0"/>
          </a:p>
        </p:txBody>
      </p:sp>
      <p:sp>
        <p:nvSpPr>
          <p:cNvPr id="15" name="Text 13"/>
          <p:cNvSpPr/>
          <p:nvPr/>
        </p:nvSpPr>
        <p:spPr>
          <a:xfrm>
            <a:off x="822960" y="5989320"/>
            <a:ext cx="5486400" cy="320040"/>
          </a:xfrm>
          <a:prstGeom prst="rect">
            <a:avLst/>
          </a:prstGeom>
          <a:noFill/>
          <a:ln/>
        </p:spPr>
        <p:txBody>
          <a:bodyPr wrap="square" lIns="0" tIns="0" rIns="0" bIns="0" rtlCol="0" anchor="ctr"/>
          <a:lstStyle/>
          <a:p>
            <a:pPr indent="0" marL="0">
              <a:buNone/>
            </a:pPr>
            <a:r>
              <a:rPr lang="en-US" sz="1300" b="1" dirty="0">
                <a:solidFill>
                  <a:srgbClr val="ECEBE6"/>
                </a:solidFill>
                <a:latin typeface="Calibri" pitchFamily="34" charset="0"/>
                <a:ea typeface="Calibri" pitchFamily="34" charset="-122"/>
                <a:cs typeface="Calibri" pitchFamily="34" charset="-120"/>
              </a:rPr>
              <a:t>Preparado para Omar</a:t>
            </a:r>
            <a:endParaRPr lang="en-US" sz="1300" dirty="0"/>
          </a:p>
        </p:txBody>
      </p:sp>
      <p:sp>
        <p:nvSpPr>
          <p:cNvPr id="16" name="Text 14"/>
          <p:cNvSpPr/>
          <p:nvPr/>
        </p:nvSpPr>
        <p:spPr>
          <a:xfrm>
            <a:off x="822960" y="6309360"/>
            <a:ext cx="548640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Agosto 2026 · San Pedro Sula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Resumen ejecutivo</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Todo el documento, en una página</a:t>
            </a:r>
            <a:endParaRPr lang="en-US" sz="1350" dirty="0"/>
          </a:p>
        </p:txBody>
      </p:sp>
      <p:sp>
        <p:nvSpPr>
          <p:cNvPr id="4" name="Shape 2"/>
          <p:cNvSpPr/>
          <p:nvPr/>
        </p:nvSpPr>
        <p:spPr>
          <a:xfrm>
            <a:off x="594360" y="1737360"/>
            <a:ext cx="10972800" cy="804672"/>
          </a:xfrm>
          <a:prstGeom prst="roundRect">
            <a:avLst>
              <a:gd name="adj" fmla="val 10227"/>
            </a:avLst>
          </a:prstGeom>
          <a:solidFill>
            <a:srgbClr val="FFFFFF"/>
          </a:solidFill>
          <a:ln/>
          <a:effectLst>
            <a:outerShdw sx="100000" sy="100000" kx="0" ky="0" algn="bl" rotWithShape="0" blurRad="152400" dist="38100" dir="5400000">
              <a:srgbClr val="000000">
                <a:alpha val="28000"/>
              </a:srgbClr>
            </a:outerShdw>
          </a:effectLst>
        </p:spPr>
      </p:sp>
      <p:sp>
        <p:nvSpPr>
          <p:cNvPr id="5" name="Shape 3"/>
          <p:cNvSpPr/>
          <p:nvPr/>
        </p:nvSpPr>
        <p:spPr>
          <a:xfrm>
            <a:off x="594360" y="1737360"/>
            <a:ext cx="64008" cy="804672"/>
          </a:xfrm>
          <a:prstGeom prst="rect">
            <a:avLst/>
          </a:prstGeom>
          <a:solidFill>
            <a:srgbClr val="F5C518"/>
          </a:solidFill>
          <a:ln/>
        </p:spPr>
      </p:sp>
      <p:sp>
        <p:nvSpPr>
          <p:cNvPr id="6" name="Text 4"/>
          <p:cNvSpPr/>
          <p:nvPr/>
        </p:nvSpPr>
        <p:spPr>
          <a:xfrm>
            <a:off x="868680" y="1737360"/>
            <a:ext cx="2286000" cy="804672"/>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La oportunidad</a:t>
            </a:r>
            <a:endParaRPr lang="en-US" sz="1300" dirty="0"/>
          </a:p>
        </p:txBody>
      </p:sp>
      <p:sp>
        <p:nvSpPr>
          <p:cNvPr id="7" name="Text 5"/>
          <p:cNvSpPr/>
          <p:nvPr/>
        </p:nvSpPr>
        <p:spPr>
          <a:xfrm>
            <a:off x="3200400" y="1737360"/>
            <a:ext cx="8138160" cy="804672"/>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Montasa vende y da servicio a montacargas Baoli. TaTa es un kit que se instala sobre esos mismos montacargas y los vuelve autónomos por etapas.</a:t>
            </a:r>
            <a:endParaRPr lang="en-US" sz="1150" dirty="0"/>
          </a:p>
        </p:txBody>
      </p:sp>
      <p:sp>
        <p:nvSpPr>
          <p:cNvPr id="8" name="Shape 6"/>
          <p:cNvSpPr/>
          <p:nvPr/>
        </p:nvSpPr>
        <p:spPr>
          <a:xfrm>
            <a:off x="594360" y="2670048"/>
            <a:ext cx="10972800" cy="804672"/>
          </a:xfrm>
          <a:prstGeom prst="roundRect">
            <a:avLst>
              <a:gd name="adj" fmla="val 10227"/>
            </a:avLst>
          </a:prstGeom>
          <a:solidFill>
            <a:srgbClr val="FFFFFF"/>
          </a:solidFill>
          <a:ln/>
          <a:effectLst>
            <a:outerShdw sx="100000" sy="100000" kx="0" ky="0" algn="bl" rotWithShape="0" blurRad="152400" dist="38100" dir="5400000">
              <a:srgbClr val="000000">
                <a:alpha val="28000"/>
              </a:srgbClr>
            </a:outerShdw>
          </a:effectLst>
        </p:spPr>
      </p:sp>
      <p:sp>
        <p:nvSpPr>
          <p:cNvPr id="9" name="Shape 7"/>
          <p:cNvSpPr/>
          <p:nvPr/>
        </p:nvSpPr>
        <p:spPr>
          <a:xfrm>
            <a:off x="594360" y="2670048"/>
            <a:ext cx="64008" cy="804672"/>
          </a:xfrm>
          <a:prstGeom prst="rect">
            <a:avLst/>
          </a:prstGeom>
          <a:solidFill>
            <a:srgbClr val="37C3FF"/>
          </a:solidFill>
          <a:ln/>
        </p:spPr>
      </p:sp>
      <p:sp>
        <p:nvSpPr>
          <p:cNvPr id="10" name="Text 8"/>
          <p:cNvSpPr/>
          <p:nvPr/>
        </p:nvSpPr>
        <p:spPr>
          <a:xfrm>
            <a:off x="868680" y="2670048"/>
            <a:ext cx="2286000" cy="804672"/>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Por qué ahora</a:t>
            </a:r>
            <a:endParaRPr lang="en-US" sz="1300" dirty="0"/>
          </a:p>
        </p:txBody>
      </p:sp>
      <p:sp>
        <p:nvSpPr>
          <p:cNvPr id="11" name="Text 9"/>
          <p:cNvSpPr/>
          <p:nvPr/>
        </p:nvSpPr>
        <p:spPr>
          <a:xfrm>
            <a:off x="3200400" y="2670048"/>
            <a:ext cx="8138160" cy="804672"/>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Un contrabalanceado autónomo de fábrica cuesta $85,000–$120,000. Nuestro kit completo cuesta $22,978 de hardware sobre una máquina que el cliente ya tiene.</a:t>
            </a:r>
            <a:endParaRPr lang="en-US" sz="1150" dirty="0"/>
          </a:p>
        </p:txBody>
      </p:sp>
      <p:sp>
        <p:nvSpPr>
          <p:cNvPr id="12" name="Shape 10"/>
          <p:cNvSpPr/>
          <p:nvPr/>
        </p:nvSpPr>
        <p:spPr>
          <a:xfrm>
            <a:off x="594360" y="3602736"/>
            <a:ext cx="10972800" cy="804672"/>
          </a:xfrm>
          <a:prstGeom prst="roundRect">
            <a:avLst>
              <a:gd name="adj" fmla="val 10227"/>
            </a:avLst>
          </a:prstGeom>
          <a:solidFill>
            <a:srgbClr val="FFFFFF"/>
          </a:solidFill>
          <a:ln/>
          <a:effectLst>
            <a:outerShdw sx="100000" sy="100000" kx="0" ky="0" algn="bl" rotWithShape="0" blurRad="152400" dist="38100" dir="5400000">
              <a:srgbClr val="000000">
                <a:alpha val="28000"/>
              </a:srgbClr>
            </a:outerShdw>
          </a:effectLst>
        </p:spPr>
      </p:sp>
      <p:sp>
        <p:nvSpPr>
          <p:cNvPr id="13" name="Shape 11"/>
          <p:cNvSpPr/>
          <p:nvPr/>
        </p:nvSpPr>
        <p:spPr>
          <a:xfrm>
            <a:off x="594360" y="3602736"/>
            <a:ext cx="64008" cy="804672"/>
          </a:xfrm>
          <a:prstGeom prst="rect">
            <a:avLst/>
          </a:prstGeom>
          <a:solidFill>
            <a:srgbClr val="39D98A"/>
          </a:solidFill>
          <a:ln/>
        </p:spPr>
      </p:sp>
      <p:sp>
        <p:nvSpPr>
          <p:cNvPr id="14" name="Text 12"/>
          <p:cNvSpPr/>
          <p:nvPr/>
        </p:nvSpPr>
        <p:spPr>
          <a:xfrm>
            <a:off x="868680" y="3602736"/>
            <a:ext cx="2286000" cy="804672"/>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Qué ya está hecho</a:t>
            </a:r>
            <a:endParaRPr lang="en-US" sz="1300" dirty="0"/>
          </a:p>
        </p:txBody>
      </p:sp>
      <p:sp>
        <p:nvSpPr>
          <p:cNvPr id="15" name="Text 13"/>
          <p:cNvSpPr/>
          <p:nvPr/>
        </p:nvSpPr>
        <p:spPr>
          <a:xfrm>
            <a:off x="3200400" y="3602736"/>
            <a:ext cx="8138160" cy="804672"/>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Almacén de un cliente real reconstruido y medido, BOM de 39 componentes con precios verificados, simulador 3D navegable y banco de pruebas. Todo sin desembolso.</a:t>
            </a:r>
            <a:endParaRPr lang="en-US" sz="1150" dirty="0"/>
          </a:p>
        </p:txBody>
      </p:sp>
      <p:sp>
        <p:nvSpPr>
          <p:cNvPr id="16" name="Shape 14"/>
          <p:cNvSpPr/>
          <p:nvPr/>
        </p:nvSpPr>
        <p:spPr>
          <a:xfrm>
            <a:off x="594360" y="4535424"/>
            <a:ext cx="10972800" cy="804672"/>
          </a:xfrm>
          <a:prstGeom prst="roundRect">
            <a:avLst>
              <a:gd name="adj" fmla="val 10227"/>
            </a:avLst>
          </a:prstGeom>
          <a:solidFill>
            <a:srgbClr val="FFFFFF"/>
          </a:solidFill>
          <a:ln/>
          <a:effectLst>
            <a:outerShdw sx="100000" sy="100000" kx="0" ky="0" algn="bl" rotWithShape="0" blurRad="152400" dist="38100" dir="5400000">
              <a:srgbClr val="000000">
                <a:alpha val="28000"/>
              </a:srgbClr>
            </a:outerShdw>
          </a:effectLst>
        </p:spPr>
      </p:sp>
      <p:sp>
        <p:nvSpPr>
          <p:cNvPr id="17" name="Shape 15"/>
          <p:cNvSpPr/>
          <p:nvPr/>
        </p:nvSpPr>
        <p:spPr>
          <a:xfrm>
            <a:off x="594360" y="4535424"/>
            <a:ext cx="64008" cy="804672"/>
          </a:xfrm>
          <a:prstGeom prst="rect">
            <a:avLst/>
          </a:prstGeom>
          <a:solidFill>
            <a:srgbClr val="F5C518"/>
          </a:solidFill>
          <a:ln/>
        </p:spPr>
      </p:sp>
      <p:sp>
        <p:nvSpPr>
          <p:cNvPr id="18" name="Text 16"/>
          <p:cNvSpPr/>
          <p:nvPr/>
        </p:nvSpPr>
        <p:spPr>
          <a:xfrm>
            <a:off x="868680" y="4535424"/>
            <a:ext cx="2286000" cy="804672"/>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Qué se pide</a:t>
            </a:r>
            <a:endParaRPr lang="en-US" sz="1300" dirty="0"/>
          </a:p>
        </p:txBody>
      </p:sp>
      <p:sp>
        <p:nvSpPr>
          <p:cNvPr id="19" name="Text 17"/>
          <p:cNvSpPr/>
          <p:nvPr/>
        </p:nvSpPr>
        <p:spPr>
          <a:xfrm>
            <a:off x="3200400" y="4535424"/>
            <a:ext cx="8138160" cy="804672"/>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Elegir uno de tres caminos: $3,000, $10,000 o $25,000. Más un montacargas de demo prestado por 4 meses.</a:t>
            </a:r>
            <a:endParaRPr lang="en-US" sz="1150" dirty="0"/>
          </a:p>
        </p:txBody>
      </p:sp>
      <p:sp>
        <p:nvSpPr>
          <p:cNvPr id="20" name="Shape 18"/>
          <p:cNvSpPr/>
          <p:nvPr/>
        </p:nvSpPr>
        <p:spPr>
          <a:xfrm>
            <a:off x="594360" y="5468112"/>
            <a:ext cx="10972800" cy="804672"/>
          </a:xfrm>
          <a:prstGeom prst="roundRect">
            <a:avLst>
              <a:gd name="adj" fmla="val 10227"/>
            </a:avLst>
          </a:prstGeom>
          <a:solidFill>
            <a:srgbClr val="FFFFFF"/>
          </a:solidFill>
          <a:ln/>
          <a:effectLst>
            <a:outerShdw sx="100000" sy="100000" kx="0" ky="0" algn="bl" rotWithShape="0" blurRad="152400" dist="38100" dir="5400000">
              <a:srgbClr val="000000">
                <a:alpha val="28000"/>
              </a:srgbClr>
            </a:outerShdw>
          </a:effectLst>
        </p:spPr>
      </p:sp>
      <p:sp>
        <p:nvSpPr>
          <p:cNvPr id="21" name="Shape 19"/>
          <p:cNvSpPr/>
          <p:nvPr/>
        </p:nvSpPr>
        <p:spPr>
          <a:xfrm>
            <a:off x="594360" y="5468112"/>
            <a:ext cx="64008" cy="804672"/>
          </a:xfrm>
          <a:prstGeom prst="rect">
            <a:avLst/>
          </a:prstGeom>
          <a:solidFill>
            <a:srgbClr val="39D98A"/>
          </a:solidFill>
          <a:ln/>
        </p:spPr>
      </p:sp>
      <p:sp>
        <p:nvSpPr>
          <p:cNvPr id="22" name="Text 20"/>
          <p:cNvSpPr/>
          <p:nvPr/>
        </p:nvSpPr>
        <p:spPr>
          <a:xfrm>
            <a:off x="868680" y="5468112"/>
            <a:ext cx="2286000" cy="804672"/>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La recomendación</a:t>
            </a:r>
            <a:endParaRPr lang="en-US" sz="1300" dirty="0"/>
          </a:p>
        </p:txBody>
      </p:sp>
      <p:sp>
        <p:nvSpPr>
          <p:cNvPr id="23" name="Text 21"/>
          <p:cNvSpPr/>
          <p:nvPr/>
        </p:nvSpPr>
        <p:spPr>
          <a:xfrm>
            <a:off x="3200400" y="5468112"/>
            <a:ext cx="8138160" cy="804672"/>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Empezar por el de $3,000. Prueba la parte difícil —percepción y navegación— y deja la decisión cara para cuando haya datos.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Qué es TaTa, en concreto</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No es un montacargas. Es lo que se le monta encima a uno que ya existe.</a:t>
            </a:r>
            <a:endParaRPr lang="en-US" sz="1350" dirty="0"/>
          </a:p>
        </p:txBody>
      </p:sp>
      <p:sp>
        <p:nvSpPr>
          <p:cNvPr id="4" name="Shape 2"/>
          <p:cNvSpPr/>
          <p:nvPr/>
        </p:nvSpPr>
        <p:spPr>
          <a:xfrm>
            <a:off x="594360" y="1783080"/>
            <a:ext cx="5394960" cy="2103120"/>
          </a:xfrm>
          <a:prstGeom prst="roundRect">
            <a:avLst>
              <a:gd name="adj" fmla="val 3913"/>
            </a:avLst>
          </a:prstGeom>
          <a:solidFill>
            <a:srgbClr val="1A1D23"/>
          </a:solidFill>
          <a:ln/>
          <a:effectLst>
            <a:outerShdw sx="100000" sy="100000" kx="0" ky="0" algn="bl" rotWithShape="0" blurRad="152400" dist="38100" dir="5400000">
              <a:srgbClr val="000000">
                <a:alpha val="28000"/>
              </a:srgbClr>
            </a:outerShdw>
          </a:effectLst>
        </p:spPr>
      </p:sp>
      <p:sp>
        <p:nvSpPr>
          <p:cNvPr id="5" name="Text 3"/>
          <p:cNvSpPr/>
          <p:nvPr/>
        </p:nvSpPr>
        <p:spPr>
          <a:xfrm>
            <a:off x="914400" y="1965960"/>
            <a:ext cx="4754880" cy="320040"/>
          </a:xfrm>
          <a:prstGeom prst="rect">
            <a:avLst/>
          </a:prstGeom>
          <a:noFill/>
          <a:ln/>
        </p:spPr>
        <p:txBody>
          <a:bodyPr wrap="square" lIns="0" tIns="0" rIns="0" bIns="0" rtlCol="0" anchor="ctr"/>
          <a:lstStyle/>
          <a:p>
            <a:pPr indent="0" marL="0">
              <a:buNone/>
            </a:pPr>
            <a:r>
              <a:rPr lang="en-US" sz="1100" b="1" spc="140" kern="0" dirty="0">
                <a:solidFill>
                  <a:srgbClr val="F5C518"/>
                </a:solidFill>
                <a:latin typeface="Calibri" pitchFamily="34" charset="0"/>
                <a:ea typeface="Calibri" pitchFamily="34" charset="-122"/>
                <a:cs typeface="Calibri" pitchFamily="34" charset="-120"/>
              </a:rPr>
              <a:t>El problema del cliente</a:t>
            </a:r>
            <a:endParaRPr lang="en-US" sz="1100" dirty="0"/>
          </a:p>
        </p:txBody>
      </p:sp>
      <p:sp>
        <p:nvSpPr>
          <p:cNvPr id="6" name="Text 4"/>
          <p:cNvSpPr/>
          <p:nvPr/>
        </p:nvSpPr>
        <p:spPr>
          <a:xfrm>
            <a:off x="914400" y="2331720"/>
            <a:ext cx="4754880" cy="1371600"/>
          </a:xfrm>
          <a:prstGeom prst="rect">
            <a:avLst/>
          </a:prstGeom>
          <a:noFill/>
          <a:ln/>
        </p:spPr>
        <p:txBody>
          <a:bodyPr wrap="square" lIns="0" tIns="0" rIns="0" bIns="0" rtlCol="0" anchor="t"/>
          <a:lstStyle/>
          <a:p>
            <a:pPr indent="0" marL="0">
              <a:buNone/>
            </a:pPr>
            <a:r>
              <a:rPr lang="en-US" sz="1250" dirty="0">
                <a:solidFill>
                  <a:srgbClr val="ECEBE6"/>
                </a:solidFill>
                <a:latin typeface="Calibri" pitchFamily="34" charset="0"/>
                <a:ea typeface="Calibri" pitchFamily="34" charset="-122"/>
                <a:cs typeface="Calibri" pitchFamily="34" charset="-120"/>
              </a:rPr>
              <a:t>Un almacén paga tres turnos de operadores, sufre para contratarlos, y aun así se le pierde inventario y se le pegan los racks. Automatizar significa hoy comprar máquinas nuevas y tirar las que tiene.</a:t>
            </a:r>
            <a:endParaRPr lang="en-US" sz="1250" dirty="0"/>
          </a:p>
        </p:txBody>
      </p:sp>
      <p:sp>
        <p:nvSpPr>
          <p:cNvPr id="7" name="Shape 5"/>
          <p:cNvSpPr/>
          <p:nvPr/>
        </p:nvSpPr>
        <p:spPr>
          <a:xfrm>
            <a:off x="6172200" y="1783080"/>
            <a:ext cx="5394960" cy="2103120"/>
          </a:xfrm>
          <a:prstGeom prst="roundRect">
            <a:avLst>
              <a:gd name="adj" fmla="val 3913"/>
            </a:avLst>
          </a:prstGeom>
          <a:solidFill>
            <a:srgbClr val="FFFFFF"/>
          </a:solidFill>
          <a:ln/>
          <a:effectLst>
            <a:outerShdw sx="100000" sy="100000" kx="0" ky="0" algn="bl" rotWithShape="0" blurRad="152400" dist="38100" dir="5400000">
              <a:srgbClr val="000000">
                <a:alpha val="28000"/>
              </a:srgbClr>
            </a:outerShdw>
          </a:effectLst>
        </p:spPr>
      </p:sp>
      <p:sp>
        <p:nvSpPr>
          <p:cNvPr id="8" name="Text 6"/>
          <p:cNvSpPr/>
          <p:nvPr/>
        </p:nvSpPr>
        <p:spPr>
          <a:xfrm>
            <a:off x="6492240" y="1965960"/>
            <a:ext cx="4754880" cy="320040"/>
          </a:xfrm>
          <a:prstGeom prst="rect">
            <a:avLst/>
          </a:prstGeom>
          <a:noFill/>
          <a:ln/>
        </p:spPr>
        <p:txBody>
          <a:bodyPr wrap="square" lIns="0" tIns="0" rIns="0" bIns="0" rtlCol="0" anchor="ctr"/>
          <a:lstStyle/>
          <a:p>
            <a:pPr indent="0" marL="0">
              <a:buNone/>
            </a:pPr>
            <a:r>
              <a:rPr lang="en-US" sz="1100" b="1" spc="140" kern="0" dirty="0">
                <a:solidFill>
                  <a:srgbClr val="5B6470"/>
                </a:solidFill>
                <a:latin typeface="Calibri" pitchFamily="34" charset="0"/>
                <a:ea typeface="Calibri" pitchFamily="34" charset="-122"/>
                <a:cs typeface="Calibri" pitchFamily="34" charset="-120"/>
              </a:rPr>
              <a:t>Lo que hacemos</a:t>
            </a:r>
            <a:endParaRPr lang="en-US" sz="1100" dirty="0"/>
          </a:p>
        </p:txBody>
      </p:sp>
      <p:sp>
        <p:nvSpPr>
          <p:cNvPr id="9" name="Text 7"/>
          <p:cNvSpPr/>
          <p:nvPr/>
        </p:nvSpPr>
        <p:spPr>
          <a:xfrm>
            <a:off x="6492240" y="2331720"/>
            <a:ext cx="4754880" cy="1371600"/>
          </a:xfrm>
          <a:prstGeom prst="rect">
            <a:avLst/>
          </a:prstGeom>
          <a:noFill/>
          <a:ln/>
        </p:spPr>
        <p:txBody>
          <a:bodyPr wrap="square" lIns="0" tIns="0" rIns="0" bIns="0" rtlCol="0" anchor="t"/>
          <a:lstStyle/>
          <a:p>
            <a:pPr indent="0" marL="0">
              <a:buNone/>
            </a:pPr>
            <a:r>
              <a:rPr lang="en-US" sz="1250" dirty="0">
                <a:solidFill>
                  <a:srgbClr val="1A1D23"/>
                </a:solidFill>
                <a:latin typeface="Calibri" pitchFamily="34" charset="0"/>
                <a:ea typeface="Calibri" pitchFamily="34" charset="-122"/>
                <a:cs typeface="Calibri" pitchFamily="34" charset="-120"/>
              </a:rPr>
              <a:t>Un kit de sensores, cómputo y actuación que se instala sobre el montacargas que el cliente ya opera. Se instala una vez; la autonomía se habilita por software, por etapas, cuando el cliente esté listo.</a:t>
            </a:r>
            <a:endParaRPr lang="en-US" sz="1250" dirty="0"/>
          </a:p>
        </p:txBody>
      </p:sp>
      <p:sp>
        <p:nvSpPr>
          <p:cNvPr id="10" name="Shape 8"/>
          <p:cNvSpPr/>
          <p:nvPr/>
        </p:nvSpPr>
        <p:spPr>
          <a:xfrm>
            <a:off x="594360" y="4160520"/>
            <a:ext cx="10972800" cy="384048"/>
          </a:xfrm>
          <a:prstGeom prst="rect">
            <a:avLst/>
          </a:prstGeom>
          <a:solidFill>
            <a:srgbClr val="E7E9EC"/>
          </a:solidFill>
          <a:ln w="7620">
            <a:solidFill>
              <a:srgbClr val="D8DADE"/>
            </a:solidFill>
            <a:prstDash val="solid"/>
          </a:ln>
        </p:spPr>
      </p:sp>
      <p:sp>
        <p:nvSpPr>
          <p:cNvPr id="11" name="Text 9"/>
          <p:cNvSpPr/>
          <p:nvPr/>
        </p:nvSpPr>
        <p:spPr>
          <a:xfrm>
            <a:off x="722376" y="4160520"/>
            <a:ext cx="1115568" cy="384048"/>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NIVEL</a:t>
            </a:r>
            <a:endParaRPr lang="en-US" sz="1000" dirty="0"/>
          </a:p>
        </p:txBody>
      </p:sp>
      <p:sp>
        <p:nvSpPr>
          <p:cNvPr id="12" name="Text 10"/>
          <p:cNvSpPr/>
          <p:nvPr/>
        </p:nvSpPr>
        <p:spPr>
          <a:xfrm>
            <a:off x="2093976" y="4160520"/>
            <a:ext cx="6510528" cy="384048"/>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QUÉ HACE</a:t>
            </a:r>
            <a:endParaRPr lang="en-US" sz="1000" dirty="0"/>
          </a:p>
        </p:txBody>
      </p:sp>
      <p:sp>
        <p:nvSpPr>
          <p:cNvPr id="13" name="Text 11"/>
          <p:cNvSpPr/>
          <p:nvPr/>
        </p:nvSpPr>
        <p:spPr>
          <a:xfrm>
            <a:off x="8860536" y="4160520"/>
            <a:ext cx="2578608" cy="384048"/>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HARDWARE POR UNIDAD</a:t>
            </a:r>
            <a:endParaRPr lang="en-US" sz="1000" dirty="0"/>
          </a:p>
        </p:txBody>
      </p:sp>
      <p:sp>
        <p:nvSpPr>
          <p:cNvPr id="14" name="Shape 12"/>
          <p:cNvSpPr/>
          <p:nvPr/>
        </p:nvSpPr>
        <p:spPr>
          <a:xfrm>
            <a:off x="594360" y="4544568"/>
            <a:ext cx="10972800" cy="566928"/>
          </a:xfrm>
          <a:prstGeom prst="rect">
            <a:avLst/>
          </a:prstGeom>
          <a:solidFill>
            <a:srgbClr val="FFFFFF"/>
          </a:solidFill>
          <a:ln w="7620">
            <a:solidFill>
              <a:srgbClr val="D8DADE"/>
            </a:solidFill>
            <a:prstDash val="solid"/>
          </a:ln>
        </p:spPr>
      </p:sp>
      <p:sp>
        <p:nvSpPr>
          <p:cNvPr id="15" name="Text 13"/>
          <p:cNvSpPr/>
          <p:nvPr/>
        </p:nvSpPr>
        <p:spPr>
          <a:xfrm>
            <a:off x="722376" y="4544568"/>
            <a:ext cx="1115568" cy="566928"/>
          </a:xfrm>
          <a:prstGeom prst="rect">
            <a:avLst/>
          </a:prstGeom>
          <a:noFill/>
          <a:ln/>
        </p:spPr>
        <p:txBody>
          <a:bodyPr wrap="square" lIns="0" tIns="0" rIns="0" bIns="0" rtlCol="0" anchor="ctr"/>
          <a:lstStyle/>
          <a:p>
            <a:pPr algn="l" indent="0" marL="0">
              <a:buNone/>
            </a:pPr>
            <a:r>
              <a:rPr lang="en-US" sz="1100" b="1" dirty="0">
                <a:solidFill>
                  <a:srgbClr val="37C3FF"/>
                </a:solidFill>
                <a:latin typeface="Calibri" pitchFamily="34" charset="0"/>
                <a:ea typeface="Calibri" pitchFamily="34" charset="-122"/>
                <a:cs typeface="Calibri" pitchFamily="34" charset="-120"/>
              </a:rPr>
              <a:t>1 · Watch</a:t>
            </a:r>
            <a:endParaRPr lang="en-US" sz="1100" dirty="0"/>
          </a:p>
        </p:txBody>
      </p:sp>
      <p:sp>
        <p:nvSpPr>
          <p:cNvPr id="16" name="Text 14"/>
          <p:cNvSpPr/>
          <p:nvPr/>
        </p:nvSpPr>
        <p:spPr>
          <a:xfrm>
            <a:off x="2093976" y="4544568"/>
            <a:ext cx="6510528" cy="566928"/>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El operador maneja. El kit ve, alerta, frena en emergencia y registra el inventario solo.</a:t>
            </a:r>
            <a:endParaRPr lang="en-US" sz="1050" dirty="0"/>
          </a:p>
        </p:txBody>
      </p:sp>
      <p:sp>
        <p:nvSpPr>
          <p:cNvPr id="17" name="Text 15"/>
          <p:cNvSpPr/>
          <p:nvPr/>
        </p:nvSpPr>
        <p:spPr>
          <a:xfrm>
            <a:off x="8860536" y="4544568"/>
            <a:ext cx="2578608" cy="566928"/>
          </a:xfrm>
          <a:prstGeom prst="rect">
            <a:avLst/>
          </a:prstGeom>
          <a:noFill/>
          <a:ln/>
        </p:spPr>
        <p:txBody>
          <a:bodyPr wrap="square" lIns="0" tIns="0" rIns="0" bIns="0" rtlCol="0" anchor="ctr"/>
          <a:lstStyle/>
          <a:p>
            <a:pPr algn="r" indent="0" marL="0">
              <a:buNone/>
            </a:pPr>
            <a:r>
              <a:rPr lang="en-US" sz="1300" b="1" dirty="0">
                <a:solidFill>
                  <a:srgbClr val="1A1D23"/>
                </a:solidFill>
                <a:latin typeface="Calibri" pitchFamily="34" charset="0"/>
                <a:ea typeface="Calibri" pitchFamily="34" charset="-122"/>
                <a:cs typeface="Calibri" pitchFamily="34" charset="-120"/>
              </a:rPr>
              <a:t>$8,548</a:t>
            </a:r>
            <a:endParaRPr lang="en-US" sz="1300" dirty="0"/>
          </a:p>
        </p:txBody>
      </p:sp>
      <p:sp>
        <p:nvSpPr>
          <p:cNvPr id="18" name="Shape 16"/>
          <p:cNvSpPr/>
          <p:nvPr/>
        </p:nvSpPr>
        <p:spPr>
          <a:xfrm>
            <a:off x="594360" y="5111496"/>
            <a:ext cx="10972800" cy="566928"/>
          </a:xfrm>
          <a:prstGeom prst="rect">
            <a:avLst/>
          </a:prstGeom>
          <a:solidFill>
            <a:srgbClr val="FFFFFF"/>
          </a:solidFill>
          <a:ln w="7620">
            <a:solidFill>
              <a:srgbClr val="D8DADE"/>
            </a:solidFill>
            <a:prstDash val="solid"/>
          </a:ln>
        </p:spPr>
      </p:sp>
      <p:sp>
        <p:nvSpPr>
          <p:cNvPr id="19" name="Text 17"/>
          <p:cNvSpPr/>
          <p:nvPr/>
        </p:nvSpPr>
        <p:spPr>
          <a:xfrm>
            <a:off x="722376" y="5111496"/>
            <a:ext cx="1115568" cy="566928"/>
          </a:xfrm>
          <a:prstGeom prst="rect">
            <a:avLst/>
          </a:prstGeom>
          <a:noFill/>
          <a:ln/>
        </p:spPr>
        <p:txBody>
          <a:bodyPr wrap="square" lIns="0" tIns="0" rIns="0" bIns="0" rtlCol="0" anchor="ctr"/>
          <a:lstStyle/>
          <a:p>
            <a:pPr algn="l" indent="0" marL="0">
              <a:buNone/>
            </a:pPr>
            <a:r>
              <a:rPr lang="en-US" sz="1100" b="1" dirty="0">
                <a:solidFill>
                  <a:srgbClr val="F5C518"/>
                </a:solidFill>
                <a:latin typeface="Calibri" pitchFamily="34" charset="0"/>
                <a:ea typeface="Calibri" pitchFamily="34" charset="-122"/>
                <a:cs typeface="Calibri" pitchFamily="34" charset="-120"/>
              </a:rPr>
              <a:t>2 · Assist</a:t>
            </a:r>
            <a:endParaRPr lang="en-US" sz="1100" dirty="0"/>
          </a:p>
        </p:txBody>
      </p:sp>
      <p:sp>
        <p:nvSpPr>
          <p:cNvPr id="20" name="Text 18"/>
          <p:cNvSpPr/>
          <p:nvPr/>
        </p:nvSpPr>
        <p:spPr>
          <a:xfrm>
            <a:off x="2093976" y="5111496"/>
            <a:ext cx="6510528" cy="566928"/>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La máquina se traslada sola y agarra carga asistida, con una persona supervisando.</a:t>
            </a:r>
            <a:endParaRPr lang="en-US" sz="1050" dirty="0"/>
          </a:p>
        </p:txBody>
      </p:sp>
      <p:sp>
        <p:nvSpPr>
          <p:cNvPr id="21" name="Text 19"/>
          <p:cNvSpPr/>
          <p:nvPr/>
        </p:nvSpPr>
        <p:spPr>
          <a:xfrm>
            <a:off x="8860536" y="5111496"/>
            <a:ext cx="2578608" cy="566928"/>
          </a:xfrm>
          <a:prstGeom prst="rect">
            <a:avLst/>
          </a:prstGeom>
          <a:noFill/>
          <a:ln/>
        </p:spPr>
        <p:txBody>
          <a:bodyPr wrap="square" lIns="0" tIns="0" rIns="0" bIns="0" rtlCol="0" anchor="ctr"/>
          <a:lstStyle/>
          <a:p>
            <a:pPr algn="r" indent="0" marL="0">
              <a:buNone/>
            </a:pPr>
            <a:r>
              <a:rPr lang="en-US" sz="1300" b="1" dirty="0">
                <a:solidFill>
                  <a:srgbClr val="1A1D23"/>
                </a:solidFill>
                <a:latin typeface="Calibri" pitchFamily="34" charset="0"/>
                <a:ea typeface="Calibri" pitchFamily="34" charset="-122"/>
                <a:cs typeface="Calibri" pitchFamily="34" charset="-120"/>
              </a:rPr>
              <a:t>$14,538</a:t>
            </a:r>
            <a:endParaRPr lang="en-US" sz="1300" dirty="0"/>
          </a:p>
        </p:txBody>
      </p:sp>
      <p:sp>
        <p:nvSpPr>
          <p:cNvPr id="22" name="Shape 20"/>
          <p:cNvSpPr/>
          <p:nvPr/>
        </p:nvSpPr>
        <p:spPr>
          <a:xfrm>
            <a:off x="594360" y="5678424"/>
            <a:ext cx="10972800" cy="566928"/>
          </a:xfrm>
          <a:prstGeom prst="rect">
            <a:avLst/>
          </a:prstGeom>
          <a:solidFill>
            <a:srgbClr val="FFFFFF"/>
          </a:solidFill>
          <a:ln w="7620">
            <a:solidFill>
              <a:srgbClr val="D8DADE"/>
            </a:solidFill>
            <a:prstDash val="solid"/>
          </a:ln>
        </p:spPr>
      </p:sp>
      <p:sp>
        <p:nvSpPr>
          <p:cNvPr id="23" name="Text 21"/>
          <p:cNvSpPr/>
          <p:nvPr/>
        </p:nvSpPr>
        <p:spPr>
          <a:xfrm>
            <a:off x="722376" y="5678424"/>
            <a:ext cx="1115568" cy="566928"/>
          </a:xfrm>
          <a:prstGeom prst="rect">
            <a:avLst/>
          </a:prstGeom>
          <a:noFill/>
          <a:ln/>
        </p:spPr>
        <p:txBody>
          <a:bodyPr wrap="square" lIns="0" tIns="0" rIns="0" bIns="0" rtlCol="0" anchor="ctr"/>
          <a:lstStyle/>
          <a:p>
            <a:pPr algn="l" indent="0" marL="0">
              <a:buNone/>
            </a:pPr>
            <a:r>
              <a:rPr lang="en-US" sz="1100" b="1" dirty="0">
                <a:solidFill>
                  <a:srgbClr val="39D98A"/>
                </a:solidFill>
                <a:latin typeface="Calibri" pitchFamily="34" charset="0"/>
                <a:ea typeface="Calibri" pitchFamily="34" charset="-122"/>
                <a:cs typeface="Calibri" pitchFamily="34" charset="-120"/>
              </a:rPr>
              <a:t>3 · Auto</a:t>
            </a:r>
            <a:endParaRPr lang="en-US" sz="1100" dirty="0"/>
          </a:p>
        </p:txBody>
      </p:sp>
      <p:sp>
        <p:nvSpPr>
          <p:cNvPr id="24" name="Text 22"/>
          <p:cNvSpPr/>
          <p:nvPr/>
        </p:nvSpPr>
        <p:spPr>
          <a:xfrm>
            <a:off x="2093976" y="5678424"/>
            <a:ext cx="6510528" cy="566928"/>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Sin nadie arriba. Seguridad redundante certificable para operar desatendido.</a:t>
            </a:r>
            <a:endParaRPr lang="en-US" sz="1050" dirty="0"/>
          </a:p>
        </p:txBody>
      </p:sp>
      <p:sp>
        <p:nvSpPr>
          <p:cNvPr id="25" name="Text 23"/>
          <p:cNvSpPr/>
          <p:nvPr/>
        </p:nvSpPr>
        <p:spPr>
          <a:xfrm>
            <a:off x="8860536" y="5678424"/>
            <a:ext cx="2578608" cy="566928"/>
          </a:xfrm>
          <a:prstGeom prst="rect">
            <a:avLst/>
          </a:prstGeom>
          <a:noFill/>
          <a:ln/>
        </p:spPr>
        <p:txBody>
          <a:bodyPr wrap="square" lIns="0" tIns="0" rIns="0" bIns="0" rtlCol="0" anchor="ctr"/>
          <a:lstStyle/>
          <a:p>
            <a:pPr algn="r" indent="0" marL="0">
              <a:buNone/>
            </a:pPr>
            <a:r>
              <a:rPr lang="en-US" sz="1300" b="1" dirty="0">
                <a:solidFill>
                  <a:srgbClr val="1A1D23"/>
                </a:solidFill>
                <a:latin typeface="Calibri" pitchFamily="34" charset="0"/>
                <a:ea typeface="Calibri" pitchFamily="34" charset="-122"/>
                <a:cs typeface="Calibri" pitchFamily="34" charset="-120"/>
              </a:rPr>
              <a:t>$22,978</a:t>
            </a:r>
            <a:endParaRPr lang="en-US" sz="1300" dirty="0"/>
          </a:p>
        </p:txBody>
      </p:sp>
      <p:sp>
        <p:nvSpPr>
          <p:cNvPr id="26" name="Text 24"/>
          <p:cNvSpPr/>
          <p:nvPr/>
        </p:nvSpPr>
        <p:spPr>
          <a:xfrm>
            <a:off x="594360" y="6355080"/>
            <a:ext cx="10972800" cy="365760"/>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Costos de hardware, sin impuestos, flete, instalación ni ingeniería. La infraestructura del almacén va aparte: $14,288 una sola vez por sitio.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Por qué retrofit y no vender autónomos de fábrica</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La diferencia de precio es la tesis entera del producto</a:t>
            </a:r>
            <a:endParaRPr lang="en-US" sz="1350" dirty="0"/>
          </a:p>
        </p:txBody>
      </p:sp>
      <p:sp>
        <p:nvSpPr>
          <p:cNvPr id="4" name="Shape 2"/>
          <p:cNvSpPr/>
          <p:nvPr/>
        </p:nvSpPr>
        <p:spPr>
          <a:xfrm>
            <a:off x="594360" y="1874520"/>
            <a:ext cx="10972800" cy="402336"/>
          </a:xfrm>
          <a:prstGeom prst="rect">
            <a:avLst/>
          </a:prstGeom>
          <a:solidFill>
            <a:srgbClr val="20242B"/>
          </a:solidFill>
          <a:ln w="7620">
            <a:solidFill>
              <a:srgbClr val="2C323B"/>
            </a:solidFill>
            <a:prstDash val="solid"/>
          </a:ln>
        </p:spPr>
      </p:sp>
      <p:sp>
        <p:nvSpPr>
          <p:cNvPr id="5" name="Text 3"/>
          <p:cNvSpPr/>
          <p:nvPr/>
        </p:nvSpPr>
        <p:spPr>
          <a:xfrm>
            <a:off x="722376" y="1874520"/>
            <a:ext cx="4498848" cy="402336"/>
          </a:xfrm>
          <a:prstGeom prst="rect">
            <a:avLst/>
          </a:prstGeom>
          <a:noFill/>
          <a:ln/>
        </p:spPr>
        <p:txBody>
          <a:bodyPr wrap="square" lIns="0" tIns="0" rIns="0" bIns="0" rtlCol="0" anchor="ctr"/>
          <a:lstStyle/>
          <a:p>
            <a:pPr algn="l" indent="0" marL="0">
              <a:buNone/>
            </a:pPr>
            <a:r>
              <a:rPr lang="en-US" sz="1000" b="1" dirty="0">
                <a:solidFill>
                  <a:srgbClr val="8B949E"/>
                </a:solidFill>
                <a:latin typeface="Calibri" pitchFamily="34" charset="0"/>
                <a:ea typeface="Calibri" pitchFamily="34" charset="-122"/>
                <a:cs typeface="Calibri" pitchFamily="34" charset="-120"/>
              </a:rPr>
              <a:t>OPCIÓN</a:t>
            </a:r>
            <a:endParaRPr lang="en-US" sz="1000" dirty="0"/>
          </a:p>
        </p:txBody>
      </p:sp>
      <p:sp>
        <p:nvSpPr>
          <p:cNvPr id="6" name="Text 4"/>
          <p:cNvSpPr/>
          <p:nvPr/>
        </p:nvSpPr>
        <p:spPr>
          <a:xfrm>
            <a:off x="5477256" y="1874520"/>
            <a:ext cx="2121408" cy="402336"/>
          </a:xfrm>
          <a:prstGeom prst="rect">
            <a:avLst/>
          </a:prstGeom>
          <a:noFill/>
          <a:ln/>
        </p:spPr>
        <p:txBody>
          <a:bodyPr wrap="square" lIns="0" tIns="0" rIns="0" bIns="0" rtlCol="0" anchor="ctr"/>
          <a:lstStyle/>
          <a:p>
            <a:pPr algn="r" indent="0" marL="0">
              <a:buNone/>
            </a:pPr>
            <a:r>
              <a:rPr lang="en-US" sz="1000" b="1" dirty="0">
                <a:solidFill>
                  <a:srgbClr val="8B949E"/>
                </a:solidFill>
                <a:latin typeface="Calibri" pitchFamily="34" charset="0"/>
                <a:ea typeface="Calibri" pitchFamily="34" charset="-122"/>
                <a:cs typeface="Calibri" pitchFamily="34" charset="-120"/>
              </a:rPr>
              <a:t>USD POR UNIDAD</a:t>
            </a:r>
            <a:endParaRPr lang="en-US" sz="1000" dirty="0"/>
          </a:p>
        </p:txBody>
      </p:sp>
      <p:sp>
        <p:nvSpPr>
          <p:cNvPr id="7" name="Text 5"/>
          <p:cNvSpPr/>
          <p:nvPr/>
        </p:nvSpPr>
        <p:spPr>
          <a:xfrm>
            <a:off x="7854696" y="1874520"/>
            <a:ext cx="3584448" cy="402336"/>
          </a:xfrm>
          <a:prstGeom prst="rect">
            <a:avLst/>
          </a:prstGeom>
          <a:noFill/>
          <a:ln/>
        </p:spPr>
        <p:txBody>
          <a:bodyPr wrap="square" lIns="0" tIns="0" rIns="0" bIns="0" rtlCol="0" anchor="ctr"/>
          <a:lstStyle/>
          <a:p>
            <a:pPr algn="l" indent="0" marL="0">
              <a:buNone/>
            </a:pPr>
            <a:r>
              <a:rPr lang="en-US" sz="1000" b="1" dirty="0">
                <a:solidFill>
                  <a:srgbClr val="8B949E"/>
                </a:solidFill>
                <a:latin typeface="Calibri" pitchFamily="34" charset="0"/>
                <a:ea typeface="Calibri" pitchFamily="34" charset="-122"/>
                <a:cs typeface="Calibri" pitchFamily="34" charset="-120"/>
              </a:rPr>
              <a:t>QUÉ IMPLICA</a:t>
            </a:r>
            <a:endParaRPr lang="en-US" sz="1000" dirty="0"/>
          </a:p>
        </p:txBody>
      </p:sp>
      <p:sp>
        <p:nvSpPr>
          <p:cNvPr id="8" name="Shape 6"/>
          <p:cNvSpPr/>
          <p:nvPr/>
        </p:nvSpPr>
        <p:spPr>
          <a:xfrm>
            <a:off x="594360" y="2276856"/>
            <a:ext cx="10972800" cy="713232"/>
          </a:xfrm>
          <a:prstGeom prst="rect">
            <a:avLst/>
          </a:prstGeom>
          <a:solidFill>
            <a:srgbClr val="1A1E25"/>
          </a:solidFill>
          <a:ln w="7620">
            <a:solidFill>
              <a:srgbClr val="2C323B"/>
            </a:solidFill>
            <a:prstDash val="solid"/>
          </a:ln>
        </p:spPr>
      </p:sp>
      <p:sp>
        <p:nvSpPr>
          <p:cNvPr id="9" name="Text 7"/>
          <p:cNvSpPr/>
          <p:nvPr/>
        </p:nvSpPr>
        <p:spPr>
          <a:xfrm>
            <a:off x="722376" y="2276856"/>
            <a:ext cx="4498848" cy="713232"/>
          </a:xfrm>
          <a:prstGeom prst="rect">
            <a:avLst/>
          </a:prstGeom>
          <a:noFill/>
          <a:ln/>
        </p:spPr>
        <p:txBody>
          <a:bodyPr wrap="square" lIns="0" tIns="0" rIns="0" bIns="0" rtlCol="0" anchor="ctr"/>
          <a:lstStyle/>
          <a:p>
            <a:pPr algn="l" indent="0" marL="0">
              <a:buNone/>
            </a:pPr>
            <a:r>
              <a:rPr lang="en-US" sz="1200" dirty="0">
                <a:solidFill>
                  <a:srgbClr val="ECEBE6"/>
                </a:solidFill>
                <a:latin typeface="Calibri" pitchFamily="34" charset="0"/>
                <a:ea typeface="Calibri" pitchFamily="34" charset="-122"/>
                <a:cs typeface="Calibri" pitchFamily="34" charset="-120"/>
              </a:rPr>
              <a:t>Contrabalanceado autónomo de fábrica</a:t>
            </a:r>
            <a:endParaRPr lang="en-US" sz="1200" dirty="0"/>
          </a:p>
        </p:txBody>
      </p:sp>
      <p:sp>
        <p:nvSpPr>
          <p:cNvPr id="10" name="Text 8"/>
          <p:cNvSpPr/>
          <p:nvPr/>
        </p:nvSpPr>
        <p:spPr>
          <a:xfrm>
            <a:off x="5477256" y="2276856"/>
            <a:ext cx="2121408" cy="713232"/>
          </a:xfrm>
          <a:prstGeom prst="rect">
            <a:avLst/>
          </a:prstGeom>
          <a:noFill/>
          <a:ln/>
        </p:spPr>
        <p:txBody>
          <a:bodyPr wrap="square" lIns="0" tIns="0" rIns="0" bIns="0" rtlCol="0" anchor="ctr"/>
          <a:lstStyle/>
          <a:p>
            <a:pPr algn="r" indent="0" marL="0">
              <a:buNone/>
            </a:pPr>
            <a:r>
              <a:rPr lang="en-US" sz="1400" b="1" dirty="0">
                <a:solidFill>
                  <a:srgbClr val="FF5A52"/>
                </a:solidFill>
                <a:latin typeface="Calibri" pitchFamily="34" charset="0"/>
                <a:ea typeface="Calibri" pitchFamily="34" charset="-122"/>
                <a:cs typeface="Calibri" pitchFamily="34" charset="-120"/>
              </a:rPr>
              <a:t>85,000 – 120,000</a:t>
            </a:r>
            <a:endParaRPr lang="en-US" sz="1400" dirty="0"/>
          </a:p>
        </p:txBody>
      </p:sp>
      <p:sp>
        <p:nvSpPr>
          <p:cNvPr id="11" name="Text 9"/>
          <p:cNvSpPr/>
          <p:nvPr/>
        </p:nvSpPr>
        <p:spPr>
          <a:xfrm>
            <a:off x="7854696" y="2276856"/>
            <a:ext cx="3584448" cy="713232"/>
          </a:xfrm>
          <a:prstGeom prst="rect">
            <a:avLst/>
          </a:prstGeom>
          <a:noFill/>
          <a:ln/>
        </p:spPr>
        <p:txBody>
          <a:bodyPr wrap="square" lIns="0" tIns="0" rIns="0" bIns="0" rtlCol="0" anchor="ctr"/>
          <a:lstStyle/>
          <a:p>
            <a:pPr algn="l" indent="0" marL="0">
              <a:buNone/>
            </a:pPr>
            <a:r>
              <a:rPr lang="en-US" sz="1000" dirty="0">
                <a:solidFill>
                  <a:srgbClr val="8B949E"/>
                </a:solidFill>
                <a:latin typeface="Calibri" pitchFamily="34" charset="0"/>
                <a:ea typeface="Calibri" pitchFamily="34" charset="-122"/>
                <a:cs typeface="Calibri" pitchFamily="34" charset="-120"/>
              </a:rPr>
              <a:t>Máquina nueva. El cliente tira o revende la que ya tiene.</a:t>
            </a:r>
            <a:endParaRPr lang="en-US" sz="1000" dirty="0"/>
          </a:p>
        </p:txBody>
      </p:sp>
      <p:sp>
        <p:nvSpPr>
          <p:cNvPr id="12" name="Shape 10"/>
          <p:cNvSpPr/>
          <p:nvPr/>
        </p:nvSpPr>
        <p:spPr>
          <a:xfrm>
            <a:off x="594360" y="2990088"/>
            <a:ext cx="10972800" cy="713232"/>
          </a:xfrm>
          <a:prstGeom prst="rect">
            <a:avLst/>
          </a:prstGeom>
          <a:solidFill>
            <a:srgbClr val="1A1E25"/>
          </a:solidFill>
          <a:ln w="7620">
            <a:solidFill>
              <a:srgbClr val="2C323B"/>
            </a:solidFill>
            <a:prstDash val="solid"/>
          </a:ln>
        </p:spPr>
      </p:sp>
      <p:sp>
        <p:nvSpPr>
          <p:cNvPr id="13" name="Text 11"/>
          <p:cNvSpPr/>
          <p:nvPr/>
        </p:nvSpPr>
        <p:spPr>
          <a:xfrm>
            <a:off x="722376" y="2990088"/>
            <a:ext cx="4498848" cy="713232"/>
          </a:xfrm>
          <a:prstGeom prst="rect">
            <a:avLst/>
          </a:prstGeom>
          <a:noFill/>
          <a:ln/>
        </p:spPr>
        <p:txBody>
          <a:bodyPr wrap="square" lIns="0" tIns="0" rIns="0" bIns="0" rtlCol="0" anchor="ctr"/>
          <a:lstStyle/>
          <a:p>
            <a:pPr algn="l" indent="0" marL="0">
              <a:buNone/>
            </a:pPr>
            <a:r>
              <a:rPr lang="en-US" sz="1200" dirty="0">
                <a:solidFill>
                  <a:srgbClr val="ECEBE6"/>
                </a:solidFill>
                <a:latin typeface="Calibri" pitchFamily="34" charset="0"/>
                <a:ea typeface="Calibri" pitchFamily="34" charset="-122"/>
                <a:cs typeface="Calibri" pitchFamily="34" charset="-120"/>
              </a:rPr>
              <a:t>Reach truck autónomo de fábrica</a:t>
            </a:r>
            <a:endParaRPr lang="en-US" sz="1200" dirty="0"/>
          </a:p>
        </p:txBody>
      </p:sp>
      <p:sp>
        <p:nvSpPr>
          <p:cNvPr id="14" name="Text 12"/>
          <p:cNvSpPr/>
          <p:nvPr/>
        </p:nvSpPr>
        <p:spPr>
          <a:xfrm>
            <a:off x="5477256" y="2990088"/>
            <a:ext cx="2121408" cy="713232"/>
          </a:xfrm>
          <a:prstGeom prst="rect">
            <a:avLst/>
          </a:prstGeom>
          <a:noFill/>
          <a:ln/>
        </p:spPr>
        <p:txBody>
          <a:bodyPr wrap="square" lIns="0" tIns="0" rIns="0" bIns="0" rtlCol="0" anchor="ctr"/>
          <a:lstStyle/>
          <a:p>
            <a:pPr algn="r" indent="0" marL="0">
              <a:buNone/>
            </a:pPr>
            <a:r>
              <a:rPr lang="en-US" sz="1400" b="1" dirty="0">
                <a:solidFill>
                  <a:srgbClr val="FF5A52"/>
                </a:solidFill>
                <a:latin typeface="Calibri" pitchFamily="34" charset="0"/>
                <a:ea typeface="Calibri" pitchFamily="34" charset="-122"/>
                <a:cs typeface="Calibri" pitchFamily="34" charset="-120"/>
              </a:rPr>
              <a:t>90,000 – 130,000</a:t>
            </a:r>
            <a:endParaRPr lang="en-US" sz="1400" dirty="0"/>
          </a:p>
        </p:txBody>
      </p:sp>
      <p:sp>
        <p:nvSpPr>
          <p:cNvPr id="15" name="Text 13"/>
          <p:cNvSpPr/>
          <p:nvPr/>
        </p:nvSpPr>
        <p:spPr>
          <a:xfrm>
            <a:off x="7854696" y="2990088"/>
            <a:ext cx="3584448" cy="713232"/>
          </a:xfrm>
          <a:prstGeom prst="rect">
            <a:avLst/>
          </a:prstGeom>
          <a:noFill/>
          <a:ln/>
        </p:spPr>
        <p:txBody>
          <a:bodyPr wrap="square" lIns="0" tIns="0" rIns="0" bIns="0" rtlCol="0" anchor="ctr"/>
          <a:lstStyle/>
          <a:p>
            <a:pPr algn="l" indent="0" marL="0">
              <a:buNone/>
            </a:pPr>
            <a:r>
              <a:rPr lang="en-US" sz="1000" dirty="0">
                <a:solidFill>
                  <a:srgbClr val="8B949E"/>
                </a:solidFill>
                <a:latin typeface="Calibri" pitchFamily="34" charset="0"/>
                <a:ea typeface="Calibri" pitchFamily="34" charset="-122"/>
                <a:cs typeface="Calibri" pitchFamily="34" charset="-120"/>
              </a:rPr>
              <a:t>Mismo problema, otro formato.</a:t>
            </a:r>
            <a:endParaRPr lang="en-US" sz="1000" dirty="0"/>
          </a:p>
        </p:txBody>
      </p:sp>
      <p:sp>
        <p:nvSpPr>
          <p:cNvPr id="16" name="Shape 14"/>
          <p:cNvSpPr/>
          <p:nvPr/>
        </p:nvSpPr>
        <p:spPr>
          <a:xfrm>
            <a:off x="594360" y="3703320"/>
            <a:ext cx="10972800" cy="713232"/>
          </a:xfrm>
          <a:prstGeom prst="rect">
            <a:avLst/>
          </a:prstGeom>
          <a:solidFill>
            <a:srgbClr val="1A1E25"/>
          </a:solidFill>
          <a:ln w="7620">
            <a:solidFill>
              <a:srgbClr val="2C323B"/>
            </a:solidFill>
            <a:prstDash val="solid"/>
          </a:ln>
        </p:spPr>
      </p:sp>
      <p:sp>
        <p:nvSpPr>
          <p:cNvPr id="17" name="Text 15"/>
          <p:cNvSpPr/>
          <p:nvPr/>
        </p:nvSpPr>
        <p:spPr>
          <a:xfrm>
            <a:off x="722376" y="3703320"/>
            <a:ext cx="4498848" cy="713232"/>
          </a:xfrm>
          <a:prstGeom prst="rect">
            <a:avLst/>
          </a:prstGeom>
          <a:noFill/>
          <a:ln/>
        </p:spPr>
        <p:txBody>
          <a:bodyPr wrap="square" lIns="0" tIns="0" rIns="0" bIns="0" rtlCol="0" anchor="ctr"/>
          <a:lstStyle/>
          <a:p>
            <a:pPr algn="l" indent="0" marL="0">
              <a:buNone/>
            </a:pPr>
            <a:r>
              <a:rPr lang="en-US" sz="1200" dirty="0">
                <a:solidFill>
                  <a:srgbClr val="ECEBE6"/>
                </a:solidFill>
                <a:latin typeface="Calibri" pitchFamily="34" charset="0"/>
                <a:ea typeface="Calibri" pitchFamily="34" charset="-122"/>
                <a:cs typeface="Calibri" pitchFamily="34" charset="-120"/>
              </a:rPr>
              <a:t>Montacargas eléctrico nuevo, sin automatizar</a:t>
            </a:r>
            <a:endParaRPr lang="en-US" sz="1200" dirty="0"/>
          </a:p>
        </p:txBody>
      </p:sp>
      <p:sp>
        <p:nvSpPr>
          <p:cNvPr id="18" name="Text 16"/>
          <p:cNvSpPr/>
          <p:nvPr/>
        </p:nvSpPr>
        <p:spPr>
          <a:xfrm>
            <a:off x="5477256" y="3703320"/>
            <a:ext cx="2121408" cy="713232"/>
          </a:xfrm>
          <a:prstGeom prst="rect">
            <a:avLst/>
          </a:prstGeom>
          <a:noFill/>
          <a:ln/>
        </p:spPr>
        <p:txBody>
          <a:bodyPr wrap="square" lIns="0" tIns="0" rIns="0" bIns="0" rtlCol="0" anchor="ctr"/>
          <a:lstStyle/>
          <a:p>
            <a:pPr algn="r" indent="0" marL="0">
              <a:buNone/>
            </a:pPr>
            <a:r>
              <a:rPr lang="en-US" sz="1400" b="1" dirty="0">
                <a:solidFill>
                  <a:srgbClr val="8B949E"/>
                </a:solidFill>
                <a:latin typeface="Calibri" pitchFamily="34" charset="0"/>
                <a:ea typeface="Calibri" pitchFamily="34" charset="-122"/>
                <a:cs typeface="Calibri" pitchFamily="34" charset="-120"/>
              </a:rPr>
              <a:t>15,000 – 30,000</a:t>
            </a:r>
            <a:endParaRPr lang="en-US" sz="1400" dirty="0"/>
          </a:p>
        </p:txBody>
      </p:sp>
      <p:sp>
        <p:nvSpPr>
          <p:cNvPr id="19" name="Text 17"/>
          <p:cNvSpPr/>
          <p:nvPr/>
        </p:nvSpPr>
        <p:spPr>
          <a:xfrm>
            <a:off x="7854696" y="3703320"/>
            <a:ext cx="3584448" cy="713232"/>
          </a:xfrm>
          <a:prstGeom prst="rect">
            <a:avLst/>
          </a:prstGeom>
          <a:noFill/>
          <a:ln/>
        </p:spPr>
        <p:txBody>
          <a:bodyPr wrap="square" lIns="0" tIns="0" rIns="0" bIns="0" rtlCol="0" anchor="ctr"/>
          <a:lstStyle/>
          <a:p>
            <a:pPr algn="l" indent="0" marL="0">
              <a:buNone/>
            </a:pPr>
            <a:r>
              <a:rPr lang="en-US" sz="1000" dirty="0">
                <a:solidFill>
                  <a:srgbClr val="8B949E"/>
                </a:solidFill>
                <a:latin typeface="Calibri" pitchFamily="34" charset="0"/>
                <a:ea typeface="Calibri" pitchFamily="34" charset="-122"/>
                <a:cs typeface="Calibri" pitchFamily="34" charset="-120"/>
              </a:rPr>
              <a:t>Lo que el cliente compra hoy. Sigue necesitando un operador por turno.</a:t>
            </a:r>
            <a:endParaRPr lang="en-US" sz="1000" dirty="0"/>
          </a:p>
        </p:txBody>
      </p:sp>
      <p:sp>
        <p:nvSpPr>
          <p:cNvPr id="20" name="Shape 18"/>
          <p:cNvSpPr/>
          <p:nvPr/>
        </p:nvSpPr>
        <p:spPr>
          <a:xfrm>
            <a:off x="594360" y="4416552"/>
            <a:ext cx="10972800" cy="713232"/>
          </a:xfrm>
          <a:prstGeom prst="rect">
            <a:avLst/>
          </a:prstGeom>
          <a:solidFill>
            <a:srgbClr val="1A1E25"/>
          </a:solidFill>
          <a:ln w="7620">
            <a:solidFill>
              <a:srgbClr val="2C323B"/>
            </a:solidFill>
            <a:prstDash val="solid"/>
          </a:ln>
        </p:spPr>
      </p:sp>
      <p:sp>
        <p:nvSpPr>
          <p:cNvPr id="21" name="Text 19"/>
          <p:cNvSpPr/>
          <p:nvPr/>
        </p:nvSpPr>
        <p:spPr>
          <a:xfrm>
            <a:off x="722376" y="4416552"/>
            <a:ext cx="4498848" cy="713232"/>
          </a:xfrm>
          <a:prstGeom prst="rect">
            <a:avLst/>
          </a:prstGeom>
          <a:noFill/>
          <a:ln/>
        </p:spPr>
        <p:txBody>
          <a:bodyPr wrap="square" lIns="0" tIns="0" rIns="0" bIns="0" rtlCol="0" anchor="ctr"/>
          <a:lstStyle/>
          <a:p>
            <a:pPr algn="l" indent="0" marL="0">
              <a:buNone/>
            </a:pPr>
            <a:r>
              <a:rPr lang="en-US" sz="1200" b="1" dirty="0">
                <a:solidFill>
                  <a:srgbClr val="ECEBE6"/>
                </a:solidFill>
                <a:latin typeface="Calibri" pitchFamily="34" charset="0"/>
                <a:ea typeface="Calibri" pitchFamily="34" charset="-122"/>
                <a:cs typeface="Calibri" pitchFamily="34" charset="-120"/>
              </a:rPr>
              <a:t>Kit TaTa nivel 3, sobre su propia máquina</a:t>
            </a:r>
            <a:endParaRPr lang="en-US" sz="1200" dirty="0"/>
          </a:p>
        </p:txBody>
      </p:sp>
      <p:sp>
        <p:nvSpPr>
          <p:cNvPr id="22" name="Text 20"/>
          <p:cNvSpPr/>
          <p:nvPr/>
        </p:nvSpPr>
        <p:spPr>
          <a:xfrm>
            <a:off x="5477256" y="4416552"/>
            <a:ext cx="2121408" cy="713232"/>
          </a:xfrm>
          <a:prstGeom prst="rect">
            <a:avLst/>
          </a:prstGeom>
          <a:noFill/>
          <a:ln/>
        </p:spPr>
        <p:txBody>
          <a:bodyPr wrap="square" lIns="0" tIns="0" rIns="0" bIns="0" rtlCol="0" anchor="ctr"/>
          <a:lstStyle/>
          <a:p>
            <a:pPr algn="r" indent="0" marL="0">
              <a:buNone/>
            </a:pPr>
            <a:r>
              <a:rPr lang="en-US" sz="1400" b="1" dirty="0">
                <a:solidFill>
                  <a:srgbClr val="39D98A"/>
                </a:solidFill>
                <a:latin typeface="Calibri" pitchFamily="34" charset="0"/>
                <a:ea typeface="Calibri" pitchFamily="34" charset="-122"/>
                <a:cs typeface="Calibri" pitchFamily="34" charset="-120"/>
              </a:rPr>
              <a:t>22,978</a:t>
            </a:r>
            <a:endParaRPr lang="en-US" sz="1400" dirty="0"/>
          </a:p>
        </p:txBody>
      </p:sp>
      <p:sp>
        <p:nvSpPr>
          <p:cNvPr id="23" name="Text 21"/>
          <p:cNvSpPr/>
          <p:nvPr/>
        </p:nvSpPr>
        <p:spPr>
          <a:xfrm>
            <a:off x="7854696" y="4416552"/>
            <a:ext cx="3584448" cy="713232"/>
          </a:xfrm>
          <a:prstGeom prst="rect">
            <a:avLst/>
          </a:prstGeom>
          <a:noFill/>
          <a:ln/>
        </p:spPr>
        <p:txBody>
          <a:bodyPr wrap="square" lIns="0" tIns="0" rIns="0" bIns="0" rtlCol="0" anchor="ctr"/>
          <a:lstStyle/>
          <a:p>
            <a:pPr algn="l" indent="0" marL="0">
              <a:buNone/>
            </a:pPr>
            <a:r>
              <a:rPr lang="en-US" sz="1000" dirty="0">
                <a:solidFill>
                  <a:srgbClr val="8B949E"/>
                </a:solidFill>
                <a:latin typeface="Calibri" pitchFamily="34" charset="0"/>
                <a:ea typeface="Calibri" pitchFamily="34" charset="-122"/>
                <a:cs typeface="Calibri" pitchFamily="34" charset="-120"/>
              </a:rPr>
              <a:t>Sin comprar máquina. El activo que ya tiene sigue trabajando.</a:t>
            </a:r>
            <a:endParaRPr lang="en-US" sz="1000" dirty="0"/>
          </a:p>
        </p:txBody>
      </p:sp>
      <p:sp>
        <p:nvSpPr>
          <p:cNvPr id="24" name="Shape 22"/>
          <p:cNvSpPr/>
          <p:nvPr/>
        </p:nvSpPr>
        <p:spPr>
          <a:xfrm>
            <a:off x="594360" y="5349240"/>
            <a:ext cx="10972800" cy="960120"/>
          </a:xfrm>
          <a:prstGeom prst="roundRect">
            <a:avLst>
              <a:gd name="adj" fmla="val 8571"/>
            </a:avLst>
          </a:prstGeom>
          <a:solidFill>
            <a:srgbClr val="20242B"/>
          </a:solidFill>
          <a:ln/>
          <a:effectLst>
            <a:outerShdw sx="100000" sy="100000" kx="0" ky="0" algn="bl" rotWithShape="0" blurRad="152400" dist="38100" dir="5400000">
              <a:srgbClr val="000000">
                <a:alpha val="28000"/>
              </a:srgbClr>
            </a:outerShdw>
          </a:effectLst>
        </p:spPr>
      </p:sp>
      <p:sp>
        <p:nvSpPr>
          <p:cNvPr id="25" name="Text 23"/>
          <p:cNvSpPr/>
          <p:nvPr/>
        </p:nvSpPr>
        <p:spPr>
          <a:xfrm>
            <a:off x="960120" y="5349240"/>
            <a:ext cx="10241280" cy="960120"/>
          </a:xfrm>
          <a:prstGeom prst="rect">
            <a:avLst/>
          </a:prstGeom>
          <a:noFill/>
          <a:ln/>
        </p:spPr>
        <p:txBody>
          <a:bodyPr wrap="square" lIns="0" tIns="0" rIns="0" bIns="0" rtlCol="0" anchor="ctr"/>
          <a:lstStyle/>
          <a:p>
            <a:pPr indent="0" marL="0">
              <a:buNone/>
            </a:pPr>
            <a:r>
              <a:rPr lang="en-US" sz="1300" b="1" dirty="0">
                <a:solidFill>
                  <a:srgbClr val="F5C518"/>
                </a:solidFill>
                <a:latin typeface="Calibri" pitchFamily="34" charset="0"/>
                <a:ea typeface="Calibri" pitchFamily="34" charset="-122"/>
                <a:cs typeface="Calibri" pitchFamily="34" charset="-120"/>
              </a:rPr>
              <a:t>El comparable correcto es la máquina autónoma de fábrica, no el montacargas nuevo. Pero el cliente va a comparar con el montacargas nuevo, y hay que estar listos para esa conversación.</a:t>
            </a:r>
            <a:endParaRPr lang="en-US" sz="1300" dirty="0"/>
          </a:p>
        </p:txBody>
      </p:sp>
      <p:sp>
        <p:nvSpPr>
          <p:cNvPr id="26" name="Text 24"/>
          <p:cNvSpPr/>
          <p:nvPr/>
        </p:nvSpPr>
        <p:spPr>
          <a:xfrm>
            <a:off x="594360" y="6400800"/>
            <a:ext cx="10972800" cy="274320"/>
          </a:xfrm>
          <a:prstGeom prst="rect">
            <a:avLst/>
          </a:prstGeom>
          <a:noFill/>
          <a:ln/>
        </p:spPr>
        <p:txBody>
          <a:bodyPr wrap="square" lIns="0" tIns="0" rIns="0" bIns="0" rtlCol="0" anchor="ctr"/>
          <a:lstStyle/>
          <a:p>
            <a:pPr indent="0" marL="0">
              <a:buNone/>
            </a:pPr>
            <a:r>
              <a:rPr lang="en-US" sz="950" i="1" dirty="0">
                <a:solidFill>
                  <a:srgbClr val="8B949E"/>
                </a:solidFill>
                <a:latin typeface="Calibri" pitchFamily="34" charset="0"/>
                <a:ea typeface="Calibri" pitchFamily="34" charset="-122"/>
                <a:cs typeface="Calibri" pitchFamily="34" charset="-120"/>
              </a:rPr>
              <a:t>Rangos de mercado consultados en agosto 2026.</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Por qué esto tiene que vivir dentro de Montasa</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Un tercero tendría que comprar todo esto. Nosotros ya lo tenemos.</a:t>
            </a:r>
            <a:endParaRPr lang="en-US" sz="1350" dirty="0"/>
          </a:p>
        </p:txBody>
      </p:sp>
      <p:sp>
        <p:nvSpPr>
          <p:cNvPr id="4" name="Shape 2"/>
          <p:cNvSpPr/>
          <p:nvPr/>
        </p:nvSpPr>
        <p:spPr>
          <a:xfrm>
            <a:off x="594360" y="1874520"/>
            <a:ext cx="3493008" cy="1874520"/>
          </a:xfrm>
          <a:prstGeom prst="roundRect">
            <a:avLst>
              <a:gd name="adj" fmla="val 4390"/>
            </a:avLst>
          </a:prstGeom>
          <a:solidFill>
            <a:srgbClr val="FFFFFF"/>
          </a:solidFill>
          <a:ln/>
          <a:effectLst>
            <a:outerShdw sx="100000" sy="100000" kx="0" ky="0" algn="bl" rotWithShape="0" blurRad="152400" dist="38100" dir="5400000">
              <a:srgbClr val="000000">
                <a:alpha val="28000"/>
              </a:srgbClr>
            </a:outerShdw>
          </a:effectLst>
        </p:spPr>
      </p:sp>
      <p:sp>
        <p:nvSpPr>
          <p:cNvPr id="5" name="Shape 3"/>
          <p:cNvSpPr/>
          <p:nvPr/>
        </p:nvSpPr>
        <p:spPr>
          <a:xfrm>
            <a:off x="886968" y="2167128"/>
            <a:ext cx="548640" cy="41148"/>
          </a:xfrm>
          <a:prstGeom prst="rect">
            <a:avLst/>
          </a:prstGeom>
          <a:solidFill>
            <a:srgbClr val="F5C518"/>
          </a:solidFill>
          <a:ln/>
        </p:spPr>
      </p:sp>
      <p:sp>
        <p:nvSpPr>
          <p:cNvPr id="6" name="Text 4"/>
          <p:cNvSpPr/>
          <p:nvPr/>
        </p:nvSpPr>
        <p:spPr>
          <a:xfrm>
            <a:off x="886968" y="2331720"/>
            <a:ext cx="292608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Las máquinas</a:t>
            </a:r>
            <a:endParaRPr lang="en-US" sz="1600" dirty="0"/>
          </a:p>
        </p:txBody>
      </p:sp>
      <p:sp>
        <p:nvSpPr>
          <p:cNvPr id="7" name="Text 5"/>
          <p:cNvSpPr/>
          <p:nvPr/>
        </p:nvSpPr>
        <p:spPr>
          <a:xfrm>
            <a:off x="886968" y="2770632"/>
            <a:ext cx="2926080" cy="8686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Para desarrollar el kit hay que tener montacargas. Nosotros los tenemos en el piso.</a:t>
            </a:r>
            <a:endParaRPr lang="en-US" sz="1150" dirty="0"/>
          </a:p>
        </p:txBody>
      </p:sp>
      <p:sp>
        <p:nvSpPr>
          <p:cNvPr id="8" name="Shape 6"/>
          <p:cNvSpPr/>
          <p:nvPr/>
        </p:nvSpPr>
        <p:spPr>
          <a:xfrm>
            <a:off x="4306824" y="1874520"/>
            <a:ext cx="3493008" cy="1874520"/>
          </a:xfrm>
          <a:prstGeom prst="roundRect">
            <a:avLst>
              <a:gd name="adj" fmla="val 4390"/>
            </a:avLst>
          </a:prstGeom>
          <a:solidFill>
            <a:srgbClr val="FFFFFF"/>
          </a:solidFill>
          <a:ln/>
          <a:effectLst>
            <a:outerShdw sx="100000" sy="100000" kx="0" ky="0" algn="bl" rotWithShape="0" blurRad="152400" dist="38100" dir="5400000">
              <a:srgbClr val="000000">
                <a:alpha val="28000"/>
              </a:srgbClr>
            </a:outerShdw>
          </a:effectLst>
        </p:spPr>
      </p:sp>
      <p:sp>
        <p:nvSpPr>
          <p:cNvPr id="9" name="Shape 7"/>
          <p:cNvSpPr/>
          <p:nvPr/>
        </p:nvSpPr>
        <p:spPr>
          <a:xfrm>
            <a:off x="4599432" y="2167128"/>
            <a:ext cx="548640" cy="41148"/>
          </a:xfrm>
          <a:prstGeom prst="rect">
            <a:avLst/>
          </a:prstGeom>
          <a:solidFill>
            <a:srgbClr val="F5C518"/>
          </a:solidFill>
          <a:ln/>
        </p:spPr>
      </p:sp>
      <p:sp>
        <p:nvSpPr>
          <p:cNvPr id="10" name="Text 8"/>
          <p:cNvSpPr/>
          <p:nvPr/>
        </p:nvSpPr>
        <p:spPr>
          <a:xfrm>
            <a:off x="4599432" y="2331720"/>
            <a:ext cx="292608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El taller</a:t>
            </a:r>
            <a:endParaRPr lang="en-US" sz="1600" dirty="0"/>
          </a:p>
        </p:txBody>
      </p:sp>
      <p:sp>
        <p:nvSpPr>
          <p:cNvPr id="11" name="Text 9"/>
          <p:cNvSpPr/>
          <p:nvPr/>
        </p:nvSpPr>
        <p:spPr>
          <a:xfrm>
            <a:off x="4599432" y="2770632"/>
            <a:ext cx="2926080" cy="8686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Técnicos que ya conocen el Baoli por dentro. Un tercero contrata y entrena desde cero.</a:t>
            </a:r>
            <a:endParaRPr lang="en-US" sz="1150" dirty="0"/>
          </a:p>
        </p:txBody>
      </p:sp>
      <p:sp>
        <p:nvSpPr>
          <p:cNvPr id="12" name="Shape 10"/>
          <p:cNvSpPr/>
          <p:nvPr/>
        </p:nvSpPr>
        <p:spPr>
          <a:xfrm>
            <a:off x="8019288" y="1874520"/>
            <a:ext cx="3493008" cy="1874520"/>
          </a:xfrm>
          <a:prstGeom prst="roundRect">
            <a:avLst>
              <a:gd name="adj" fmla="val 4390"/>
            </a:avLst>
          </a:prstGeom>
          <a:solidFill>
            <a:srgbClr val="FFFFFF"/>
          </a:solidFill>
          <a:ln/>
          <a:effectLst>
            <a:outerShdw sx="100000" sy="100000" kx="0" ky="0" algn="bl" rotWithShape="0" blurRad="152400" dist="38100" dir="5400000">
              <a:srgbClr val="000000">
                <a:alpha val="28000"/>
              </a:srgbClr>
            </a:outerShdw>
          </a:effectLst>
        </p:spPr>
      </p:sp>
      <p:sp>
        <p:nvSpPr>
          <p:cNvPr id="13" name="Shape 11"/>
          <p:cNvSpPr/>
          <p:nvPr/>
        </p:nvSpPr>
        <p:spPr>
          <a:xfrm>
            <a:off x="8311896" y="2167128"/>
            <a:ext cx="548640" cy="41148"/>
          </a:xfrm>
          <a:prstGeom prst="rect">
            <a:avLst/>
          </a:prstGeom>
          <a:solidFill>
            <a:srgbClr val="39D98A"/>
          </a:solidFill>
          <a:ln/>
        </p:spPr>
      </p:sp>
      <p:sp>
        <p:nvSpPr>
          <p:cNvPr id="14" name="Text 12"/>
          <p:cNvSpPr/>
          <p:nvPr/>
        </p:nvSpPr>
        <p:spPr>
          <a:xfrm>
            <a:off x="8311896" y="2331720"/>
            <a:ext cx="292608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Los clientes</a:t>
            </a:r>
            <a:endParaRPr lang="en-US" sz="1600" dirty="0"/>
          </a:p>
        </p:txBody>
      </p:sp>
      <p:sp>
        <p:nvSpPr>
          <p:cNvPr id="15" name="Text 13"/>
          <p:cNvSpPr/>
          <p:nvPr/>
        </p:nvSpPr>
        <p:spPr>
          <a:xfrm>
            <a:off x="8311896" y="2770632"/>
            <a:ext cx="2926080" cy="8686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La base instalada de Montasa es el canal de venta. No hay que construirlo.</a:t>
            </a:r>
            <a:endParaRPr lang="en-US" sz="1150" dirty="0"/>
          </a:p>
        </p:txBody>
      </p:sp>
      <p:sp>
        <p:nvSpPr>
          <p:cNvPr id="16" name="Shape 14"/>
          <p:cNvSpPr/>
          <p:nvPr/>
        </p:nvSpPr>
        <p:spPr>
          <a:xfrm>
            <a:off x="594360" y="3977640"/>
            <a:ext cx="3493008" cy="1874520"/>
          </a:xfrm>
          <a:prstGeom prst="roundRect">
            <a:avLst>
              <a:gd name="adj" fmla="val 4390"/>
            </a:avLst>
          </a:prstGeom>
          <a:solidFill>
            <a:srgbClr val="FFFFFF"/>
          </a:solidFill>
          <a:ln/>
          <a:effectLst>
            <a:outerShdw sx="100000" sy="100000" kx="0" ky="0" algn="bl" rotWithShape="0" blurRad="152400" dist="38100" dir="5400000">
              <a:srgbClr val="000000">
                <a:alpha val="28000"/>
              </a:srgbClr>
            </a:outerShdw>
          </a:effectLst>
        </p:spPr>
      </p:sp>
      <p:sp>
        <p:nvSpPr>
          <p:cNvPr id="17" name="Shape 15"/>
          <p:cNvSpPr/>
          <p:nvPr/>
        </p:nvSpPr>
        <p:spPr>
          <a:xfrm>
            <a:off x="886968" y="4270248"/>
            <a:ext cx="548640" cy="41148"/>
          </a:xfrm>
          <a:prstGeom prst="rect">
            <a:avLst/>
          </a:prstGeom>
          <a:solidFill>
            <a:srgbClr val="37C3FF"/>
          </a:solidFill>
          <a:ln/>
        </p:spPr>
      </p:sp>
      <p:sp>
        <p:nvSpPr>
          <p:cNvPr id="18" name="Text 16"/>
          <p:cNvSpPr/>
          <p:nvPr/>
        </p:nvSpPr>
        <p:spPr>
          <a:xfrm>
            <a:off x="886968" y="4434840"/>
            <a:ext cx="292608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La relación con Baoli</a:t>
            </a:r>
            <a:endParaRPr lang="en-US" sz="1600" dirty="0"/>
          </a:p>
        </p:txBody>
      </p:sp>
      <p:sp>
        <p:nvSpPr>
          <p:cNvPr id="19" name="Text 17"/>
          <p:cNvSpPr/>
          <p:nvPr/>
        </p:nvSpPr>
        <p:spPr>
          <a:xfrm>
            <a:off x="886968" y="4873752"/>
            <a:ext cx="2926080" cy="8686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Abre la puerta para resolver el acceso al controlador, que es el riesgo técnico principal.</a:t>
            </a:r>
            <a:endParaRPr lang="en-US" sz="1150" dirty="0"/>
          </a:p>
        </p:txBody>
      </p:sp>
      <p:sp>
        <p:nvSpPr>
          <p:cNvPr id="20" name="Shape 18"/>
          <p:cNvSpPr/>
          <p:nvPr/>
        </p:nvSpPr>
        <p:spPr>
          <a:xfrm>
            <a:off x="4306824" y="3977640"/>
            <a:ext cx="3493008" cy="1874520"/>
          </a:xfrm>
          <a:prstGeom prst="roundRect">
            <a:avLst>
              <a:gd name="adj" fmla="val 4390"/>
            </a:avLst>
          </a:prstGeom>
          <a:solidFill>
            <a:srgbClr val="FFFFFF"/>
          </a:solidFill>
          <a:ln/>
          <a:effectLst>
            <a:outerShdw sx="100000" sy="100000" kx="0" ky="0" algn="bl" rotWithShape="0" blurRad="152400" dist="38100" dir="5400000">
              <a:srgbClr val="000000">
                <a:alpha val="28000"/>
              </a:srgbClr>
            </a:outerShdw>
          </a:effectLst>
        </p:spPr>
      </p:sp>
      <p:sp>
        <p:nvSpPr>
          <p:cNvPr id="21" name="Shape 19"/>
          <p:cNvSpPr/>
          <p:nvPr/>
        </p:nvSpPr>
        <p:spPr>
          <a:xfrm>
            <a:off x="4599432" y="4270248"/>
            <a:ext cx="548640" cy="41148"/>
          </a:xfrm>
          <a:prstGeom prst="rect">
            <a:avLst/>
          </a:prstGeom>
          <a:solidFill>
            <a:srgbClr val="F5C518"/>
          </a:solidFill>
          <a:ln/>
        </p:spPr>
      </p:sp>
      <p:sp>
        <p:nvSpPr>
          <p:cNvPr id="22" name="Text 20"/>
          <p:cNvSpPr/>
          <p:nvPr/>
        </p:nvSpPr>
        <p:spPr>
          <a:xfrm>
            <a:off x="4599432" y="4434840"/>
            <a:ext cx="292608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El servicio</a:t>
            </a:r>
            <a:endParaRPr lang="en-US" sz="1600" dirty="0"/>
          </a:p>
        </p:txBody>
      </p:sp>
      <p:sp>
        <p:nvSpPr>
          <p:cNvPr id="23" name="Text 21"/>
          <p:cNvSpPr/>
          <p:nvPr/>
        </p:nvSpPr>
        <p:spPr>
          <a:xfrm>
            <a:off x="4599432" y="4873752"/>
            <a:ext cx="2926080" cy="8686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Un kit autónomo necesita mantenimiento. Ya existe la red que lo puede dar.</a:t>
            </a:r>
            <a:endParaRPr lang="en-US" sz="1150" dirty="0"/>
          </a:p>
        </p:txBody>
      </p:sp>
      <p:sp>
        <p:nvSpPr>
          <p:cNvPr id="24" name="Shape 22"/>
          <p:cNvSpPr/>
          <p:nvPr/>
        </p:nvSpPr>
        <p:spPr>
          <a:xfrm>
            <a:off x="8019288" y="3977640"/>
            <a:ext cx="3493008" cy="1874520"/>
          </a:xfrm>
          <a:prstGeom prst="roundRect">
            <a:avLst>
              <a:gd name="adj" fmla="val 4390"/>
            </a:avLst>
          </a:prstGeom>
          <a:solidFill>
            <a:srgbClr val="FFFFFF"/>
          </a:solidFill>
          <a:ln/>
          <a:effectLst>
            <a:outerShdw sx="100000" sy="100000" kx="0" ky="0" algn="bl" rotWithShape="0" blurRad="152400" dist="38100" dir="5400000">
              <a:srgbClr val="000000">
                <a:alpha val="28000"/>
              </a:srgbClr>
            </a:outerShdw>
          </a:effectLst>
        </p:spPr>
      </p:sp>
      <p:sp>
        <p:nvSpPr>
          <p:cNvPr id="25" name="Shape 23"/>
          <p:cNvSpPr/>
          <p:nvPr/>
        </p:nvSpPr>
        <p:spPr>
          <a:xfrm>
            <a:off x="8311896" y="4270248"/>
            <a:ext cx="548640" cy="41148"/>
          </a:xfrm>
          <a:prstGeom prst="rect">
            <a:avLst/>
          </a:prstGeom>
          <a:solidFill>
            <a:srgbClr val="39D98A"/>
          </a:solidFill>
          <a:ln/>
        </p:spPr>
      </p:sp>
      <p:sp>
        <p:nvSpPr>
          <p:cNvPr id="26" name="Text 24"/>
          <p:cNvSpPr/>
          <p:nvPr/>
        </p:nvSpPr>
        <p:spPr>
          <a:xfrm>
            <a:off x="8311896" y="4434840"/>
            <a:ext cx="292608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Defiende la línea</a:t>
            </a:r>
            <a:endParaRPr lang="en-US" sz="1600" dirty="0"/>
          </a:p>
        </p:txBody>
      </p:sp>
      <p:sp>
        <p:nvSpPr>
          <p:cNvPr id="27" name="Text 25"/>
          <p:cNvSpPr/>
          <p:nvPr/>
        </p:nvSpPr>
        <p:spPr>
          <a:xfrm>
            <a:off x="8311896" y="4873752"/>
            <a:ext cx="2926080" cy="868680"/>
          </a:xfrm>
          <a:prstGeom prst="rect">
            <a:avLst/>
          </a:prstGeom>
          <a:noFill/>
          <a:ln/>
        </p:spPr>
        <p:txBody>
          <a:bodyPr wrap="square" lIns="0" tIns="0" rIns="0" bIns="0" rtlCol="0" anchor="t"/>
          <a:lstStyle/>
          <a:p>
            <a:pPr indent="0" marL="0">
              <a:buNone/>
            </a:pPr>
            <a:r>
              <a:rPr lang="en-US" sz="1150" dirty="0">
                <a:solidFill>
                  <a:srgbClr val="5B6470"/>
                </a:solidFill>
                <a:latin typeface="Calibri" pitchFamily="34" charset="0"/>
                <a:ea typeface="Calibri" pitchFamily="34" charset="-122"/>
                <a:cs typeface="Calibri" pitchFamily="34" charset="-120"/>
              </a:rPr>
              <a:t>El kit no compite con vender montacargas: le da a Montasa un argumento que el competidor no tiene.</a:t>
            </a:r>
            <a:endParaRPr lang="en-US" sz="1150" dirty="0"/>
          </a:p>
        </p:txBody>
      </p:sp>
      <p:sp>
        <p:nvSpPr>
          <p:cNvPr id="28" name="Text 26"/>
          <p:cNvSpPr/>
          <p:nvPr/>
        </p:nvSpPr>
        <p:spPr>
          <a:xfrm>
            <a:off x="594360" y="6263640"/>
            <a:ext cx="10972800" cy="41148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El último punto es el importante: si un competidor le vende al cliente un montacargas con kit y nosotros no, perdemos la máquina, no sólo el kit.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Lo que ya está hecho, sin gastar un dólar</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No pedimos dinero para empezar a pensar. Lo pedimos para construir.</a:t>
            </a:r>
            <a:endParaRPr lang="en-US" sz="1350" dirty="0"/>
          </a:p>
        </p:txBody>
      </p:sp>
      <p:pic>
        <p:nvPicPr>
          <p:cNvPr id="4" name="Image 0" descr="im_botoni.jpg">    </p:cNvPr>
          <p:cNvPicPr>
            <a:picLocks noChangeAspect="1"/>
          </p:cNvPicPr>
          <p:nvPr/>
        </p:nvPicPr>
        <p:blipFill>
          <a:blip r:embed="rId1"/>
          <a:srcRect l="0" r="0" t="0" b="0"/>
          <a:stretch/>
        </p:blipFill>
        <p:spPr>
          <a:xfrm>
            <a:off x="6309360" y="1783080"/>
            <a:ext cx="5257800" cy="2953512"/>
          </a:xfrm>
          <a:prstGeom prst="rect">
            <a:avLst/>
          </a:prstGeom>
          <a:effectLst>
            <a:outerShdw sx="100000" sy="100000" kx="0" ky="0" algn="bl" rotWithShape="0" blurRad="152400" dist="38100" dir="5400000">
              <a:srgbClr val="000000">
                <a:alpha val="28000"/>
              </a:srgbClr>
            </a:outerShdw>
          </a:effectLst>
        </p:spPr>
      </p:pic>
      <p:sp>
        <p:nvSpPr>
          <p:cNvPr id="5" name="Shape 2"/>
          <p:cNvSpPr/>
          <p:nvPr/>
        </p:nvSpPr>
        <p:spPr>
          <a:xfrm>
            <a:off x="594360" y="1856232"/>
            <a:ext cx="237744" cy="237744"/>
          </a:xfrm>
          <a:prstGeom prst="ellipse">
            <a:avLst/>
          </a:prstGeom>
          <a:solidFill>
            <a:srgbClr val="39D98A"/>
          </a:solidFill>
          <a:ln/>
        </p:spPr>
      </p:sp>
      <p:sp>
        <p:nvSpPr>
          <p:cNvPr id="6" name="Text 3"/>
          <p:cNvSpPr/>
          <p:nvPr/>
        </p:nvSpPr>
        <p:spPr>
          <a:xfrm>
            <a:off x="987552" y="1801368"/>
            <a:ext cx="5029200" cy="310896"/>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Almacén de un cliente real, medido</a:t>
            </a:r>
            <a:endParaRPr lang="en-US" sz="1350" dirty="0"/>
          </a:p>
        </p:txBody>
      </p:sp>
      <p:sp>
        <p:nvSpPr>
          <p:cNvPr id="7" name="Text 4"/>
          <p:cNvSpPr/>
          <p:nvPr/>
        </p:nvSpPr>
        <p:spPr>
          <a:xfrm>
            <a:off x="987552" y="2112264"/>
            <a:ext cx="5029200" cy="45720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El plano de RETHINK reconstruido en 3D: 2,138 ubicaciones, 29 filas de rack y 1,142 segmentos de muro.</a:t>
            </a:r>
            <a:endParaRPr lang="en-US" sz="1050" dirty="0"/>
          </a:p>
        </p:txBody>
      </p:sp>
      <p:sp>
        <p:nvSpPr>
          <p:cNvPr id="8" name="Shape 5"/>
          <p:cNvSpPr/>
          <p:nvPr/>
        </p:nvSpPr>
        <p:spPr>
          <a:xfrm>
            <a:off x="594360" y="2642616"/>
            <a:ext cx="237744" cy="237744"/>
          </a:xfrm>
          <a:prstGeom prst="ellipse">
            <a:avLst/>
          </a:prstGeom>
          <a:solidFill>
            <a:srgbClr val="39D98A"/>
          </a:solidFill>
          <a:ln/>
        </p:spPr>
      </p:sp>
      <p:sp>
        <p:nvSpPr>
          <p:cNvPr id="9" name="Text 6"/>
          <p:cNvSpPr/>
          <p:nvPr/>
        </p:nvSpPr>
        <p:spPr>
          <a:xfrm>
            <a:off x="987552" y="2587752"/>
            <a:ext cx="5029200" cy="310896"/>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BOM completo de 39 componentes</a:t>
            </a:r>
            <a:endParaRPr lang="en-US" sz="1350" dirty="0"/>
          </a:p>
        </p:txBody>
      </p:sp>
      <p:sp>
        <p:nvSpPr>
          <p:cNvPr id="10" name="Text 7"/>
          <p:cNvSpPr/>
          <p:nvPr/>
        </p:nvSpPr>
        <p:spPr>
          <a:xfrm>
            <a:off x="987552" y="2898648"/>
            <a:ext cx="5029200" cy="45720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Con modelo, proveedor, precio verificado y alternativa más barata para cada línea.</a:t>
            </a:r>
            <a:endParaRPr lang="en-US" sz="1050" dirty="0"/>
          </a:p>
        </p:txBody>
      </p:sp>
      <p:sp>
        <p:nvSpPr>
          <p:cNvPr id="11" name="Shape 8"/>
          <p:cNvSpPr/>
          <p:nvPr/>
        </p:nvSpPr>
        <p:spPr>
          <a:xfrm>
            <a:off x="594360" y="3429000"/>
            <a:ext cx="237744" cy="237744"/>
          </a:xfrm>
          <a:prstGeom prst="ellipse">
            <a:avLst/>
          </a:prstGeom>
          <a:solidFill>
            <a:srgbClr val="39D98A"/>
          </a:solidFill>
          <a:ln/>
        </p:spPr>
      </p:sp>
      <p:sp>
        <p:nvSpPr>
          <p:cNvPr id="12" name="Text 9"/>
          <p:cNvSpPr/>
          <p:nvPr/>
        </p:nvSpPr>
        <p:spPr>
          <a:xfrm>
            <a:off x="987552" y="3374136"/>
            <a:ext cx="5029200" cy="310896"/>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Simulador navegable</a:t>
            </a:r>
            <a:endParaRPr lang="en-US" sz="1350" dirty="0"/>
          </a:p>
        </p:txBody>
      </p:sp>
      <p:sp>
        <p:nvSpPr>
          <p:cNvPr id="13" name="Text 10"/>
          <p:cNvSpPr/>
          <p:nvPr/>
        </p:nvSpPr>
        <p:spPr>
          <a:xfrm>
            <a:off x="987552" y="3685032"/>
            <a:ext cx="5029200" cy="45720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El almacén del cliente, manejable con un Baoli a cotas de fábrica. Ya está en línea y funcionando.</a:t>
            </a:r>
            <a:endParaRPr lang="en-US" sz="1050" dirty="0"/>
          </a:p>
        </p:txBody>
      </p:sp>
      <p:sp>
        <p:nvSpPr>
          <p:cNvPr id="14" name="Shape 11"/>
          <p:cNvSpPr/>
          <p:nvPr/>
        </p:nvSpPr>
        <p:spPr>
          <a:xfrm>
            <a:off x="594360" y="4215384"/>
            <a:ext cx="237744" cy="237744"/>
          </a:xfrm>
          <a:prstGeom prst="ellipse">
            <a:avLst/>
          </a:prstGeom>
          <a:solidFill>
            <a:srgbClr val="39D98A"/>
          </a:solidFill>
          <a:ln/>
        </p:spPr>
      </p:sp>
      <p:sp>
        <p:nvSpPr>
          <p:cNvPr id="15" name="Text 12"/>
          <p:cNvSpPr/>
          <p:nvPr/>
        </p:nvSpPr>
        <p:spPr>
          <a:xfrm>
            <a:off x="987552" y="4160520"/>
            <a:ext cx="5029200" cy="310896"/>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Banco de pruebas de sensores</a:t>
            </a:r>
            <a:endParaRPr lang="en-US" sz="1350" dirty="0"/>
          </a:p>
        </p:txBody>
      </p:sp>
      <p:sp>
        <p:nvSpPr>
          <p:cNvPr id="16" name="Text 13"/>
          <p:cNvSpPr/>
          <p:nvPr/>
        </p:nvSpPr>
        <p:spPr>
          <a:xfrm>
            <a:off x="987552" y="4471416"/>
            <a:ext cx="5029200" cy="45720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La bodega exportada a Isaac Sim y el análisis que dice qué LiDAR hace falta antes de comprarlo.</a:t>
            </a:r>
            <a:endParaRPr lang="en-US" sz="1050" dirty="0"/>
          </a:p>
        </p:txBody>
      </p:sp>
      <p:sp>
        <p:nvSpPr>
          <p:cNvPr id="17" name="Shape 14"/>
          <p:cNvSpPr/>
          <p:nvPr/>
        </p:nvSpPr>
        <p:spPr>
          <a:xfrm>
            <a:off x="594360" y="5120640"/>
            <a:ext cx="10972800" cy="1188720"/>
          </a:xfrm>
          <a:prstGeom prst="roundRect">
            <a:avLst>
              <a:gd name="adj" fmla="val 6923"/>
            </a:avLst>
          </a:prstGeom>
          <a:solidFill>
            <a:srgbClr val="1A1D23"/>
          </a:solidFill>
          <a:ln/>
          <a:effectLst>
            <a:outerShdw sx="100000" sy="100000" kx="0" ky="0" algn="bl" rotWithShape="0" blurRad="152400" dist="38100" dir="5400000">
              <a:srgbClr val="000000">
                <a:alpha val="28000"/>
              </a:srgbClr>
            </a:outerShdw>
          </a:effectLst>
        </p:spPr>
      </p:sp>
      <p:sp>
        <p:nvSpPr>
          <p:cNvPr id="18" name="Text 15"/>
          <p:cNvSpPr/>
          <p:nvPr/>
        </p:nvSpPr>
        <p:spPr>
          <a:xfrm>
            <a:off x="960120" y="5120640"/>
            <a:ext cx="10241280" cy="1188720"/>
          </a:xfrm>
          <a:prstGeom prst="rect">
            <a:avLst/>
          </a:prstGeom>
          <a:noFill/>
          <a:ln/>
        </p:spPr>
        <p:txBody>
          <a:bodyPr wrap="square" lIns="0" tIns="0" rIns="0" bIns="0" rtlCol="0" anchor="ctr"/>
          <a:lstStyle/>
          <a:p>
            <a:pPr indent="0" marL="0">
              <a:buNone/>
            </a:pPr>
            <a:r>
              <a:rPr lang="en-US" sz="1300" b="1" dirty="0">
                <a:solidFill>
                  <a:srgbClr val="F5C518"/>
                </a:solidFill>
                <a:latin typeface="Calibri" pitchFamily="34" charset="0"/>
                <a:ea typeface="Calibri" pitchFamily="34" charset="-122"/>
                <a:cs typeface="Calibri" pitchFamily="34" charset="-120"/>
              </a:rPr>
              <a:t>El simulador ya encontró dos errores de circulación en el layout del cliente que no se ven mirando el plano. Esa herramienta queda como activo de Montasa para cualquier cliente que siga.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Tres fases, no tres calidades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La misma máquina y el mismo software. Lo que cambia es qué pregunta contesta cada una.</a:t>
            </a:r>
            <a:endParaRPr lang="en-US" sz="1350" dirty="0"/>
          </a:p>
        </p:txBody>
      </p:sp>
      <p:sp>
        <p:nvSpPr>
          <p:cNvPr id="4" name="Shape 2"/>
          <p:cNvSpPr/>
          <p:nvPr/>
        </p:nvSpPr>
        <p:spPr>
          <a:xfrm>
            <a:off x="594360" y="1783080"/>
            <a:ext cx="3493008" cy="4160520"/>
          </a:xfrm>
          <a:prstGeom prst="roundRect">
            <a:avLst>
              <a:gd name="adj" fmla="val 2356"/>
            </a:avLst>
          </a:prstGeom>
          <a:solidFill>
            <a:srgbClr val="20242B"/>
          </a:solidFill>
          <a:ln/>
          <a:effectLst>
            <a:outerShdw sx="100000" sy="100000" kx="0" ky="0" algn="bl" rotWithShape="0" blurRad="152400" dist="38100" dir="5400000">
              <a:srgbClr val="000000">
                <a:alpha val="28000"/>
              </a:srgbClr>
            </a:outerShdw>
          </a:effectLst>
        </p:spPr>
      </p:sp>
      <p:sp>
        <p:nvSpPr>
          <p:cNvPr id="5" name="Shape 3"/>
          <p:cNvSpPr/>
          <p:nvPr/>
        </p:nvSpPr>
        <p:spPr>
          <a:xfrm>
            <a:off x="886968" y="2029968"/>
            <a:ext cx="566928" cy="41148"/>
          </a:xfrm>
          <a:prstGeom prst="rect">
            <a:avLst/>
          </a:prstGeom>
          <a:solidFill>
            <a:srgbClr val="37C3FF"/>
          </a:solidFill>
          <a:ln/>
        </p:spPr>
      </p:sp>
      <p:sp>
        <p:nvSpPr>
          <p:cNvPr id="6" name="Text 4"/>
          <p:cNvSpPr/>
          <p:nvPr/>
        </p:nvSpPr>
        <p:spPr>
          <a:xfrm>
            <a:off x="886968" y="2194560"/>
            <a:ext cx="2926080" cy="384048"/>
          </a:xfrm>
          <a:prstGeom prst="rect">
            <a:avLst/>
          </a:prstGeom>
          <a:noFill/>
          <a:ln/>
        </p:spPr>
        <p:txBody>
          <a:bodyPr wrap="square" lIns="0" tIns="0" rIns="0" bIns="0" rtlCol="0" anchor="ctr"/>
          <a:lstStyle/>
          <a:p>
            <a:pPr indent="0" marL="0">
              <a:buNone/>
            </a:pPr>
            <a:r>
              <a:rPr lang="en-US" sz="1900" b="1" dirty="0">
                <a:solidFill>
                  <a:srgbClr val="37C3FF"/>
                </a:solidFill>
                <a:latin typeface="Cambria" pitchFamily="34" charset="0"/>
                <a:ea typeface="Cambria" pitchFamily="34" charset="-122"/>
                <a:cs typeface="Cambria" pitchFamily="34" charset="-120"/>
              </a:rPr>
              <a:t>Validación</a:t>
            </a:r>
            <a:endParaRPr lang="en-US" sz="1900" dirty="0"/>
          </a:p>
        </p:txBody>
      </p:sp>
      <p:sp>
        <p:nvSpPr>
          <p:cNvPr id="7" name="Text 5"/>
          <p:cNvSpPr/>
          <p:nvPr/>
        </p:nvSpPr>
        <p:spPr>
          <a:xfrm>
            <a:off x="886968" y="2615184"/>
            <a:ext cx="2926080" cy="548640"/>
          </a:xfrm>
          <a:prstGeom prst="rect">
            <a:avLst/>
          </a:prstGeom>
          <a:noFill/>
          <a:ln/>
        </p:spPr>
        <p:txBody>
          <a:bodyPr wrap="square" lIns="0" tIns="0" rIns="0" bIns="0" rtlCol="0" anchor="ctr"/>
          <a:lstStyle/>
          <a:p>
            <a:pPr indent="0" marL="0">
              <a:buNone/>
            </a:pPr>
            <a:r>
              <a:rPr lang="en-US" sz="3000" b="1" dirty="0">
                <a:solidFill>
                  <a:srgbClr val="ECEBE6"/>
                </a:solidFill>
                <a:latin typeface="Cambria" pitchFamily="34" charset="0"/>
                <a:ea typeface="Cambria" pitchFamily="34" charset="-122"/>
                <a:cs typeface="Cambria" pitchFamily="34" charset="-120"/>
              </a:rPr>
              <a:t>$3,000</a:t>
            </a:r>
            <a:endParaRPr lang="en-US" sz="3000" dirty="0"/>
          </a:p>
        </p:txBody>
      </p:sp>
      <p:sp>
        <p:nvSpPr>
          <p:cNvPr id="8" name="Text 6"/>
          <p:cNvSpPr/>
          <p:nvPr/>
        </p:nvSpPr>
        <p:spPr>
          <a:xfrm>
            <a:off x="886968" y="3200400"/>
            <a:ext cx="2926080" cy="292608"/>
          </a:xfrm>
          <a:prstGeom prst="rect">
            <a:avLst/>
          </a:prstGeom>
          <a:noFill/>
          <a:ln/>
        </p:spPr>
        <p:txBody>
          <a:bodyPr wrap="square" lIns="0" tIns="0" rIns="0" bIns="0" rtlCol="0" anchor="ctr"/>
          <a:lstStyle/>
          <a:p>
            <a:pPr indent="0" marL="0">
              <a:buNone/>
            </a:pPr>
            <a:r>
              <a:rPr lang="en-US" sz="1100" b="1" dirty="0">
                <a:solidFill>
                  <a:srgbClr val="8B949E"/>
                </a:solidFill>
                <a:latin typeface="Calibri" pitchFamily="34" charset="0"/>
                <a:ea typeface="Calibri" pitchFamily="34" charset="-122"/>
                <a:cs typeface="Calibri" pitchFamily="34" charset="-120"/>
              </a:rPr>
              <a:t>Probar que la idea funciona</a:t>
            </a:r>
            <a:endParaRPr lang="en-US" sz="1100" dirty="0"/>
          </a:p>
        </p:txBody>
      </p:sp>
      <p:sp>
        <p:nvSpPr>
          <p:cNvPr id="9" name="Text 7"/>
          <p:cNvSpPr/>
          <p:nvPr/>
        </p:nvSpPr>
        <p:spPr>
          <a:xfrm>
            <a:off x="886968" y="3611880"/>
            <a:ext cx="2926080" cy="13716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LiDAR 3D Livox Mid-360 de verdad</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Jetson Orin Nano · cómputo real</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Cámara de mástil para inventario</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Teleoperado, sin actuación</a:t>
            </a:r>
            <a:endParaRPr lang="en-US" sz="1050" dirty="0"/>
          </a:p>
        </p:txBody>
      </p:sp>
      <p:sp>
        <p:nvSpPr>
          <p:cNvPr id="10" name="Text 8"/>
          <p:cNvSpPr/>
          <p:nvPr/>
        </p:nvSpPr>
        <p:spPr>
          <a:xfrm>
            <a:off x="886968" y="5120640"/>
            <a:ext cx="2926080" cy="685800"/>
          </a:xfrm>
          <a:prstGeom prst="rect">
            <a:avLst/>
          </a:prstGeom>
          <a:noFill/>
          <a:ln/>
        </p:spPr>
        <p:txBody>
          <a:bodyPr wrap="square" lIns="0" tIns="0" rIns="0" bIns="0" rtlCol="0" anchor="t"/>
          <a:lstStyle/>
          <a:p>
            <a:pPr indent="0" marL="0">
              <a:buNone/>
            </a:pPr>
            <a:r>
              <a:rPr lang="en-US" sz="1000" i="1" dirty="0">
                <a:solidFill>
                  <a:srgbClr val="8B949E"/>
                </a:solidFill>
                <a:latin typeface="Calibri" pitchFamily="34" charset="0"/>
                <a:ea typeface="Calibri" pitchFamily="34" charset="-122"/>
                <a:cs typeface="Calibri" pitchFamily="34" charset="-120"/>
              </a:rPr>
              <a:t>No aguanta un año de vibración. No hace falta: su trabajo es contestar una pregunta.</a:t>
            </a:r>
            <a:endParaRPr lang="en-US" sz="1000" dirty="0"/>
          </a:p>
        </p:txBody>
      </p:sp>
      <p:sp>
        <p:nvSpPr>
          <p:cNvPr id="11" name="Shape 9"/>
          <p:cNvSpPr/>
          <p:nvPr/>
        </p:nvSpPr>
        <p:spPr>
          <a:xfrm>
            <a:off x="4306824" y="1783080"/>
            <a:ext cx="3493008" cy="4160520"/>
          </a:xfrm>
          <a:prstGeom prst="roundRect">
            <a:avLst>
              <a:gd name="adj" fmla="val 2356"/>
            </a:avLst>
          </a:prstGeom>
          <a:solidFill>
            <a:srgbClr val="20242B"/>
          </a:solidFill>
          <a:ln/>
          <a:effectLst>
            <a:outerShdw sx="100000" sy="100000" kx="0" ky="0" algn="bl" rotWithShape="0" blurRad="152400" dist="38100" dir="5400000">
              <a:srgbClr val="000000">
                <a:alpha val="28000"/>
              </a:srgbClr>
            </a:outerShdw>
          </a:effectLst>
        </p:spPr>
      </p:sp>
      <p:sp>
        <p:nvSpPr>
          <p:cNvPr id="12" name="Shape 10"/>
          <p:cNvSpPr/>
          <p:nvPr/>
        </p:nvSpPr>
        <p:spPr>
          <a:xfrm>
            <a:off x="4599432" y="2029968"/>
            <a:ext cx="566928" cy="41148"/>
          </a:xfrm>
          <a:prstGeom prst="rect">
            <a:avLst/>
          </a:prstGeom>
          <a:solidFill>
            <a:srgbClr val="F5C518"/>
          </a:solidFill>
          <a:ln/>
        </p:spPr>
      </p:sp>
      <p:sp>
        <p:nvSpPr>
          <p:cNvPr id="13" name="Text 11"/>
          <p:cNvSpPr/>
          <p:nvPr/>
        </p:nvSpPr>
        <p:spPr>
          <a:xfrm>
            <a:off x="4599432" y="2194560"/>
            <a:ext cx="2926080" cy="384048"/>
          </a:xfrm>
          <a:prstGeom prst="rect">
            <a:avLst/>
          </a:prstGeom>
          <a:noFill/>
          <a:ln/>
        </p:spPr>
        <p:txBody>
          <a:bodyPr wrap="square" lIns="0" tIns="0" rIns="0" bIns="0" rtlCol="0" anchor="ctr"/>
          <a:lstStyle/>
          <a:p>
            <a:pPr indent="0" marL="0">
              <a:buNone/>
            </a:pPr>
            <a:r>
              <a:rPr lang="en-US" sz="1900" b="1" dirty="0">
                <a:solidFill>
                  <a:srgbClr val="F5C518"/>
                </a:solidFill>
                <a:latin typeface="Cambria" pitchFamily="34" charset="0"/>
                <a:ea typeface="Cambria" pitchFamily="34" charset="-122"/>
                <a:cs typeface="Cambria" pitchFamily="34" charset="-120"/>
              </a:rPr>
              <a:t>Producto</a:t>
            </a:r>
            <a:endParaRPr lang="en-US" sz="1900" dirty="0"/>
          </a:p>
        </p:txBody>
      </p:sp>
      <p:sp>
        <p:nvSpPr>
          <p:cNvPr id="14" name="Text 12"/>
          <p:cNvSpPr/>
          <p:nvPr/>
        </p:nvSpPr>
        <p:spPr>
          <a:xfrm>
            <a:off x="4599432" y="2615184"/>
            <a:ext cx="2926080" cy="548640"/>
          </a:xfrm>
          <a:prstGeom prst="rect">
            <a:avLst/>
          </a:prstGeom>
          <a:noFill/>
          <a:ln/>
        </p:spPr>
        <p:txBody>
          <a:bodyPr wrap="square" lIns="0" tIns="0" rIns="0" bIns="0" rtlCol="0" anchor="ctr"/>
          <a:lstStyle/>
          <a:p>
            <a:pPr indent="0" marL="0">
              <a:buNone/>
            </a:pPr>
            <a:r>
              <a:rPr lang="en-US" sz="3000" b="1" dirty="0">
                <a:solidFill>
                  <a:srgbClr val="ECEBE6"/>
                </a:solidFill>
                <a:latin typeface="Cambria" pitchFamily="34" charset="0"/>
                <a:ea typeface="Cambria" pitchFamily="34" charset="-122"/>
                <a:cs typeface="Cambria" pitchFamily="34" charset="-120"/>
              </a:rPr>
              <a:t>$10,000</a:t>
            </a:r>
            <a:endParaRPr lang="en-US" sz="3000" dirty="0"/>
          </a:p>
        </p:txBody>
      </p:sp>
      <p:sp>
        <p:nvSpPr>
          <p:cNvPr id="15" name="Text 13"/>
          <p:cNvSpPr/>
          <p:nvPr/>
        </p:nvSpPr>
        <p:spPr>
          <a:xfrm>
            <a:off x="4599432" y="3200400"/>
            <a:ext cx="2926080" cy="292608"/>
          </a:xfrm>
          <a:prstGeom prst="rect">
            <a:avLst/>
          </a:prstGeom>
          <a:noFill/>
          <a:ln/>
        </p:spPr>
        <p:txBody>
          <a:bodyPr wrap="square" lIns="0" tIns="0" rIns="0" bIns="0" rtlCol="0" anchor="ctr"/>
          <a:lstStyle/>
          <a:p>
            <a:pPr indent="0" marL="0">
              <a:buNone/>
            </a:pPr>
            <a:r>
              <a:rPr lang="en-US" sz="1100" b="1" dirty="0">
                <a:solidFill>
                  <a:srgbClr val="8B949E"/>
                </a:solidFill>
                <a:latin typeface="Calibri" pitchFamily="34" charset="0"/>
                <a:ea typeface="Calibri" pitchFamily="34" charset="-122"/>
                <a:cs typeface="Calibri" pitchFamily="34" charset="-120"/>
              </a:rPr>
              <a:t>El kit que se le vende al cliente</a:t>
            </a:r>
            <a:endParaRPr lang="en-US" sz="1100" dirty="0"/>
          </a:p>
        </p:txBody>
      </p:sp>
      <p:sp>
        <p:nvSpPr>
          <p:cNvPr id="16" name="Text 14"/>
          <p:cNvSpPr/>
          <p:nvPr/>
        </p:nvSpPr>
        <p:spPr>
          <a:xfrm>
            <a:off x="4599432" y="3611880"/>
            <a:ext cx="2926080" cy="13716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Grado industrial y sellado IP</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Jetson Orin NX · carrier -40/+85</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Cámara Basler de mástil</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Es el nivel 1 Watch, ya vendible</a:t>
            </a:r>
            <a:endParaRPr lang="en-US" sz="1050" dirty="0"/>
          </a:p>
        </p:txBody>
      </p:sp>
      <p:sp>
        <p:nvSpPr>
          <p:cNvPr id="17" name="Text 15"/>
          <p:cNvSpPr/>
          <p:nvPr/>
        </p:nvSpPr>
        <p:spPr>
          <a:xfrm>
            <a:off x="4599432" y="5120640"/>
            <a:ext cx="2926080" cy="685800"/>
          </a:xfrm>
          <a:prstGeom prst="rect">
            <a:avLst/>
          </a:prstGeom>
          <a:noFill/>
          <a:ln/>
        </p:spPr>
        <p:txBody>
          <a:bodyPr wrap="square" lIns="0" tIns="0" rIns="0" bIns="0" rtlCol="0" anchor="t"/>
          <a:lstStyle/>
          <a:p>
            <a:pPr indent="0" marL="0">
              <a:buNone/>
            </a:pPr>
            <a:r>
              <a:rPr lang="en-US" sz="1000" i="1" dirty="0">
                <a:solidFill>
                  <a:srgbClr val="8B949E"/>
                </a:solidFill>
                <a:latin typeface="Calibri" pitchFamily="34" charset="0"/>
                <a:ea typeface="Calibri" pitchFamily="34" charset="-122"/>
                <a:cs typeface="Calibri" pitchFamily="34" charset="-120"/>
              </a:rPr>
              <a:t>Aguanta la operación diaria. No se maneja solo todavía.</a:t>
            </a:r>
            <a:endParaRPr lang="en-US" sz="1000" dirty="0"/>
          </a:p>
        </p:txBody>
      </p:sp>
      <p:sp>
        <p:nvSpPr>
          <p:cNvPr id="18" name="Shape 16"/>
          <p:cNvSpPr/>
          <p:nvPr/>
        </p:nvSpPr>
        <p:spPr>
          <a:xfrm>
            <a:off x="8019288" y="1783080"/>
            <a:ext cx="3493008" cy="4160520"/>
          </a:xfrm>
          <a:prstGeom prst="roundRect">
            <a:avLst>
              <a:gd name="adj" fmla="val 2356"/>
            </a:avLst>
          </a:prstGeom>
          <a:solidFill>
            <a:srgbClr val="20242B"/>
          </a:solidFill>
          <a:ln/>
          <a:effectLst>
            <a:outerShdw sx="100000" sy="100000" kx="0" ky="0" algn="bl" rotWithShape="0" blurRad="152400" dist="38100" dir="5400000">
              <a:srgbClr val="000000">
                <a:alpha val="28000"/>
              </a:srgbClr>
            </a:outerShdw>
          </a:effectLst>
        </p:spPr>
      </p:sp>
      <p:sp>
        <p:nvSpPr>
          <p:cNvPr id="19" name="Shape 17"/>
          <p:cNvSpPr/>
          <p:nvPr/>
        </p:nvSpPr>
        <p:spPr>
          <a:xfrm>
            <a:off x="8311896" y="2029968"/>
            <a:ext cx="566928" cy="41148"/>
          </a:xfrm>
          <a:prstGeom prst="rect">
            <a:avLst/>
          </a:prstGeom>
          <a:solidFill>
            <a:srgbClr val="39D98A"/>
          </a:solidFill>
          <a:ln/>
        </p:spPr>
      </p:sp>
      <p:sp>
        <p:nvSpPr>
          <p:cNvPr id="20" name="Text 18"/>
          <p:cNvSpPr/>
          <p:nvPr/>
        </p:nvSpPr>
        <p:spPr>
          <a:xfrm>
            <a:off x="8311896" y="2194560"/>
            <a:ext cx="2926080" cy="384048"/>
          </a:xfrm>
          <a:prstGeom prst="rect">
            <a:avLst/>
          </a:prstGeom>
          <a:noFill/>
          <a:ln/>
        </p:spPr>
        <p:txBody>
          <a:bodyPr wrap="square" lIns="0" tIns="0" rIns="0" bIns="0" rtlCol="0" anchor="ctr"/>
          <a:lstStyle/>
          <a:p>
            <a:pPr indent="0" marL="0">
              <a:buNone/>
            </a:pPr>
            <a:r>
              <a:rPr lang="en-US" sz="1900" b="1" dirty="0">
                <a:solidFill>
                  <a:srgbClr val="39D98A"/>
                </a:solidFill>
                <a:latin typeface="Cambria" pitchFamily="34" charset="0"/>
                <a:ea typeface="Cambria" pitchFamily="34" charset="-122"/>
                <a:cs typeface="Cambria" pitchFamily="34" charset="-120"/>
              </a:rPr>
              <a:t>Certificado</a:t>
            </a:r>
            <a:endParaRPr lang="en-US" sz="1900" dirty="0"/>
          </a:p>
        </p:txBody>
      </p:sp>
      <p:sp>
        <p:nvSpPr>
          <p:cNvPr id="21" name="Text 19"/>
          <p:cNvSpPr/>
          <p:nvPr/>
        </p:nvSpPr>
        <p:spPr>
          <a:xfrm>
            <a:off x="8311896" y="2615184"/>
            <a:ext cx="2926080" cy="548640"/>
          </a:xfrm>
          <a:prstGeom prst="rect">
            <a:avLst/>
          </a:prstGeom>
          <a:noFill/>
          <a:ln/>
        </p:spPr>
        <p:txBody>
          <a:bodyPr wrap="square" lIns="0" tIns="0" rIns="0" bIns="0" rtlCol="0" anchor="ctr"/>
          <a:lstStyle/>
          <a:p>
            <a:pPr indent="0" marL="0">
              <a:buNone/>
            </a:pPr>
            <a:r>
              <a:rPr lang="en-US" sz="3000" b="1" dirty="0">
                <a:solidFill>
                  <a:srgbClr val="ECEBE6"/>
                </a:solidFill>
                <a:latin typeface="Cambria" pitchFamily="34" charset="0"/>
                <a:ea typeface="Cambria" pitchFamily="34" charset="-122"/>
                <a:cs typeface="Cambria" pitchFamily="34" charset="-120"/>
              </a:rPr>
              <a:t>$25,000</a:t>
            </a:r>
            <a:endParaRPr lang="en-US" sz="3000" dirty="0"/>
          </a:p>
        </p:txBody>
      </p:sp>
      <p:sp>
        <p:nvSpPr>
          <p:cNvPr id="22" name="Text 20"/>
          <p:cNvSpPr/>
          <p:nvPr/>
        </p:nvSpPr>
        <p:spPr>
          <a:xfrm>
            <a:off x="8311896" y="3200400"/>
            <a:ext cx="2926080" cy="292608"/>
          </a:xfrm>
          <a:prstGeom prst="rect">
            <a:avLst/>
          </a:prstGeom>
          <a:noFill/>
          <a:ln/>
        </p:spPr>
        <p:txBody>
          <a:bodyPr wrap="square" lIns="0" tIns="0" rIns="0" bIns="0" rtlCol="0" anchor="ctr"/>
          <a:lstStyle/>
          <a:p>
            <a:pPr indent="0" marL="0">
              <a:buNone/>
            </a:pPr>
            <a:r>
              <a:rPr lang="en-US" sz="1100" b="1" dirty="0">
                <a:solidFill>
                  <a:srgbClr val="8B949E"/>
                </a:solidFill>
                <a:latin typeface="Calibri" pitchFamily="34" charset="0"/>
                <a:ea typeface="Calibri" pitchFamily="34" charset="-122"/>
                <a:cs typeface="Calibri" pitchFamily="34" charset="-120"/>
              </a:rPr>
              <a:t>Autonomía completa certificable</a:t>
            </a:r>
            <a:endParaRPr lang="en-US" sz="1100" dirty="0"/>
          </a:p>
        </p:txBody>
      </p:sp>
      <p:sp>
        <p:nvSpPr>
          <p:cNvPr id="23" name="Text 21"/>
          <p:cNvSpPr/>
          <p:nvPr/>
        </p:nvSpPr>
        <p:spPr>
          <a:xfrm>
            <a:off x="8311896" y="3611880"/>
            <a:ext cx="2926080" cy="13716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Todo lo del Producto</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Actuación: dirección, freno, hidráulica</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Escáneres SICK PL d certificados</a:t>
            </a:r>
            <a:endParaRPr lang="en-US" sz="1050" dirty="0"/>
          </a:p>
          <a:p>
            <a:pPr marL="342900" indent="-342900">
              <a:spcAft>
                <a:spcPts val="500"/>
              </a:spcAft>
              <a:buSzPct val="100000"/>
              <a:buChar char="•"/>
            </a:pPr>
            <a:r>
              <a:rPr lang="en-US" sz="1050" dirty="0">
                <a:solidFill>
                  <a:srgbClr val="ECEBE6"/>
                </a:solidFill>
                <a:latin typeface="Calibri" pitchFamily="34" charset="0"/>
                <a:ea typeface="Calibri" pitchFamily="34" charset="-122"/>
                <a:cs typeface="Calibri" pitchFamily="34" charset="-120"/>
              </a:rPr>
              <a:t>Opera sin nadie arriba</a:t>
            </a:r>
            <a:endParaRPr lang="en-US" sz="1050" dirty="0"/>
          </a:p>
        </p:txBody>
      </p:sp>
      <p:sp>
        <p:nvSpPr>
          <p:cNvPr id="24" name="Text 22"/>
          <p:cNvSpPr/>
          <p:nvPr/>
        </p:nvSpPr>
        <p:spPr>
          <a:xfrm>
            <a:off x="8311896" y="5120640"/>
            <a:ext cx="2926080" cy="685800"/>
          </a:xfrm>
          <a:prstGeom prst="rect">
            <a:avLst/>
          </a:prstGeom>
          <a:noFill/>
          <a:ln/>
        </p:spPr>
        <p:txBody>
          <a:bodyPr wrap="square" lIns="0" tIns="0" rIns="0" bIns="0" rtlCol="0" anchor="t"/>
          <a:lstStyle/>
          <a:p>
            <a:pPr indent="0" marL="0">
              <a:buNone/>
            </a:pPr>
            <a:r>
              <a:rPr lang="en-US" sz="1000" i="1" dirty="0">
                <a:solidFill>
                  <a:srgbClr val="8B949E"/>
                </a:solidFill>
                <a:latin typeface="Calibri" pitchFamily="34" charset="0"/>
                <a:ea typeface="Calibri" pitchFamily="34" charset="-122"/>
                <a:cs typeface="Calibri" pitchFamily="34" charset="-120"/>
              </a:rPr>
              <a:t>El producto terminado. El 40% del costo es la capa de seguridad.</a:t>
            </a:r>
            <a:endParaRPr lang="en-US" sz="1000" dirty="0"/>
          </a:p>
        </p:txBody>
      </p:sp>
      <p:sp>
        <p:nvSpPr>
          <p:cNvPr id="25" name="Shape 23"/>
          <p:cNvSpPr/>
          <p:nvPr/>
        </p:nvSpPr>
        <p:spPr>
          <a:xfrm>
            <a:off x="594360" y="6035040"/>
            <a:ext cx="10972800" cy="685800"/>
          </a:xfrm>
          <a:prstGeom prst="roundRect">
            <a:avLst>
              <a:gd name="adj" fmla="val 12000"/>
            </a:avLst>
          </a:prstGeom>
          <a:solidFill>
            <a:srgbClr val="20242B"/>
          </a:solidFill>
          <a:ln/>
          <a:effectLst>
            <a:outerShdw sx="100000" sy="100000" kx="0" ky="0" algn="bl" rotWithShape="0" blurRad="152400" dist="38100" dir="5400000">
              <a:srgbClr val="000000">
                <a:alpha val="28000"/>
              </a:srgbClr>
            </a:outerShdw>
          </a:effectLst>
        </p:spPr>
      </p:sp>
      <p:sp>
        <p:nvSpPr>
          <p:cNvPr id="26" name="Text 24"/>
          <p:cNvSpPr/>
          <p:nvPr/>
        </p:nvSpPr>
        <p:spPr>
          <a:xfrm>
            <a:off x="960120" y="6035040"/>
            <a:ext cx="10241280" cy="685800"/>
          </a:xfrm>
          <a:prstGeom prst="rect">
            <a:avLst/>
          </a:prstGeom>
          <a:noFill/>
          <a:ln/>
        </p:spPr>
        <p:txBody>
          <a:bodyPr wrap="square" lIns="0" tIns="0" rIns="0" bIns="0" rtlCol="0" anchor="ctr"/>
          <a:lstStyle/>
          <a:p>
            <a:pPr indent="0" marL="0">
              <a:buNone/>
            </a:pPr>
            <a:r>
              <a:rPr lang="en-US" sz="1300" b="1" dirty="0">
                <a:solidFill>
                  <a:srgbClr val="F5C518"/>
                </a:solidFill>
                <a:latin typeface="Calibri" pitchFamily="34" charset="0"/>
                <a:ea typeface="Calibri" pitchFamily="34" charset="-122"/>
                <a:cs typeface="Calibri" pitchFamily="34" charset="-120"/>
              </a:rPr>
              <a:t>Los tres llevan LiDAR 3D. Sin él no se prueba nada, y es la parte que no se puede fingir.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Tres formas de mover un maxicubo</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3 montacargas · 2 turnos · operador certificado cargado a $10,309 al año</a:t>
            </a:r>
            <a:endParaRPr lang="en-US" sz="1350" dirty="0"/>
          </a:p>
        </p:txBody>
      </p:sp>
      <p:sp>
        <p:nvSpPr>
          <p:cNvPr id="4" name="Shape 2"/>
          <p:cNvSpPr/>
          <p:nvPr/>
        </p:nvSpPr>
        <p:spPr>
          <a:xfrm>
            <a:off x="594360" y="1828800"/>
            <a:ext cx="10972800" cy="402336"/>
          </a:xfrm>
          <a:prstGeom prst="rect">
            <a:avLst/>
          </a:prstGeom>
          <a:solidFill>
            <a:srgbClr val="E7E9EC"/>
          </a:solidFill>
          <a:ln w="7620">
            <a:solidFill>
              <a:srgbClr val="D8DADE"/>
            </a:solidFill>
            <a:prstDash val="solid"/>
          </a:ln>
        </p:spPr>
      </p:sp>
      <p:sp>
        <p:nvSpPr>
          <p:cNvPr id="5" name="Text 3"/>
          <p:cNvSpPr/>
          <p:nvPr/>
        </p:nvSpPr>
        <p:spPr>
          <a:xfrm>
            <a:off x="722376" y="1828800"/>
            <a:ext cx="2487168" cy="402336"/>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OPCIÓN</a:t>
            </a:r>
            <a:endParaRPr lang="en-US" sz="1000" dirty="0"/>
          </a:p>
        </p:txBody>
      </p:sp>
      <p:sp>
        <p:nvSpPr>
          <p:cNvPr id="6" name="Text 4"/>
          <p:cNvSpPr/>
          <p:nvPr/>
        </p:nvSpPr>
        <p:spPr>
          <a:xfrm>
            <a:off x="3465576" y="1828800"/>
            <a:ext cx="1481328" cy="402336"/>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INVERSIÓN</a:t>
            </a:r>
            <a:endParaRPr lang="en-US" sz="1000" dirty="0"/>
          </a:p>
        </p:txBody>
      </p:sp>
      <p:sp>
        <p:nvSpPr>
          <p:cNvPr id="7" name="Text 5"/>
          <p:cNvSpPr/>
          <p:nvPr/>
        </p:nvSpPr>
        <p:spPr>
          <a:xfrm>
            <a:off x="5202936" y="1828800"/>
            <a:ext cx="1481328" cy="402336"/>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COSTO ANUAL</a:t>
            </a:r>
            <a:endParaRPr lang="en-US" sz="1000" dirty="0"/>
          </a:p>
        </p:txBody>
      </p:sp>
      <p:sp>
        <p:nvSpPr>
          <p:cNvPr id="8" name="Text 6"/>
          <p:cNvSpPr/>
          <p:nvPr/>
        </p:nvSpPr>
        <p:spPr>
          <a:xfrm>
            <a:off x="6940296" y="1828800"/>
            <a:ext cx="1481328" cy="402336"/>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A 3 AÑOS</a:t>
            </a:r>
            <a:endParaRPr lang="en-US" sz="1000" dirty="0"/>
          </a:p>
        </p:txBody>
      </p:sp>
      <p:sp>
        <p:nvSpPr>
          <p:cNvPr id="9" name="Text 7"/>
          <p:cNvSpPr/>
          <p:nvPr/>
        </p:nvSpPr>
        <p:spPr>
          <a:xfrm>
            <a:off x="8677656" y="1828800"/>
            <a:ext cx="2761488" cy="402336"/>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QUÉ IMPLICA</a:t>
            </a:r>
            <a:endParaRPr lang="en-US" sz="1000" dirty="0"/>
          </a:p>
        </p:txBody>
      </p:sp>
      <p:sp>
        <p:nvSpPr>
          <p:cNvPr id="10" name="Shape 8"/>
          <p:cNvSpPr/>
          <p:nvPr/>
        </p:nvSpPr>
        <p:spPr>
          <a:xfrm>
            <a:off x="594360" y="2231136"/>
            <a:ext cx="10972800" cy="713232"/>
          </a:xfrm>
          <a:prstGeom prst="rect">
            <a:avLst/>
          </a:prstGeom>
          <a:solidFill>
            <a:srgbClr val="FFFFFF"/>
          </a:solidFill>
          <a:ln w="7620">
            <a:solidFill>
              <a:srgbClr val="D8DADE"/>
            </a:solidFill>
            <a:prstDash val="solid"/>
          </a:ln>
        </p:spPr>
      </p:sp>
      <p:sp>
        <p:nvSpPr>
          <p:cNvPr id="11" name="Text 9"/>
          <p:cNvSpPr/>
          <p:nvPr/>
        </p:nvSpPr>
        <p:spPr>
          <a:xfrm>
            <a:off x="722376" y="2231136"/>
            <a:ext cx="2487168" cy="713232"/>
          </a:xfrm>
          <a:prstGeom prst="rect">
            <a:avLst/>
          </a:prstGeom>
          <a:noFill/>
          <a:ln/>
        </p:spPr>
        <p:txBody>
          <a:bodyPr wrap="square" lIns="0" tIns="0" rIns="0" bIns="0" rtlCol="0" anchor="ctr"/>
          <a:lstStyle/>
          <a:p>
            <a:pPr algn="l" indent="0" marL="0">
              <a:buNone/>
            </a:pPr>
            <a:r>
              <a:rPr lang="en-US" sz="1200" b="1" dirty="0">
                <a:solidFill>
                  <a:srgbClr val="D95926"/>
                </a:solidFill>
                <a:latin typeface="Calibri" pitchFamily="34" charset="0"/>
                <a:ea typeface="Calibri" pitchFamily="34" charset="-122"/>
                <a:cs typeface="Calibri" pitchFamily="34" charset="-120"/>
              </a:rPr>
              <a:t>Seguir con operadores</a:t>
            </a:r>
            <a:endParaRPr lang="en-US" sz="1200" dirty="0"/>
          </a:p>
        </p:txBody>
      </p:sp>
      <p:sp>
        <p:nvSpPr>
          <p:cNvPr id="12" name="Text 10"/>
          <p:cNvSpPr/>
          <p:nvPr/>
        </p:nvSpPr>
        <p:spPr>
          <a:xfrm>
            <a:off x="3465576" y="2231136"/>
            <a:ext cx="1481328" cy="713232"/>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0</a:t>
            </a:r>
            <a:endParaRPr lang="en-US" sz="1250" dirty="0"/>
          </a:p>
        </p:txBody>
      </p:sp>
      <p:sp>
        <p:nvSpPr>
          <p:cNvPr id="13" name="Text 11"/>
          <p:cNvSpPr/>
          <p:nvPr/>
        </p:nvSpPr>
        <p:spPr>
          <a:xfrm>
            <a:off x="5202936" y="2231136"/>
            <a:ext cx="1481328" cy="713232"/>
          </a:xfrm>
          <a:prstGeom prst="rect">
            <a:avLst/>
          </a:prstGeom>
          <a:noFill/>
          <a:ln/>
        </p:spPr>
        <p:txBody>
          <a:bodyPr wrap="square" lIns="0" tIns="0" rIns="0" bIns="0" rtlCol="0" anchor="ctr"/>
          <a:lstStyle/>
          <a:p>
            <a:pPr algn="r" indent="0" marL="0">
              <a:buNone/>
            </a:pPr>
            <a:r>
              <a:rPr lang="en-US" sz="1150" dirty="0">
                <a:solidFill>
                  <a:srgbClr val="1A1D23"/>
                </a:solidFill>
                <a:latin typeface="Calibri" pitchFamily="34" charset="0"/>
                <a:ea typeface="Calibri" pitchFamily="34" charset="-122"/>
                <a:cs typeface="Calibri" pitchFamily="34" charset="-120"/>
              </a:rPr>
              <a:t>$61,853</a:t>
            </a:r>
            <a:endParaRPr lang="en-US" sz="1150" dirty="0"/>
          </a:p>
        </p:txBody>
      </p:sp>
      <p:sp>
        <p:nvSpPr>
          <p:cNvPr id="14" name="Text 12"/>
          <p:cNvSpPr/>
          <p:nvPr/>
        </p:nvSpPr>
        <p:spPr>
          <a:xfrm>
            <a:off x="6940296" y="2231136"/>
            <a:ext cx="1481328" cy="713232"/>
          </a:xfrm>
          <a:prstGeom prst="rect">
            <a:avLst/>
          </a:prstGeom>
          <a:noFill/>
          <a:ln/>
        </p:spPr>
        <p:txBody>
          <a:bodyPr wrap="square" lIns="0" tIns="0" rIns="0" bIns="0" rtlCol="0" anchor="ctr"/>
          <a:lstStyle/>
          <a:p>
            <a:pPr algn="r" indent="0" marL="0">
              <a:buNone/>
            </a:pPr>
            <a:r>
              <a:rPr lang="en-US" sz="1300" b="1" dirty="0">
                <a:solidFill>
                  <a:srgbClr val="D95926"/>
                </a:solidFill>
                <a:latin typeface="Calibri" pitchFamily="34" charset="0"/>
                <a:ea typeface="Calibri" pitchFamily="34" charset="-122"/>
                <a:cs typeface="Calibri" pitchFamily="34" charset="-120"/>
              </a:rPr>
              <a:t>$185,560</a:t>
            </a:r>
            <a:endParaRPr lang="en-US" sz="1300" dirty="0"/>
          </a:p>
        </p:txBody>
      </p:sp>
      <p:sp>
        <p:nvSpPr>
          <p:cNvPr id="15" name="Text 13"/>
          <p:cNvSpPr/>
          <p:nvPr/>
        </p:nvSpPr>
        <p:spPr>
          <a:xfrm>
            <a:off x="8677656" y="2231136"/>
            <a:ext cx="2761488" cy="71323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Los montacargas ya los tienen. Nada que invertir.</a:t>
            </a:r>
            <a:endParaRPr lang="en-US" sz="950" dirty="0"/>
          </a:p>
        </p:txBody>
      </p:sp>
      <p:sp>
        <p:nvSpPr>
          <p:cNvPr id="16" name="Shape 14"/>
          <p:cNvSpPr/>
          <p:nvPr/>
        </p:nvSpPr>
        <p:spPr>
          <a:xfrm>
            <a:off x="594360" y="2944368"/>
            <a:ext cx="10972800" cy="713232"/>
          </a:xfrm>
          <a:prstGeom prst="rect">
            <a:avLst/>
          </a:prstGeom>
          <a:solidFill>
            <a:srgbClr val="FFFFFF"/>
          </a:solidFill>
          <a:ln w="7620">
            <a:solidFill>
              <a:srgbClr val="D8DADE"/>
            </a:solidFill>
            <a:prstDash val="solid"/>
          </a:ln>
        </p:spPr>
      </p:sp>
      <p:sp>
        <p:nvSpPr>
          <p:cNvPr id="17" name="Text 15"/>
          <p:cNvSpPr/>
          <p:nvPr/>
        </p:nvSpPr>
        <p:spPr>
          <a:xfrm>
            <a:off x="722376" y="2944368"/>
            <a:ext cx="2487168" cy="713232"/>
          </a:xfrm>
          <a:prstGeom prst="rect">
            <a:avLst/>
          </a:prstGeom>
          <a:noFill/>
          <a:ln/>
        </p:spPr>
        <p:txBody>
          <a:bodyPr wrap="square" lIns="0" tIns="0" rIns="0" bIns="0" rtlCol="0" anchor="ctr"/>
          <a:lstStyle/>
          <a:p>
            <a:pPr algn="l" indent="0" marL="0">
              <a:buNone/>
            </a:pPr>
            <a:r>
              <a:rPr lang="en-US" sz="1200" b="1" dirty="0">
                <a:solidFill>
                  <a:srgbClr val="37C3FF"/>
                </a:solidFill>
                <a:latin typeface="Calibri" pitchFamily="34" charset="0"/>
                <a:ea typeface="Calibri" pitchFamily="34" charset="-122"/>
                <a:cs typeface="Calibri" pitchFamily="34" charset="-120"/>
              </a:rPr>
              <a:t>Autónomos de fábrica</a:t>
            </a:r>
            <a:endParaRPr lang="en-US" sz="1200" dirty="0"/>
          </a:p>
        </p:txBody>
      </p:sp>
      <p:sp>
        <p:nvSpPr>
          <p:cNvPr id="18" name="Text 16"/>
          <p:cNvSpPr/>
          <p:nvPr/>
        </p:nvSpPr>
        <p:spPr>
          <a:xfrm>
            <a:off x="3465576" y="2944368"/>
            <a:ext cx="1481328" cy="713232"/>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$352,500</a:t>
            </a:r>
            <a:endParaRPr lang="en-US" sz="1250" dirty="0"/>
          </a:p>
        </p:txBody>
      </p:sp>
      <p:sp>
        <p:nvSpPr>
          <p:cNvPr id="19" name="Text 17"/>
          <p:cNvSpPr/>
          <p:nvPr/>
        </p:nvSpPr>
        <p:spPr>
          <a:xfrm>
            <a:off x="5202936" y="2944368"/>
            <a:ext cx="1481328" cy="713232"/>
          </a:xfrm>
          <a:prstGeom prst="rect">
            <a:avLst/>
          </a:prstGeom>
          <a:noFill/>
          <a:ln/>
        </p:spPr>
        <p:txBody>
          <a:bodyPr wrap="square" lIns="0" tIns="0" rIns="0" bIns="0" rtlCol="0" anchor="ctr"/>
          <a:lstStyle/>
          <a:p>
            <a:pPr algn="r" indent="0" marL="0">
              <a:buNone/>
            </a:pPr>
            <a:r>
              <a:rPr lang="en-US" sz="1150" dirty="0">
                <a:solidFill>
                  <a:srgbClr val="1A1D23"/>
                </a:solidFill>
                <a:latin typeface="Calibri" pitchFamily="34" charset="0"/>
                <a:ea typeface="Calibri" pitchFamily="34" charset="-122"/>
                <a:cs typeface="Calibri" pitchFamily="34" charset="-120"/>
              </a:rPr>
              <a:t>$12,750</a:t>
            </a:r>
            <a:endParaRPr lang="en-US" sz="1150" dirty="0"/>
          </a:p>
        </p:txBody>
      </p:sp>
      <p:sp>
        <p:nvSpPr>
          <p:cNvPr id="20" name="Text 18"/>
          <p:cNvSpPr/>
          <p:nvPr/>
        </p:nvSpPr>
        <p:spPr>
          <a:xfrm>
            <a:off x="6940296" y="2944368"/>
            <a:ext cx="1481328" cy="713232"/>
          </a:xfrm>
          <a:prstGeom prst="rect">
            <a:avLst/>
          </a:prstGeom>
          <a:noFill/>
          <a:ln/>
        </p:spPr>
        <p:txBody>
          <a:bodyPr wrap="square" lIns="0" tIns="0" rIns="0" bIns="0" rtlCol="0" anchor="ctr"/>
          <a:lstStyle/>
          <a:p>
            <a:pPr algn="r" indent="0" marL="0">
              <a:buNone/>
            </a:pPr>
            <a:r>
              <a:rPr lang="en-US" sz="1300" b="1" dirty="0">
                <a:solidFill>
                  <a:srgbClr val="37C3FF"/>
                </a:solidFill>
                <a:latin typeface="Calibri" pitchFamily="34" charset="0"/>
                <a:ea typeface="Calibri" pitchFamily="34" charset="-122"/>
                <a:cs typeface="Calibri" pitchFamily="34" charset="-120"/>
              </a:rPr>
              <a:t>$390,750</a:t>
            </a:r>
            <a:endParaRPr lang="en-US" sz="1300" dirty="0"/>
          </a:p>
        </p:txBody>
      </p:sp>
      <p:sp>
        <p:nvSpPr>
          <p:cNvPr id="21" name="Text 19"/>
          <p:cNvSpPr/>
          <p:nvPr/>
        </p:nvSpPr>
        <p:spPr>
          <a:xfrm>
            <a:off x="8677656" y="2944368"/>
            <a:ext cx="2761488" cy="71323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3 unidades nuevas + instalación + integración.</a:t>
            </a:r>
            <a:endParaRPr lang="en-US" sz="950" dirty="0"/>
          </a:p>
        </p:txBody>
      </p:sp>
      <p:sp>
        <p:nvSpPr>
          <p:cNvPr id="22" name="Shape 20"/>
          <p:cNvSpPr/>
          <p:nvPr/>
        </p:nvSpPr>
        <p:spPr>
          <a:xfrm>
            <a:off x="594360" y="3657600"/>
            <a:ext cx="10972800" cy="713232"/>
          </a:xfrm>
          <a:prstGeom prst="rect">
            <a:avLst/>
          </a:prstGeom>
          <a:solidFill>
            <a:srgbClr val="FFFFFF"/>
          </a:solidFill>
          <a:ln w="7620">
            <a:solidFill>
              <a:srgbClr val="D8DADE"/>
            </a:solidFill>
            <a:prstDash val="solid"/>
          </a:ln>
        </p:spPr>
      </p:sp>
      <p:sp>
        <p:nvSpPr>
          <p:cNvPr id="23" name="Text 21"/>
          <p:cNvSpPr/>
          <p:nvPr/>
        </p:nvSpPr>
        <p:spPr>
          <a:xfrm>
            <a:off x="722376" y="3657600"/>
            <a:ext cx="2487168" cy="713232"/>
          </a:xfrm>
          <a:prstGeom prst="rect">
            <a:avLst/>
          </a:prstGeom>
          <a:noFill/>
          <a:ln/>
        </p:spPr>
        <p:txBody>
          <a:bodyPr wrap="square" lIns="0" tIns="0" rIns="0" bIns="0" rtlCol="0" anchor="ctr"/>
          <a:lstStyle/>
          <a:p>
            <a:pPr algn="l" indent="0" marL="0">
              <a:buNone/>
            </a:pPr>
            <a:r>
              <a:rPr lang="en-US" sz="1200" b="1" dirty="0">
                <a:solidFill>
                  <a:srgbClr val="39D98A"/>
                </a:solidFill>
                <a:latin typeface="Calibri" pitchFamily="34" charset="0"/>
                <a:ea typeface="Calibri" pitchFamily="34" charset="-122"/>
                <a:cs typeface="Calibri" pitchFamily="34" charset="-120"/>
              </a:rPr>
              <a:t>Kit TaTa nivel 3</a:t>
            </a:r>
            <a:endParaRPr lang="en-US" sz="1200" dirty="0"/>
          </a:p>
        </p:txBody>
      </p:sp>
      <p:sp>
        <p:nvSpPr>
          <p:cNvPr id="24" name="Text 22"/>
          <p:cNvSpPr/>
          <p:nvPr/>
        </p:nvSpPr>
        <p:spPr>
          <a:xfrm>
            <a:off x="3465576" y="3657600"/>
            <a:ext cx="1481328" cy="713232"/>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$97,009</a:t>
            </a:r>
            <a:endParaRPr lang="en-US" sz="1250" dirty="0"/>
          </a:p>
        </p:txBody>
      </p:sp>
      <p:sp>
        <p:nvSpPr>
          <p:cNvPr id="25" name="Text 23"/>
          <p:cNvSpPr/>
          <p:nvPr/>
        </p:nvSpPr>
        <p:spPr>
          <a:xfrm>
            <a:off x="5202936" y="3657600"/>
            <a:ext cx="1481328" cy="713232"/>
          </a:xfrm>
          <a:prstGeom prst="rect">
            <a:avLst/>
          </a:prstGeom>
          <a:noFill/>
          <a:ln/>
        </p:spPr>
        <p:txBody>
          <a:bodyPr wrap="square" lIns="0" tIns="0" rIns="0" bIns="0" rtlCol="0" anchor="ctr"/>
          <a:lstStyle/>
          <a:p>
            <a:pPr algn="r" indent="0" marL="0">
              <a:buNone/>
            </a:pPr>
            <a:r>
              <a:rPr lang="en-US" sz="1150" dirty="0">
                <a:solidFill>
                  <a:srgbClr val="1A1D23"/>
                </a:solidFill>
                <a:latin typeface="Calibri" pitchFamily="34" charset="0"/>
                <a:ea typeface="Calibri" pitchFamily="34" charset="-122"/>
                <a:cs typeface="Calibri" pitchFamily="34" charset="-120"/>
              </a:rPr>
              <a:t>$12,000</a:t>
            </a:r>
            <a:endParaRPr lang="en-US" sz="1150" dirty="0"/>
          </a:p>
        </p:txBody>
      </p:sp>
      <p:sp>
        <p:nvSpPr>
          <p:cNvPr id="26" name="Text 24"/>
          <p:cNvSpPr/>
          <p:nvPr/>
        </p:nvSpPr>
        <p:spPr>
          <a:xfrm>
            <a:off x="6940296" y="3657600"/>
            <a:ext cx="1481328" cy="713232"/>
          </a:xfrm>
          <a:prstGeom prst="rect">
            <a:avLst/>
          </a:prstGeom>
          <a:noFill/>
          <a:ln/>
        </p:spPr>
        <p:txBody>
          <a:bodyPr wrap="square" lIns="0" tIns="0" rIns="0" bIns="0" rtlCol="0" anchor="ctr"/>
          <a:lstStyle/>
          <a:p>
            <a:pPr algn="r" indent="0" marL="0">
              <a:buNone/>
            </a:pPr>
            <a:r>
              <a:rPr lang="en-US" sz="1300" b="1" dirty="0">
                <a:solidFill>
                  <a:srgbClr val="39D98A"/>
                </a:solidFill>
                <a:latin typeface="Calibri" pitchFamily="34" charset="0"/>
                <a:ea typeface="Calibri" pitchFamily="34" charset="-122"/>
                <a:cs typeface="Calibri" pitchFamily="34" charset="-120"/>
              </a:rPr>
              <a:t>$133,009</a:t>
            </a:r>
            <a:endParaRPr lang="en-US" sz="1300" dirty="0"/>
          </a:p>
        </p:txBody>
      </p:sp>
      <p:sp>
        <p:nvSpPr>
          <p:cNvPr id="27" name="Text 25"/>
          <p:cNvSpPr/>
          <p:nvPr/>
        </p:nvSpPr>
        <p:spPr>
          <a:xfrm>
            <a:off x="8677656" y="3657600"/>
            <a:ext cx="2761488" cy="71323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Sobre sus propias máquinas + infraestructura del sitio.</a:t>
            </a:r>
            <a:endParaRPr lang="en-US" sz="950" dirty="0"/>
          </a:p>
        </p:txBody>
      </p:sp>
      <p:sp>
        <p:nvSpPr>
          <p:cNvPr id="28" name="Shape 26"/>
          <p:cNvSpPr/>
          <p:nvPr/>
        </p:nvSpPr>
        <p:spPr>
          <a:xfrm>
            <a:off x="594360" y="4617720"/>
            <a:ext cx="3493008" cy="1371600"/>
          </a:xfrm>
          <a:prstGeom prst="roundRect">
            <a:avLst>
              <a:gd name="adj" fmla="val 6000"/>
            </a:avLst>
          </a:prstGeom>
          <a:solidFill>
            <a:srgbClr val="FFFFFF"/>
          </a:solidFill>
          <a:ln/>
          <a:effectLst>
            <a:outerShdw sx="100000" sy="100000" kx="0" ky="0" algn="bl" rotWithShape="0" blurRad="152400" dist="38100" dir="5400000">
              <a:srgbClr val="000000">
                <a:alpha val="28000"/>
              </a:srgbClr>
            </a:outerShdw>
          </a:effectLst>
        </p:spPr>
      </p:sp>
      <p:sp>
        <p:nvSpPr>
          <p:cNvPr id="29" name="Text 27"/>
          <p:cNvSpPr/>
          <p:nvPr/>
        </p:nvSpPr>
        <p:spPr>
          <a:xfrm>
            <a:off x="868680" y="4736592"/>
            <a:ext cx="2926080" cy="566928"/>
          </a:xfrm>
          <a:prstGeom prst="rect">
            <a:avLst/>
          </a:prstGeom>
          <a:noFill/>
          <a:ln/>
        </p:spPr>
        <p:txBody>
          <a:bodyPr wrap="square" lIns="0" tIns="0" rIns="0" bIns="0" rtlCol="0" anchor="ctr"/>
          <a:lstStyle/>
          <a:p>
            <a:pPr indent="0" marL="0">
              <a:buNone/>
            </a:pPr>
            <a:r>
              <a:rPr lang="en-US" sz="2800" b="1" dirty="0">
                <a:solidFill>
                  <a:srgbClr val="39D98A"/>
                </a:solidFill>
                <a:latin typeface="Cambria" pitchFamily="34" charset="0"/>
                <a:ea typeface="Cambria" pitchFamily="34" charset="-122"/>
                <a:cs typeface="Cambria" pitchFamily="34" charset="-120"/>
              </a:rPr>
              <a:t>1.9 años</a:t>
            </a:r>
            <a:endParaRPr lang="en-US" sz="2800" dirty="0"/>
          </a:p>
        </p:txBody>
      </p:sp>
      <p:sp>
        <p:nvSpPr>
          <p:cNvPr id="30" name="Text 28"/>
          <p:cNvSpPr/>
          <p:nvPr/>
        </p:nvSpPr>
        <p:spPr>
          <a:xfrm>
            <a:off x="868680" y="5321808"/>
            <a:ext cx="2926080" cy="50292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en pagarse contra seguir con operadores</a:t>
            </a:r>
            <a:endParaRPr lang="en-US" sz="1050" dirty="0"/>
          </a:p>
        </p:txBody>
      </p:sp>
      <p:sp>
        <p:nvSpPr>
          <p:cNvPr id="31" name="Shape 29"/>
          <p:cNvSpPr/>
          <p:nvPr/>
        </p:nvSpPr>
        <p:spPr>
          <a:xfrm>
            <a:off x="4306824" y="4617720"/>
            <a:ext cx="3493008" cy="1371600"/>
          </a:xfrm>
          <a:prstGeom prst="roundRect">
            <a:avLst>
              <a:gd name="adj" fmla="val 6000"/>
            </a:avLst>
          </a:prstGeom>
          <a:solidFill>
            <a:srgbClr val="FFFFFF"/>
          </a:solidFill>
          <a:ln/>
          <a:effectLst>
            <a:outerShdw sx="100000" sy="100000" kx="0" ky="0" algn="bl" rotWithShape="0" blurRad="152400" dist="38100" dir="5400000">
              <a:srgbClr val="000000">
                <a:alpha val="28000"/>
              </a:srgbClr>
            </a:outerShdw>
          </a:effectLst>
        </p:spPr>
      </p:sp>
      <p:sp>
        <p:nvSpPr>
          <p:cNvPr id="32" name="Text 30"/>
          <p:cNvSpPr/>
          <p:nvPr/>
        </p:nvSpPr>
        <p:spPr>
          <a:xfrm>
            <a:off x="4581144" y="4736592"/>
            <a:ext cx="2926080" cy="566928"/>
          </a:xfrm>
          <a:prstGeom prst="rect">
            <a:avLst/>
          </a:prstGeom>
          <a:noFill/>
          <a:ln/>
        </p:spPr>
        <p:txBody>
          <a:bodyPr wrap="square" lIns="0" tIns="0" rIns="0" bIns="0" rtlCol="0" anchor="ctr"/>
          <a:lstStyle/>
          <a:p>
            <a:pPr indent="0" marL="0">
              <a:buNone/>
            </a:pPr>
            <a:r>
              <a:rPr lang="en-US" sz="2800" b="1" dirty="0">
                <a:solidFill>
                  <a:srgbClr val="37C3FF"/>
                </a:solidFill>
                <a:latin typeface="Cambria" pitchFamily="34" charset="0"/>
                <a:ea typeface="Cambria" pitchFamily="34" charset="-122"/>
                <a:cs typeface="Cambria" pitchFamily="34" charset="-120"/>
              </a:rPr>
              <a:t>3.6×</a:t>
            </a:r>
            <a:endParaRPr lang="en-US" sz="2800" dirty="0"/>
          </a:p>
        </p:txBody>
      </p:sp>
      <p:sp>
        <p:nvSpPr>
          <p:cNvPr id="33" name="Text 31"/>
          <p:cNvSpPr/>
          <p:nvPr/>
        </p:nvSpPr>
        <p:spPr>
          <a:xfrm>
            <a:off x="4581144" y="5321808"/>
            <a:ext cx="2926080" cy="50292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más barato que comprar autónomos de fábrica</a:t>
            </a:r>
            <a:endParaRPr lang="en-US" sz="1050" dirty="0"/>
          </a:p>
        </p:txBody>
      </p:sp>
      <p:sp>
        <p:nvSpPr>
          <p:cNvPr id="34" name="Shape 32"/>
          <p:cNvSpPr/>
          <p:nvPr/>
        </p:nvSpPr>
        <p:spPr>
          <a:xfrm>
            <a:off x="8019288" y="4617720"/>
            <a:ext cx="3493008" cy="1371600"/>
          </a:xfrm>
          <a:prstGeom prst="roundRect">
            <a:avLst>
              <a:gd name="adj" fmla="val 6000"/>
            </a:avLst>
          </a:prstGeom>
          <a:solidFill>
            <a:srgbClr val="FFFFFF"/>
          </a:solidFill>
          <a:ln/>
          <a:effectLst>
            <a:outerShdw sx="100000" sy="100000" kx="0" ky="0" algn="bl" rotWithShape="0" blurRad="152400" dist="38100" dir="5400000">
              <a:srgbClr val="000000">
                <a:alpha val="28000"/>
              </a:srgbClr>
            </a:outerShdw>
          </a:effectLst>
        </p:spPr>
      </p:sp>
      <p:sp>
        <p:nvSpPr>
          <p:cNvPr id="35" name="Text 33"/>
          <p:cNvSpPr/>
          <p:nvPr/>
        </p:nvSpPr>
        <p:spPr>
          <a:xfrm>
            <a:off x="8293608" y="4736592"/>
            <a:ext cx="2926080" cy="566928"/>
          </a:xfrm>
          <a:prstGeom prst="rect">
            <a:avLst/>
          </a:prstGeom>
          <a:noFill/>
          <a:ln/>
        </p:spPr>
        <p:txBody>
          <a:bodyPr wrap="square" lIns="0" tIns="0" rIns="0" bIns="0" rtlCol="0" anchor="ctr"/>
          <a:lstStyle/>
          <a:p>
            <a:pPr indent="0" marL="0">
              <a:buNone/>
            </a:pPr>
            <a:r>
              <a:rPr lang="en-US" sz="2800" b="1" dirty="0">
                <a:solidFill>
                  <a:srgbClr val="FF5A52"/>
                </a:solidFill>
                <a:latin typeface="Cambria" pitchFamily="34" charset="0"/>
                <a:ea typeface="Cambria" pitchFamily="34" charset="-122"/>
                <a:cs typeface="Cambria" pitchFamily="34" charset="-120"/>
              </a:rPr>
              <a:t>7.2 años</a:t>
            </a:r>
            <a:endParaRPr lang="en-US" sz="2800" dirty="0"/>
          </a:p>
        </p:txBody>
      </p:sp>
      <p:sp>
        <p:nvSpPr>
          <p:cNvPr id="36" name="Text 34"/>
          <p:cNvSpPr/>
          <p:nvPr/>
        </p:nvSpPr>
        <p:spPr>
          <a:xfrm>
            <a:off x="8293608" y="5321808"/>
            <a:ext cx="2926080" cy="502920"/>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tardaría en pagarse un autónomo de fábrica</a:t>
            </a:r>
            <a:endParaRPr lang="en-US" sz="1050" dirty="0"/>
          </a:p>
        </p:txBody>
      </p:sp>
      <p:sp>
        <p:nvSpPr>
          <p:cNvPr id="37" name="Text 35"/>
          <p:cNvSpPr/>
          <p:nvPr/>
        </p:nvSpPr>
        <p:spPr>
          <a:xfrm>
            <a:off x="594360" y="6172200"/>
            <a:ext cx="10972800" cy="457200"/>
          </a:xfrm>
          <a:prstGeom prst="rect">
            <a:avLst/>
          </a:prstGeom>
          <a:noFill/>
          <a:ln/>
        </p:spPr>
        <p:txBody>
          <a:bodyPr wrap="square" lIns="0" tIns="0" rIns="0" bIns="0" rtlCol="0" anchor="t"/>
          <a:lstStyle/>
          <a:p>
            <a:pPr indent="0" marL="0">
              <a:buNone/>
            </a:pPr>
            <a:r>
              <a:rPr lang="en-US" sz="1000" i="1" dirty="0">
                <a:solidFill>
                  <a:srgbClr val="5B6470"/>
                </a:solidFill>
                <a:latin typeface="Calibri" pitchFamily="34" charset="0"/>
                <a:ea typeface="Calibri" pitchFamily="34" charset="-122"/>
                <a:cs typeface="Calibri" pitchFamily="34" charset="-120"/>
              </a:rPr>
              <a:t>Salario mínimo de manufactura en Honduras 2026 (150+ trabajadores): L 12,349/mes. Operador certificado estimado en L 18,000 más 27% de cargas sociales. Tipo de cambio 26.61.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Dónde se cruzan las curvas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El costo acumulado de las tres opciones, a cinco años</a:t>
            </a:r>
            <a:endParaRPr lang="en-US" sz="1350" dirty="0"/>
          </a:p>
        </p:txBody>
      </p:sp>
      <p:pic>
        <p:nvPicPr>
          <p:cNvPr id="4" name="Image 0" descr="retorno_5anios.png">    </p:cNvPr>
          <p:cNvPicPr>
            <a:picLocks noChangeAspect="1"/>
          </p:cNvPicPr>
          <p:nvPr/>
        </p:nvPicPr>
        <p:blipFill>
          <a:blip r:embed="rId1"/>
          <a:srcRect l="0" r="0" t="0" b="0"/>
          <a:stretch/>
        </p:blipFill>
        <p:spPr>
          <a:xfrm>
            <a:off x="1234440" y="1691640"/>
            <a:ext cx="9692640" cy="3977640"/>
          </a:xfrm>
          <a:prstGeom prst="rect">
            <a:avLst/>
          </a:prstGeom>
        </p:spPr>
      </p:pic>
      <p:sp>
        <p:nvSpPr>
          <p:cNvPr id="5" name="Shape 2"/>
          <p:cNvSpPr/>
          <p:nvPr/>
        </p:nvSpPr>
        <p:spPr>
          <a:xfrm>
            <a:off x="594360" y="5806440"/>
            <a:ext cx="10972800" cy="777240"/>
          </a:xfrm>
          <a:prstGeom prst="roundRect">
            <a:avLst>
              <a:gd name="adj" fmla="val 10588"/>
            </a:avLst>
          </a:prstGeom>
          <a:solidFill>
            <a:srgbClr val="20242B"/>
          </a:solidFill>
          <a:ln/>
          <a:effectLst>
            <a:outerShdw sx="100000" sy="100000" kx="0" ky="0" algn="bl" rotWithShape="0" blurRad="152400" dist="38100" dir="5400000">
              <a:srgbClr val="000000">
                <a:alpha val="28000"/>
              </a:srgbClr>
            </a:outerShdw>
          </a:effectLst>
        </p:spPr>
      </p:sp>
      <p:sp>
        <p:nvSpPr>
          <p:cNvPr id="6" name="Text 3"/>
          <p:cNvSpPr/>
          <p:nvPr/>
        </p:nvSpPr>
        <p:spPr>
          <a:xfrm>
            <a:off x="960120" y="5806440"/>
            <a:ext cx="10241280" cy="777240"/>
          </a:xfrm>
          <a:prstGeom prst="rect">
            <a:avLst/>
          </a:prstGeom>
          <a:noFill/>
          <a:ln/>
        </p:spPr>
        <p:txBody>
          <a:bodyPr wrap="square" lIns="0" tIns="0" rIns="0" bIns="0" rtlCol="0" anchor="ctr"/>
          <a:lstStyle/>
          <a:p>
            <a:pPr indent="0" marL="0">
              <a:buNone/>
            </a:pPr>
            <a:r>
              <a:rPr lang="en-US" sz="1250" b="1" dirty="0">
                <a:solidFill>
                  <a:srgbClr val="F5C518"/>
                </a:solidFill>
                <a:latin typeface="Calibri" pitchFamily="34" charset="0"/>
                <a:ea typeface="Calibri" pitchFamily="34" charset="-122"/>
                <a:cs typeface="Calibri" pitchFamily="34" charset="-120"/>
              </a:rPr>
              <a:t>Los operadores arrancan gratis y se vuelven caros. El kit arranca caro y se aplana. El autónomo de fábrica arranca carísimo y también se aplana — pero desde tres veces más arriba.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Pero ojo: en Honduras la mano de obra es barata</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Eso debilita el argumento laboral, y hay que decirlo antes de que lo diga el cliente</a:t>
            </a:r>
            <a:endParaRPr lang="en-US" sz="1350" dirty="0"/>
          </a:p>
        </p:txBody>
      </p:sp>
      <p:sp>
        <p:nvSpPr>
          <p:cNvPr id="4" name="Shape 2"/>
          <p:cNvSpPr/>
          <p:nvPr/>
        </p:nvSpPr>
        <p:spPr>
          <a:xfrm>
            <a:off x="594360" y="1828800"/>
            <a:ext cx="6766560" cy="402336"/>
          </a:xfrm>
          <a:prstGeom prst="rect">
            <a:avLst/>
          </a:prstGeom>
          <a:solidFill>
            <a:srgbClr val="E7E9EC"/>
          </a:solidFill>
          <a:ln w="7620">
            <a:solidFill>
              <a:srgbClr val="D8DADE"/>
            </a:solidFill>
            <a:prstDash val="solid"/>
          </a:ln>
        </p:spPr>
      </p:sp>
      <p:sp>
        <p:nvSpPr>
          <p:cNvPr id="5" name="Text 3"/>
          <p:cNvSpPr/>
          <p:nvPr/>
        </p:nvSpPr>
        <p:spPr>
          <a:xfrm>
            <a:off x="722376" y="1828800"/>
            <a:ext cx="1389888" cy="402336"/>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OPERACIÓN</a:t>
            </a:r>
            <a:endParaRPr lang="en-US" sz="1000" dirty="0"/>
          </a:p>
        </p:txBody>
      </p:sp>
      <p:sp>
        <p:nvSpPr>
          <p:cNvPr id="6" name="Text 4"/>
          <p:cNvSpPr/>
          <p:nvPr/>
        </p:nvSpPr>
        <p:spPr>
          <a:xfrm>
            <a:off x="2368296" y="1828800"/>
            <a:ext cx="1389888" cy="402336"/>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PERSONAL</a:t>
            </a:r>
            <a:endParaRPr lang="en-US" sz="1000" dirty="0"/>
          </a:p>
        </p:txBody>
      </p:sp>
      <p:sp>
        <p:nvSpPr>
          <p:cNvPr id="7" name="Text 5"/>
          <p:cNvSpPr/>
          <p:nvPr/>
        </p:nvSpPr>
        <p:spPr>
          <a:xfrm>
            <a:off x="4014216" y="1828800"/>
            <a:ext cx="1481328" cy="402336"/>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AHORRO/AÑO</a:t>
            </a:r>
            <a:endParaRPr lang="en-US" sz="1000" dirty="0"/>
          </a:p>
        </p:txBody>
      </p:sp>
      <p:sp>
        <p:nvSpPr>
          <p:cNvPr id="8" name="Text 6"/>
          <p:cNvSpPr/>
          <p:nvPr/>
        </p:nvSpPr>
        <p:spPr>
          <a:xfrm>
            <a:off x="5751576" y="1828800"/>
            <a:ext cx="1481328" cy="402336"/>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RETORNO</a:t>
            </a:r>
            <a:endParaRPr lang="en-US" sz="1000" dirty="0"/>
          </a:p>
        </p:txBody>
      </p:sp>
      <p:sp>
        <p:nvSpPr>
          <p:cNvPr id="9" name="Shape 7"/>
          <p:cNvSpPr/>
          <p:nvPr/>
        </p:nvSpPr>
        <p:spPr>
          <a:xfrm>
            <a:off x="594360" y="2231136"/>
            <a:ext cx="6766560" cy="603504"/>
          </a:xfrm>
          <a:prstGeom prst="rect">
            <a:avLst/>
          </a:prstGeom>
          <a:solidFill>
            <a:srgbClr val="FFFFFF"/>
          </a:solidFill>
          <a:ln w="7620">
            <a:solidFill>
              <a:srgbClr val="D8DADE"/>
            </a:solidFill>
            <a:prstDash val="solid"/>
          </a:ln>
        </p:spPr>
      </p:sp>
      <p:sp>
        <p:nvSpPr>
          <p:cNvPr id="10" name="Text 8"/>
          <p:cNvSpPr/>
          <p:nvPr/>
        </p:nvSpPr>
        <p:spPr>
          <a:xfrm>
            <a:off x="722376" y="2231136"/>
            <a:ext cx="1389888" cy="603504"/>
          </a:xfrm>
          <a:prstGeom prst="rect">
            <a:avLst/>
          </a:prstGeom>
          <a:noFill/>
          <a:ln/>
        </p:spPr>
        <p:txBody>
          <a:bodyPr wrap="square" lIns="0" tIns="0" rIns="0" bIns="0" rtlCol="0" anchor="ctr"/>
          <a:lstStyle/>
          <a:p>
            <a:pPr algn="l" indent="0" marL="0">
              <a:buNone/>
            </a:pPr>
            <a:r>
              <a:rPr lang="en-US" sz="1200" b="1" dirty="0">
                <a:solidFill>
                  <a:srgbClr val="1A1D23"/>
                </a:solidFill>
                <a:latin typeface="Calibri" pitchFamily="34" charset="0"/>
                <a:ea typeface="Calibri" pitchFamily="34" charset="-122"/>
                <a:cs typeface="Calibri" pitchFamily="34" charset="-120"/>
              </a:rPr>
              <a:t>1 turno</a:t>
            </a:r>
            <a:endParaRPr lang="en-US" sz="1200" dirty="0"/>
          </a:p>
        </p:txBody>
      </p:sp>
      <p:sp>
        <p:nvSpPr>
          <p:cNvPr id="11" name="Text 9"/>
          <p:cNvSpPr/>
          <p:nvPr/>
        </p:nvSpPr>
        <p:spPr>
          <a:xfrm>
            <a:off x="2368296" y="2231136"/>
            <a:ext cx="1389888" cy="603504"/>
          </a:xfrm>
          <a:prstGeom prst="rect">
            <a:avLst/>
          </a:prstGeom>
          <a:noFill/>
          <a:ln/>
        </p:spPr>
        <p:txBody>
          <a:bodyPr wrap="square" lIns="0" tIns="0" rIns="0" bIns="0" rtlCol="0" anchor="ctr"/>
          <a:lstStyle/>
          <a:p>
            <a:pPr algn="l" indent="0" marL="0">
              <a:buNone/>
            </a:pPr>
            <a:r>
              <a:rPr lang="en-US" sz="1100" dirty="0">
                <a:solidFill>
                  <a:srgbClr val="5B6470"/>
                </a:solidFill>
                <a:latin typeface="Calibri" pitchFamily="34" charset="0"/>
                <a:ea typeface="Calibri" pitchFamily="34" charset="-122"/>
                <a:cs typeface="Calibri" pitchFamily="34" charset="-120"/>
              </a:rPr>
              <a:t>3 operadores</a:t>
            </a:r>
            <a:endParaRPr lang="en-US" sz="1100" dirty="0"/>
          </a:p>
        </p:txBody>
      </p:sp>
      <p:sp>
        <p:nvSpPr>
          <p:cNvPr id="12" name="Text 10"/>
          <p:cNvSpPr/>
          <p:nvPr/>
        </p:nvSpPr>
        <p:spPr>
          <a:xfrm>
            <a:off x="4014216" y="2231136"/>
            <a:ext cx="1481328" cy="603504"/>
          </a:xfrm>
          <a:prstGeom prst="rect">
            <a:avLst/>
          </a:prstGeom>
          <a:noFill/>
          <a:ln/>
        </p:spPr>
        <p:txBody>
          <a:bodyPr wrap="square" lIns="0" tIns="0" rIns="0" bIns="0" rtlCol="0" anchor="ctr"/>
          <a:lstStyle/>
          <a:p>
            <a:pPr algn="r" indent="0" marL="0">
              <a:buNone/>
            </a:pPr>
            <a:r>
              <a:rPr lang="en-US" sz="1150" dirty="0">
                <a:solidFill>
                  <a:srgbClr val="1A1D23"/>
                </a:solidFill>
                <a:latin typeface="Calibri" pitchFamily="34" charset="0"/>
                <a:ea typeface="Calibri" pitchFamily="34" charset="-122"/>
                <a:cs typeface="Calibri" pitchFamily="34" charset="-120"/>
              </a:rPr>
              <a:t>$18,927</a:t>
            </a:r>
            <a:endParaRPr lang="en-US" sz="1150" dirty="0"/>
          </a:p>
        </p:txBody>
      </p:sp>
      <p:sp>
        <p:nvSpPr>
          <p:cNvPr id="13" name="Text 11"/>
          <p:cNvSpPr/>
          <p:nvPr/>
        </p:nvSpPr>
        <p:spPr>
          <a:xfrm>
            <a:off x="5751576" y="2231136"/>
            <a:ext cx="1481328" cy="603504"/>
          </a:xfrm>
          <a:prstGeom prst="rect">
            <a:avLst/>
          </a:prstGeom>
          <a:noFill/>
          <a:ln/>
        </p:spPr>
        <p:txBody>
          <a:bodyPr wrap="square" lIns="0" tIns="0" rIns="0" bIns="0" rtlCol="0" anchor="ctr"/>
          <a:lstStyle/>
          <a:p>
            <a:pPr algn="r" indent="0" marL="0">
              <a:buNone/>
            </a:pPr>
            <a:r>
              <a:rPr lang="en-US" sz="1300" b="1" dirty="0">
                <a:solidFill>
                  <a:srgbClr val="FF5A52"/>
                </a:solidFill>
                <a:latin typeface="Calibri" pitchFamily="34" charset="0"/>
                <a:ea typeface="Calibri" pitchFamily="34" charset="-122"/>
                <a:cs typeface="Calibri" pitchFamily="34" charset="-120"/>
              </a:rPr>
              <a:t>5.1 años</a:t>
            </a:r>
            <a:endParaRPr lang="en-US" sz="1300" dirty="0"/>
          </a:p>
        </p:txBody>
      </p:sp>
      <p:sp>
        <p:nvSpPr>
          <p:cNvPr id="14" name="Shape 12"/>
          <p:cNvSpPr/>
          <p:nvPr/>
        </p:nvSpPr>
        <p:spPr>
          <a:xfrm>
            <a:off x="594360" y="2834640"/>
            <a:ext cx="6766560" cy="603504"/>
          </a:xfrm>
          <a:prstGeom prst="rect">
            <a:avLst/>
          </a:prstGeom>
          <a:solidFill>
            <a:srgbClr val="FFFFFF"/>
          </a:solidFill>
          <a:ln w="7620">
            <a:solidFill>
              <a:srgbClr val="D8DADE"/>
            </a:solidFill>
            <a:prstDash val="solid"/>
          </a:ln>
        </p:spPr>
      </p:sp>
      <p:sp>
        <p:nvSpPr>
          <p:cNvPr id="15" name="Text 13"/>
          <p:cNvSpPr/>
          <p:nvPr/>
        </p:nvSpPr>
        <p:spPr>
          <a:xfrm>
            <a:off x="722376" y="2834640"/>
            <a:ext cx="1389888" cy="603504"/>
          </a:xfrm>
          <a:prstGeom prst="rect">
            <a:avLst/>
          </a:prstGeom>
          <a:noFill/>
          <a:ln/>
        </p:spPr>
        <p:txBody>
          <a:bodyPr wrap="square" lIns="0" tIns="0" rIns="0" bIns="0" rtlCol="0" anchor="ctr"/>
          <a:lstStyle/>
          <a:p>
            <a:pPr algn="l" indent="0" marL="0">
              <a:buNone/>
            </a:pPr>
            <a:r>
              <a:rPr lang="en-US" sz="1200" b="1" dirty="0">
                <a:solidFill>
                  <a:srgbClr val="1A1D23"/>
                </a:solidFill>
                <a:latin typeface="Calibri" pitchFamily="34" charset="0"/>
                <a:ea typeface="Calibri" pitchFamily="34" charset="-122"/>
                <a:cs typeface="Calibri" pitchFamily="34" charset="-120"/>
              </a:rPr>
              <a:t>2 turnos</a:t>
            </a:r>
            <a:endParaRPr lang="en-US" sz="1200" dirty="0"/>
          </a:p>
        </p:txBody>
      </p:sp>
      <p:sp>
        <p:nvSpPr>
          <p:cNvPr id="16" name="Text 14"/>
          <p:cNvSpPr/>
          <p:nvPr/>
        </p:nvSpPr>
        <p:spPr>
          <a:xfrm>
            <a:off x="2368296" y="2834640"/>
            <a:ext cx="1389888" cy="603504"/>
          </a:xfrm>
          <a:prstGeom prst="rect">
            <a:avLst/>
          </a:prstGeom>
          <a:noFill/>
          <a:ln/>
        </p:spPr>
        <p:txBody>
          <a:bodyPr wrap="square" lIns="0" tIns="0" rIns="0" bIns="0" rtlCol="0" anchor="ctr"/>
          <a:lstStyle/>
          <a:p>
            <a:pPr algn="l" indent="0" marL="0">
              <a:buNone/>
            </a:pPr>
            <a:r>
              <a:rPr lang="en-US" sz="1100" dirty="0">
                <a:solidFill>
                  <a:srgbClr val="5B6470"/>
                </a:solidFill>
                <a:latin typeface="Calibri" pitchFamily="34" charset="0"/>
                <a:ea typeface="Calibri" pitchFamily="34" charset="-122"/>
                <a:cs typeface="Calibri" pitchFamily="34" charset="-120"/>
              </a:rPr>
              <a:t>6 operadores</a:t>
            </a:r>
            <a:endParaRPr lang="en-US" sz="1100" dirty="0"/>
          </a:p>
        </p:txBody>
      </p:sp>
      <p:sp>
        <p:nvSpPr>
          <p:cNvPr id="17" name="Text 15"/>
          <p:cNvSpPr/>
          <p:nvPr/>
        </p:nvSpPr>
        <p:spPr>
          <a:xfrm>
            <a:off x="4014216" y="2834640"/>
            <a:ext cx="1481328" cy="603504"/>
          </a:xfrm>
          <a:prstGeom prst="rect">
            <a:avLst/>
          </a:prstGeom>
          <a:noFill/>
          <a:ln/>
        </p:spPr>
        <p:txBody>
          <a:bodyPr wrap="square" lIns="0" tIns="0" rIns="0" bIns="0" rtlCol="0" anchor="ctr"/>
          <a:lstStyle/>
          <a:p>
            <a:pPr algn="r" indent="0" marL="0">
              <a:buNone/>
            </a:pPr>
            <a:r>
              <a:rPr lang="en-US" sz="1150" dirty="0">
                <a:solidFill>
                  <a:srgbClr val="1A1D23"/>
                </a:solidFill>
                <a:latin typeface="Calibri" pitchFamily="34" charset="0"/>
                <a:ea typeface="Calibri" pitchFamily="34" charset="-122"/>
                <a:cs typeface="Calibri" pitchFamily="34" charset="-120"/>
              </a:rPr>
              <a:t>$49,854</a:t>
            </a:r>
            <a:endParaRPr lang="en-US" sz="1150" dirty="0"/>
          </a:p>
        </p:txBody>
      </p:sp>
      <p:sp>
        <p:nvSpPr>
          <p:cNvPr id="18" name="Text 16"/>
          <p:cNvSpPr/>
          <p:nvPr/>
        </p:nvSpPr>
        <p:spPr>
          <a:xfrm>
            <a:off x="5751576" y="2834640"/>
            <a:ext cx="1481328" cy="603504"/>
          </a:xfrm>
          <a:prstGeom prst="rect">
            <a:avLst/>
          </a:prstGeom>
          <a:noFill/>
          <a:ln/>
        </p:spPr>
        <p:txBody>
          <a:bodyPr wrap="square" lIns="0" tIns="0" rIns="0" bIns="0" rtlCol="0" anchor="ctr"/>
          <a:lstStyle/>
          <a:p>
            <a:pPr algn="r" indent="0" marL="0">
              <a:buNone/>
            </a:pPr>
            <a:r>
              <a:rPr lang="en-US" sz="1300" b="1" dirty="0">
                <a:solidFill>
                  <a:srgbClr val="F5C518"/>
                </a:solidFill>
                <a:latin typeface="Calibri" pitchFamily="34" charset="0"/>
                <a:ea typeface="Calibri" pitchFamily="34" charset="-122"/>
                <a:cs typeface="Calibri" pitchFamily="34" charset="-120"/>
              </a:rPr>
              <a:t>1.9 años</a:t>
            </a:r>
            <a:endParaRPr lang="en-US" sz="1300" dirty="0"/>
          </a:p>
        </p:txBody>
      </p:sp>
      <p:sp>
        <p:nvSpPr>
          <p:cNvPr id="19" name="Shape 17"/>
          <p:cNvSpPr/>
          <p:nvPr/>
        </p:nvSpPr>
        <p:spPr>
          <a:xfrm>
            <a:off x="594360" y="3438144"/>
            <a:ext cx="6766560" cy="603504"/>
          </a:xfrm>
          <a:prstGeom prst="rect">
            <a:avLst/>
          </a:prstGeom>
          <a:solidFill>
            <a:srgbClr val="FFFFFF"/>
          </a:solidFill>
          <a:ln w="7620">
            <a:solidFill>
              <a:srgbClr val="D8DADE"/>
            </a:solidFill>
            <a:prstDash val="solid"/>
          </a:ln>
        </p:spPr>
      </p:sp>
      <p:sp>
        <p:nvSpPr>
          <p:cNvPr id="20" name="Text 18"/>
          <p:cNvSpPr/>
          <p:nvPr/>
        </p:nvSpPr>
        <p:spPr>
          <a:xfrm>
            <a:off x="722376" y="3438144"/>
            <a:ext cx="1389888" cy="603504"/>
          </a:xfrm>
          <a:prstGeom prst="rect">
            <a:avLst/>
          </a:prstGeom>
          <a:noFill/>
          <a:ln/>
        </p:spPr>
        <p:txBody>
          <a:bodyPr wrap="square" lIns="0" tIns="0" rIns="0" bIns="0" rtlCol="0" anchor="ctr"/>
          <a:lstStyle/>
          <a:p>
            <a:pPr algn="l" indent="0" marL="0">
              <a:buNone/>
            </a:pPr>
            <a:r>
              <a:rPr lang="en-US" sz="1200" b="1" dirty="0">
                <a:solidFill>
                  <a:srgbClr val="1A1D23"/>
                </a:solidFill>
                <a:latin typeface="Calibri" pitchFamily="34" charset="0"/>
                <a:ea typeface="Calibri" pitchFamily="34" charset="-122"/>
                <a:cs typeface="Calibri" pitchFamily="34" charset="-120"/>
              </a:rPr>
              <a:t>3 turnos</a:t>
            </a:r>
            <a:endParaRPr lang="en-US" sz="1200" dirty="0"/>
          </a:p>
        </p:txBody>
      </p:sp>
      <p:sp>
        <p:nvSpPr>
          <p:cNvPr id="21" name="Text 19"/>
          <p:cNvSpPr/>
          <p:nvPr/>
        </p:nvSpPr>
        <p:spPr>
          <a:xfrm>
            <a:off x="2368296" y="3438144"/>
            <a:ext cx="1389888" cy="603504"/>
          </a:xfrm>
          <a:prstGeom prst="rect">
            <a:avLst/>
          </a:prstGeom>
          <a:noFill/>
          <a:ln/>
        </p:spPr>
        <p:txBody>
          <a:bodyPr wrap="square" lIns="0" tIns="0" rIns="0" bIns="0" rtlCol="0" anchor="ctr"/>
          <a:lstStyle/>
          <a:p>
            <a:pPr algn="l" indent="0" marL="0">
              <a:buNone/>
            </a:pPr>
            <a:r>
              <a:rPr lang="en-US" sz="1100" dirty="0">
                <a:solidFill>
                  <a:srgbClr val="5B6470"/>
                </a:solidFill>
                <a:latin typeface="Calibri" pitchFamily="34" charset="0"/>
                <a:ea typeface="Calibri" pitchFamily="34" charset="-122"/>
                <a:cs typeface="Calibri" pitchFamily="34" charset="-120"/>
              </a:rPr>
              <a:t>9 operadores</a:t>
            </a:r>
            <a:endParaRPr lang="en-US" sz="1100" dirty="0"/>
          </a:p>
        </p:txBody>
      </p:sp>
      <p:sp>
        <p:nvSpPr>
          <p:cNvPr id="22" name="Text 20"/>
          <p:cNvSpPr/>
          <p:nvPr/>
        </p:nvSpPr>
        <p:spPr>
          <a:xfrm>
            <a:off x="4014216" y="3438144"/>
            <a:ext cx="1481328" cy="603504"/>
          </a:xfrm>
          <a:prstGeom prst="rect">
            <a:avLst/>
          </a:prstGeom>
          <a:noFill/>
          <a:ln/>
        </p:spPr>
        <p:txBody>
          <a:bodyPr wrap="square" lIns="0" tIns="0" rIns="0" bIns="0" rtlCol="0" anchor="ctr"/>
          <a:lstStyle/>
          <a:p>
            <a:pPr algn="r" indent="0" marL="0">
              <a:buNone/>
            </a:pPr>
            <a:r>
              <a:rPr lang="en-US" sz="1150" dirty="0">
                <a:solidFill>
                  <a:srgbClr val="1A1D23"/>
                </a:solidFill>
                <a:latin typeface="Calibri" pitchFamily="34" charset="0"/>
                <a:ea typeface="Calibri" pitchFamily="34" charset="-122"/>
                <a:cs typeface="Calibri" pitchFamily="34" charset="-120"/>
              </a:rPr>
              <a:t>$80,781</a:t>
            </a:r>
            <a:endParaRPr lang="en-US" sz="1150" dirty="0"/>
          </a:p>
        </p:txBody>
      </p:sp>
      <p:sp>
        <p:nvSpPr>
          <p:cNvPr id="23" name="Text 21"/>
          <p:cNvSpPr/>
          <p:nvPr/>
        </p:nvSpPr>
        <p:spPr>
          <a:xfrm>
            <a:off x="5751576" y="3438144"/>
            <a:ext cx="1481328" cy="603504"/>
          </a:xfrm>
          <a:prstGeom prst="rect">
            <a:avLst/>
          </a:prstGeom>
          <a:noFill/>
          <a:ln/>
        </p:spPr>
        <p:txBody>
          <a:bodyPr wrap="square" lIns="0" tIns="0" rIns="0" bIns="0" rtlCol="0" anchor="ctr"/>
          <a:lstStyle/>
          <a:p>
            <a:pPr algn="r" indent="0" marL="0">
              <a:buNone/>
            </a:pPr>
            <a:r>
              <a:rPr lang="en-US" sz="1300" b="1" dirty="0">
                <a:solidFill>
                  <a:srgbClr val="39D98A"/>
                </a:solidFill>
                <a:latin typeface="Calibri" pitchFamily="34" charset="0"/>
                <a:ea typeface="Calibri" pitchFamily="34" charset="-122"/>
                <a:cs typeface="Calibri" pitchFamily="34" charset="-120"/>
              </a:rPr>
              <a:t>1.2 años</a:t>
            </a:r>
            <a:endParaRPr lang="en-US" sz="1300" dirty="0"/>
          </a:p>
        </p:txBody>
      </p:sp>
      <p:sp>
        <p:nvSpPr>
          <p:cNvPr id="24" name="Shape 22"/>
          <p:cNvSpPr/>
          <p:nvPr/>
        </p:nvSpPr>
        <p:spPr>
          <a:xfrm>
            <a:off x="7635240" y="1828800"/>
            <a:ext cx="3931920" cy="2212848"/>
          </a:xfrm>
          <a:prstGeom prst="roundRect">
            <a:avLst>
              <a:gd name="adj" fmla="val 3719"/>
            </a:avLst>
          </a:prstGeom>
          <a:solidFill>
            <a:srgbClr val="1A1D23"/>
          </a:solidFill>
          <a:ln/>
          <a:effectLst>
            <a:outerShdw sx="100000" sy="100000" kx="0" ky="0" algn="bl" rotWithShape="0" blurRad="152400" dist="38100" dir="5400000">
              <a:srgbClr val="000000">
                <a:alpha val="28000"/>
              </a:srgbClr>
            </a:outerShdw>
          </a:effectLst>
        </p:spPr>
      </p:sp>
      <p:sp>
        <p:nvSpPr>
          <p:cNvPr id="25" name="Text 23"/>
          <p:cNvSpPr/>
          <p:nvPr/>
        </p:nvSpPr>
        <p:spPr>
          <a:xfrm>
            <a:off x="7955280" y="1993392"/>
            <a:ext cx="3291840" cy="292608"/>
          </a:xfrm>
          <a:prstGeom prst="rect">
            <a:avLst/>
          </a:prstGeom>
          <a:noFill/>
          <a:ln/>
        </p:spPr>
        <p:txBody>
          <a:bodyPr wrap="square" lIns="0" tIns="0" rIns="0" bIns="0" rtlCol="0" anchor="ctr"/>
          <a:lstStyle/>
          <a:p>
            <a:pPr indent="0" marL="0">
              <a:buNone/>
            </a:pPr>
            <a:r>
              <a:rPr lang="en-US" sz="1050" b="1" spc="120" kern="0" dirty="0">
                <a:solidFill>
                  <a:srgbClr val="F5C518"/>
                </a:solidFill>
                <a:latin typeface="Calibri" pitchFamily="34" charset="0"/>
                <a:ea typeface="Calibri" pitchFamily="34" charset="-122"/>
                <a:cs typeface="Calibri" pitchFamily="34" charset="-120"/>
              </a:rPr>
              <a:t>El mismo kit en EE.UU.</a:t>
            </a:r>
            <a:endParaRPr lang="en-US" sz="1050" dirty="0"/>
          </a:p>
        </p:txBody>
      </p:sp>
      <p:sp>
        <p:nvSpPr>
          <p:cNvPr id="26" name="Text 24"/>
          <p:cNvSpPr/>
          <p:nvPr/>
        </p:nvSpPr>
        <p:spPr>
          <a:xfrm>
            <a:off x="7955280" y="2331720"/>
            <a:ext cx="3291840" cy="548640"/>
          </a:xfrm>
          <a:prstGeom prst="rect">
            <a:avLst/>
          </a:prstGeom>
          <a:noFill/>
          <a:ln/>
        </p:spPr>
        <p:txBody>
          <a:bodyPr wrap="square" lIns="0" tIns="0" rIns="0" bIns="0" rtlCol="0" anchor="ctr"/>
          <a:lstStyle/>
          <a:p>
            <a:pPr indent="0" marL="0">
              <a:buNone/>
            </a:pPr>
            <a:r>
              <a:rPr lang="en-US" sz="3000" b="1" dirty="0">
                <a:solidFill>
                  <a:srgbClr val="ECEBE6"/>
                </a:solidFill>
                <a:latin typeface="Cambria" pitchFamily="34" charset="0"/>
                <a:ea typeface="Cambria" pitchFamily="34" charset="-122"/>
                <a:cs typeface="Cambria" pitchFamily="34" charset="-120"/>
              </a:rPr>
              <a:t>0.3 años</a:t>
            </a:r>
            <a:endParaRPr lang="en-US" sz="3000" dirty="0"/>
          </a:p>
        </p:txBody>
      </p:sp>
      <p:sp>
        <p:nvSpPr>
          <p:cNvPr id="27" name="Text 25"/>
          <p:cNvSpPr/>
          <p:nvPr/>
        </p:nvSpPr>
        <p:spPr>
          <a:xfrm>
            <a:off x="7955280" y="2944368"/>
            <a:ext cx="3291840" cy="960120"/>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Con un operador cargado a $55,000 al año, el mismo kit se paga en cuatro meses. Aquí tarda seis veces más.</a:t>
            </a:r>
            <a:endParaRPr lang="en-US" sz="1100" dirty="0"/>
          </a:p>
        </p:txBody>
      </p:sp>
      <p:sp>
        <p:nvSpPr>
          <p:cNvPr id="28" name="Text 26"/>
          <p:cNvSpPr/>
          <p:nvPr/>
        </p:nvSpPr>
        <p:spPr>
          <a:xfrm>
            <a:off x="594360" y="4343400"/>
            <a:ext cx="10972800" cy="32004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Entonces el retorno de verdad no es el salario:</a:t>
            </a:r>
            <a:endParaRPr lang="en-US" sz="1300" dirty="0"/>
          </a:p>
        </p:txBody>
      </p:sp>
      <p:sp>
        <p:nvSpPr>
          <p:cNvPr id="29" name="Shape 27"/>
          <p:cNvSpPr/>
          <p:nvPr/>
        </p:nvSpPr>
        <p:spPr>
          <a:xfrm>
            <a:off x="594360" y="4754880"/>
            <a:ext cx="3493008" cy="1600200"/>
          </a:xfrm>
          <a:prstGeom prst="roundRect">
            <a:avLst>
              <a:gd name="adj" fmla="val 5143"/>
            </a:avLst>
          </a:prstGeom>
          <a:solidFill>
            <a:srgbClr val="FFFFFF"/>
          </a:solidFill>
          <a:ln/>
          <a:effectLst>
            <a:outerShdw sx="100000" sy="100000" kx="0" ky="0" algn="bl" rotWithShape="0" blurRad="152400" dist="38100" dir="5400000">
              <a:srgbClr val="000000">
                <a:alpha val="28000"/>
              </a:srgbClr>
            </a:outerShdw>
          </a:effectLst>
        </p:spPr>
      </p:sp>
      <p:sp>
        <p:nvSpPr>
          <p:cNvPr id="30" name="Shape 28"/>
          <p:cNvSpPr/>
          <p:nvPr/>
        </p:nvSpPr>
        <p:spPr>
          <a:xfrm>
            <a:off x="868680" y="4956048"/>
            <a:ext cx="502920" cy="41148"/>
          </a:xfrm>
          <a:prstGeom prst="rect">
            <a:avLst/>
          </a:prstGeom>
          <a:solidFill>
            <a:srgbClr val="39D98A"/>
          </a:solidFill>
          <a:ln/>
        </p:spPr>
      </p:sp>
      <p:sp>
        <p:nvSpPr>
          <p:cNvPr id="31" name="Text 29"/>
          <p:cNvSpPr/>
          <p:nvPr/>
        </p:nvSpPr>
        <p:spPr>
          <a:xfrm>
            <a:off x="868680" y="5102352"/>
            <a:ext cx="2926080" cy="32004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Exactitud de inventario</a:t>
            </a:r>
            <a:endParaRPr lang="en-US" sz="1300" dirty="0"/>
          </a:p>
        </p:txBody>
      </p:sp>
      <p:sp>
        <p:nvSpPr>
          <p:cNvPr id="32" name="Text 30"/>
          <p:cNvSpPr/>
          <p:nvPr/>
        </p:nvSpPr>
        <p:spPr>
          <a:xfrm>
            <a:off x="868680" y="5458968"/>
            <a:ext cx="2926080" cy="82296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El kit registra cada movimiento solo. Hoy eso se paga con conteos cíclicos y producto perdido.</a:t>
            </a:r>
            <a:endParaRPr lang="en-US" sz="1000" dirty="0"/>
          </a:p>
        </p:txBody>
      </p:sp>
      <p:sp>
        <p:nvSpPr>
          <p:cNvPr id="33" name="Shape 31"/>
          <p:cNvSpPr/>
          <p:nvPr/>
        </p:nvSpPr>
        <p:spPr>
          <a:xfrm>
            <a:off x="4306824" y="4754880"/>
            <a:ext cx="3493008" cy="1600200"/>
          </a:xfrm>
          <a:prstGeom prst="roundRect">
            <a:avLst>
              <a:gd name="adj" fmla="val 5143"/>
            </a:avLst>
          </a:prstGeom>
          <a:solidFill>
            <a:srgbClr val="FFFFFF"/>
          </a:solidFill>
          <a:ln/>
          <a:effectLst>
            <a:outerShdw sx="100000" sy="100000" kx="0" ky="0" algn="bl" rotWithShape="0" blurRad="152400" dist="38100" dir="5400000">
              <a:srgbClr val="000000">
                <a:alpha val="28000"/>
              </a:srgbClr>
            </a:outerShdw>
          </a:effectLst>
        </p:spPr>
      </p:sp>
      <p:sp>
        <p:nvSpPr>
          <p:cNvPr id="34" name="Shape 32"/>
          <p:cNvSpPr/>
          <p:nvPr/>
        </p:nvSpPr>
        <p:spPr>
          <a:xfrm>
            <a:off x="4581144" y="4956048"/>
            <a:ext cx="502920" cy="41148"/>
          </a:xfrm>
          <a:prstGeom prst="rect">
            <a:avLst/>
          </a:prstGeom>
          <a:solidFill>
            <a:srgbClr val="F5C518"/>
          </a:solidFill>
          <a:ln/>
        </p:spPr>
      </p:sp>
      <p:sp>
        <p:nvSpPr>
          <p:cNvPr id="35" name="Text 33"/>
          <p:cNvSpPr/>
          <p:nvPr/>
        </p:nvSpPr>
        <p:spPr>
          <a:xfrm>
            <a:off x="4581144" y="5102352"/>
            <a:ext cx="2926080" cy="32004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Daño a rack y producto</a:t>
            </a:r>
            <a:endParaRPr lang="en-US" sz="1300" dirty="0"/>
          </a:p>
        </p:txBody>
      </p:sp>
      <p:sp>
        <p:nvSpPr>
          <p:cNvPr id="36" name="Text 34"/>
          <p:cNvSpPr/>
          <p:nvPr/>
        </p:nvSpPr>
        <p:spPr>
          <a:xfrm>
            <a:off x="4581144" y="5458968"/>
            <a:ext cx="2926080" cy="82296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Un pasillo de 3.17 m con un equipo que pide 3.82 m produce golpes. El kit los cuenta y los evita.</a:t>
            </a:r>
            <a:endParaRPr lang="en-US" sz="1000" dirty="0"/>
          </a:p>
        </p:txBody>
      </p:sp>
      <p:sp>
        <p:nvSpPr>
          <p:cNvPr id="37" name="Shape 35"/>
          <p:cNvSpPr/>
          <p:nvPr/>
        </p:nvSpPr>
        <p:spPr>
          <a:xfrm>
            <a:off x="8019288" y="4754880"/>
            <a:ext cx="3493008" cy="1600200"/>
          </a:xfrm>
          <a:prstGeom prst="roundRect">
            <a:avLst>
              <a:gd name="adj" fmla="val 5143"/>
            </a:avLst>
          </a:prstGeom>
          <a:solidFill>
            <a:srgbClr val="FFFFFF"/>
          </a:solidFill>
          <a:ln/>
          <a:effectLst>
            <a:outerShdw sx="100000" sy="100000" kx="0" ky="0" algn="bl" rotWithShape="0" blurRad="152400" dist="38100" dir="5400000">
              <a:srgbClr val="000000">
                <a:alpha val="28000"/>
              </a:srgbClr>
            </a:outerShdw>
          </a:effectLst>
        </p:spPr>
      </p:sp>
      <p:sp>
        <p:nvSpPr>
          <p:cNvPr id="38" name="Shape 36"/>
          <p:cNvSpPr/>
          <p:nvPr/>
        </p:nvSpPr>
        <p:spPr>
          <a:xfrm>
            <a:off x="8293608" y="4956048"/>
            <a:ext cx="502920" cy="41148"/>
          </a:xfrm>
          <a:prstGeom prst="rect">
            <a:avLst/>
          </a:prstGeom>
          <a:solidFill>
            <a:srgbClr val="37C3FF"/>
          </a:solidFill>
          <a:ln/>
        </p:spPr>
      </p:sp>
      <p:sp>
        <p:nvSpPr>
          <p:cNvPr id="39" name="Text 37"/>
          <p:cNvSpPr/>
          <p:nvPr/>
        </p:nvSpPr>
        <p:spPr>
          <a:xfrm>
            <a:off x="8293608" y="5102352"/>
            <a:ext cx="2926080" cy="320040"/>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Turnos que hoy no se cubren</a:t>
            </a:r>
            <a:endParaRPr lang="en-US" sz="1300" dirty="0"/>
          </a:p>
        </p:txBody>
      </p:sp>
      <p:sp>
        <p:nvSpPr>
          <p:cNvPr id="40" name="Text 38"/>
          <p:cNvSpPr/>
          <p:nvPr/>
        </p:nvSpPr>
        <p:spPr>
          <a:xfrm>
            <a:off x="8293608" y="5458968"/>
            <a:ext cx="2926080" cy="82296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No es reemplazar al operador del día: es poder operar la noche sin contratar a nadie.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La recomendación: empezar por la Fase 0</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No por tacañería. Porque es el que retira más riesgo por dólar.</a:t>
            </a:r>
            <a:endParaRPr lang="en-US" sz="1350" dirty="0"/>
          </a:p>
        </p:txBody>
      </p:sp>
      <p:sp>
        <p:nvSpPr>
          <p:cNvPr id="4" name="Shape 2"/>
          <p:cNvSpPr/>
          <p:nvPr/>
        </p:nvSpPr>
        <p:spPr>
          <a:xfrm>
            <a:off x="594360" y="1783080"/>
            <a:ext cx="10972800" cy="1078992"/>
          </a:xfrm>
          <a:prstGeom prst="roundRect">
            <a:avLst>
              <a:gd name="adj" fmla="val 7627"/>
            </a:avLst>
          </a:prstGeom>
          <a:solidFill>
            <a:srgbClr val="FFFFFF"/>
          </a:solidFill>
          <a:ln/>
          <a:effectLst>
            <a:outerShdw sx="100000" sy="100000" kx="0" ky="0" algn="bl" rotWithShape="0" blurRad="152400" dist="38100" dir="5400000">
              <a:srgbClr val="000000">
                <a:alpha val="28000"/>
              </a:srgbClr>
            </a:outerShdw>
          </a:effectLst>
        </p:spPr>
      </p:sp>
      <p:sp>
        <p:nvSpPr>
          <p:cNvPr id="5" name="Shape 3"/>
          <p:cNvSpPr/>
          <p:nvPr/>
        </p:nvSpPr>
        <p:spPr>
          <a:xfrm>
            <a:off x="594360" y="1783080"/>
            <a:ext cx="64008" cy="1078992"/>
          </a:xfrm>
          <a:prstGeom prst="rect">
            <a:avLst/>
          </a:prstGeom>
          <a:solidFill>
            <a:srgbClr val="39D98A"/>
          </a:solidFill>
          <a:ln/>
        </p:spPr>
      </p:sp>
      <p:sp>
        <p:nvSpPr>
          <p:cNvPr id="6" name="Text 4"/>
          <p:cNvSpPr/>
          <p:nvPr/>
        </p:nvSpPr>
        <p:spPr>
          <a:xfrm>
            <a:off x="914400" y="1929384"/>
            <a:ext cx="1033272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Prueba lo que no sabemos</a:t>
            </a:r>
            <a:endParaRPr lang="en-US" sz="1600" dirty="0"/>
          </a:p>
        </p:txBody>
      </p:sp>
      <p:sp>
        <p:nvSpPr>
          <p:cNvPr id="7" name="Text 5"/>
          <p:cNvSpPr/>
          <p:nvPr/>
        </p:nvSpPr>
        <p:spPr>
          <a:xfrm>
            <a:off x="914400" y="2331720"/>
            <a:ext cx="1033272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Si el kit se ubica en el pasillo y lee una ubicación de rack a 6 m, el proyecto vive. Eso se contesta con hardware barato.</a:t>
            </a:r>
            <a:endParaRPr lang="en-US" sz="1200" dirty="0"/>
          </a:p>
        </p:txBody>
      </p:sp>
      <p:sp>
        <p:nvSpPr>
          <p:cNvPr id="8" name="Shape 6"/>
          <p:cNvSpPr/>
          <p:nvPr/>
        </p:nvSpPr>
        <p:spPr>
          <a:xfrm>
            <a:off x="594360" y="3017520"/>
            <a:ext cx="10972800" cy="1078992"/>
          </a:xfrm>
          <a:prstGeom prst="roundRect">
            <a:avLst>
              <a:gd name="adj" fmla="val 7627"/>
            </a:avLst>
          </a:prstGeom>
          <a:solidFill>
            <a:srgbClr val="FFFFFF"/>
          </a:solidFill>
          <a:ln/>
          <a:effectLst>
            <a:outerShdw sx="100000" sy="100000" kx="0" ky="0" algn="bl" rotWithShape="0" blurRad="152400" dist="38100" dir="5400000">
              <a:srgbClr val="000000">
                <a:alpha val="28000"/>
              </a:srgbClr>
            </a:outerShdw>
          </a:effectLst>
        </p:spPr>
      </p:sp>
      <p:sp>
        <p:nvSpPr>
          <p:cNvPr id="9" name="Shape 7"/>
          <p:cNvSpPr/>
          <p:nvPr/>
        </p:nvSpPr>
        <p:spPr>
          <a:xfrm>
            <a:off x="594360" y="3017520"/>
            <a:ext cx="64008" cy="1078992"/>
          </a:xfrm>
          <a:prstGeom prst="rect">
            <a:avLst/>
          </a:prstGeom>
          <a:solidFill>
            <a:srgbClr val="37C3FF"/>
          </a:solidFill>
          <a:ln/>
        </p:spPr>
      </p:sp>
      <p:sp>
        <p:nvSpPr>
          <p:cNvPr id="10" name="Text 8"/>
          <p:cNvSpPr/>
          <p:nvPr/>
        </p:nvSpPr>
        <p:spPr>
          <a:xfrm>
            <a:off x="914400" y="3163824"/>
            <a:ext cx="1033272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No prueba lo que ya sabemos</a:t>
            </a:r>
            <a:endParaRPr lang="en-US" sz="1600" dirty="0"/>
          </a:p>
        </p:txBody>
      </p:sp>
      <p:sp>
        <p:nvSpPr>
          <p:cNvPr id="11" name="Text 9"/>
          <p:cNvSpPr/>
          <p:nvPr/>
        </p:nvSpPr>
        <p:spPr>
          <a:xfrm>
            <a:off x="914400" y="3566160"/>
            <a:ext cx="1033272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Que un sensor industrial aguanta polvo y vibración no hay que demostrarlo: viene en la hoja de datos.</a:t>
            </a:r>
            <a:endParaRPr lang="en-US" sz="1200" dirty="0"/>
          </a:p>
        </p:txBody>
      </p:sp>
      <p:sp>
        <p:nvSpPr>
          <p:cNvPr id="12" name="Shape 10"/>
          <p:cNvSpPr/>
          <p:nvPr/>
        </p:nvSpPr>
        <p:spPr>
          <a:xfrm>
            <a:off x="594360" y="4251960"/>
            <a:ext cx="10972800" cy="1078992"/>
          </a:xfrm>
          <a:prstGeom prst="roundRect">
            <a:avLst>
              <a:gd name="adj" fmla="val 7627"/>
            </a:avLst>
          </a:prstGeom>
          <a:solidFill>
            <a:srgbClr val="FFFFFF"/>
          </a:solidFill>
          <a:ln/>
          <a:effectLst>
            <a:outerShdw sx="100000" sy="100000" kx="0" ky="0" algn="bl" rotWithShape="0" blurRad="152400" dist="38100" dir="5400000">
              <a:srgbClr val="000000">
                <a:alpha val="28000"/>
              </a:srgbClr>
            </a:outerShdw>
          </a:effectLst>
        </p:spPr>
      </p:sp>
      <p:sp>
        <p:nvSpPr>
          <p:cNvPr id="13" name="Shape 11"/>
          <p:cNvSpPr/>
          <p:nvPr/>
        </p:nvSpPr>
        <p:spPr>
          <a:xfrm>
            <a:off x="594360" y="4251960"/>
            <a:ext cx="64008" cy="1078992"/>
          </a:xfrm>
          <a:prstGeom prst="rect">
            <a:avLst/>
          </a:prstGeom>
          <a:solidFill>
            <a:srgbClr val="F5C518"/>
          </a:solidFill>
          <a:ln/>
        </p:spPr>
      </p:sp>
      <p:sp>
        <p:nvSpPr>
          <p:cNvPr id="14" name="Text 12"/>
          <p:cNvSpPr/>
          <p:nvPr/>
        </p:nvSpPr>
        <p:spPr>
          <a:xfrm>
            <a:off x="914400" y="4398264"/>
            <a:ext cx="10332720" cy="365760"/>
          </a:xfrm>
          <a:prstGeom prst="rect">
            <a:avLst/>
          </a:prstGeom>
          <a:noFill/>
          <a:ln/>
        </p:spPr>
        <p:txBody>
          <a:bodyPr wrap="square" lIns="0" tIns="0" rIns="0" bIns="0" rtlCol="0" anchor="ctr"/>
          <a:lstStyle/>
          <a:p>
            <a:pPr indent="0" marL="0">
              <a:buNone/>
            </a:pPr>
            <a:r>
              <a:rPr lang="en-US" sz="1600" b="1" dirty="0">
                <a:solidFill>
                  <a:srgbClr val="1A1D23"/>
                </a:solidFill>
                <a:latin typeface="Cambria" pitchFamily="34" charset="0"/>
                <a:ea typeface="Cambria" pitchFamily="34" charset="-122"/>
                <a:cs typeface="Cambria" pitchFamily="34" charset="-120"/>
              </a:rPr>
              <a:t>Deja la decisión cara para después</a:t>
            </a:r>
            <a:endParaRPr lang="en-US" sz="1600" dirty="0"/>
          </a:p>
        </p:txBody>
      </p:sp>
      <p:sp>
        <p:nvSpPr>
          <p:cNvPr id="15" name="Text 13"/>
          <p:cNvSpPr/>
          <p:nvPr/>
        </p:nvSpPr>
        <p:spPr>
          <a:xfrm>
            <a:off x="914400" y="4800600"/>
            <a:ext cx="10332720" cy="457200"/>
          </a:xfrm>
          <a:prstGeom prst="rect">
            <a:avLst/>
          </a:prstGeom>
          <a:noFill/>
          <a:ln/>
        </p:spPr>
        <p:txBody>
          <a:bodyPr wrap="square" lIns="0" tIns="0" rIns="0" bIns="0" rtlCol="0" anchor="t"/>
          <a:lstStyle/>
          <a:p>
            <a:pPr indent="0" marL="0">
              <a:buNone/>
            </a:pPr>
            <a:r>
              <a:rPr lang="en-US" sz="1200" dirty="0">
                <a:solidFill>
                  <a:srgbClr val="5B6470"/>
                </a:solidFill>
                <a:latin typeface="Calibri" pitchFamily="34" charset="0"/>
                <a:ea typeface="Calibri" pitchFamily="34" charset="-122"/>
                <a:cs typeface="Calibri" pitchFamily="34" charset="-120"/>
              </a:rPr>
              <a:t>Los $7,000 de escáneres certificados se compran cuando haya un cliente firmado, no antes.</a:t>
            </a:r>
            <a:endParaRPr lang="en-US" sz="1200" dirty="0"/>
          </a:p>
        </p:txBody>
      </p:sp>
      <p:sp>
        <p:nvSpPr>
          <p:cNvPr id="16" name="Shape 14"/>
          <p:cNvSpPr/>
          <p:nvPr/>
        </p:nvSpPr>
        <p:spPr>
          <a:xfrm>
            <a:off x="594360" y="5486400"/>
            <a:ext cx="10972800" cy="1143000"/>
          </a:xfrm>
          <a:prstGeom prst="roundRect">
            <a:avLst>
              <a:gd name="adj" fmla="val 7200"/>
            </a:avLst>
          </a:prstGeom>
          <a:solidFill>
            <a:srgbClr val="1A1D23"/>
          </a:solidFill>
          <a:ln/>
          <a:effectLst>
            <a:outerShdw sx="100000" sy="100000" kx="0" ky="0" algn="bl" rotWithShape="0" blurRad="152400" dist="38100" dir="5400000">
              <a:srgbClr val="000000">
                <a:alpha val="28000"/>
              </a:srgbClr>
            </a:outerShdw>
          </a:effectLst>
        </p:spPr>
      </p:sp>
      <p:sp>
        <p:nvSpPr>
          <p:cNvPr id="17" name="Text 15"/>
          <p:cNvSpPr/>
          <p:nvPr/>
        </p:nvSpPr>
        <p:spPr>
          <a:xfrm>
            <a:off x="960120" y="5486400"/>
            <a:ext cx="10241280" cy="1143000"/>
          </a:xfrm>
          <a:prstGeom prst="rect">
            <a:avLst/>
          </a:prstGeom>
          <a:noFill/>
          <a:ln/>
        </p:spPr>
        <p:txBody>
          <a:bodyPr wrap="square" lIns="0" tIns="0" rIns="0" bIns="0" rtlCol="0" anchor="ctr"/>
          <a:lstStyle/>
          <a:p>
            <a:pPr indent="0" marL="0">
              <a:lnSpc>
                <a:spcPts val="2200"/>
              </a:lnSpc>
              <a:buNone/>
            </a:pPr>
            <a:r>
              <a:rPr lang="en-US" sz="1400" b="1" dirty="0">
                <a:solidFill>
                  <a:srgbClr val="F5C518"/>
                </a:solidFill>
                <a:latin typeface="Calibri" pitchFamily="34" charset="0"/>
                <a:ea typeface="Calibri" pitchFamily="34" charset="-122"/>
                <a:cs typeface="Calibri" pitchFamily="34" charset="-120"/>
              </a:rPr>
              <a:t>Y si el de $3,000 falla, perdimos $3,000.</a:t>
            </a:r>
            <a:endParaRPr lang="en-US" sz="1400" dirty="0"/>
          </a:p>
          <a:p>
            <a:pPr indent="0" marL="0">
              <a:lnSpc>
                <a:spcPts val="2200"/>
              </a:lnSpc>
              <a:buNone/>
            </a:pPr>
            <a:r>
              <a:rPr lang="en-US" sz="1400" b="1" dirty="0">
                <a:solidFill>
                  <a:srgbClr val="F5C518"/>
                </a:solidFill>
                <a:latin typeface="Calibri" pitchFamily="34" charset="0"/>
                <a:ea typeface="Calibri" pitchFamily="34" charset="-122"/>
                <a:cs typeface="Calibri" pitchFamily="34" charset="-120"/>
              </a:rPr>
              <a:t>Si hubiéramos empezado por el de $25,000, perdíamos $25,000 para aprender lo mismo.</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Por qué la seguridad no va en las dos primeras fases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No es un recorte. Es que por norma esa capa vive separada del resto del sistema</a:t>
            </a:r>
            <a:endParaRPr lang="en-US" sz="1350" dirty="0"/>
          </a:p>
        </p:txBody>
      </p:sp>
      <p:sp>
        <p:nvSpPr>
          <p:cNvPr id="4" name="Shape 2"/>
          <p:cNvSpPr/>
          <p:nvPr/>
        </p:nvSpPr>
        <p:spPr>
          <a:xfrm>
            <a:off x="594360" y="1783080"/>
            <a:ext cx="5394960" cy="2423160"/>
          </a:xfrm>
          <a:prstGeom prst="roundRect">
            <a:avLst>
              <a:gd name="adj" fmla="val 3396"/>
            </a:avLst>
          </a:prstGeom>
          <a:solidFill>
            <a:srgbClr val="FFFFFF"/>
          </a:solidFill>
          <a:ln/>
          <a:effectLst>
            <a:outerShdw sx="100000" sy="100000" kx="0" ky="0" algn="bl" rotWithShape="0" blurRad="152400" dist="38100" dir="5400000">
              <a:srgbClr val="000000">
                <a:alpha val="28000"/>
              </a:srgbClr>
            </a:outerShdw>
          </a:effectLst>
        </p:spPr>
      </p:sp>
      <p:sp>
        <p:nvSpPr>
          <p:cNvPr id="5" name="Text 3"/>
          <p:cNvSpPr/>
          <p:nvPr/>
        </p:nvSpPr>
        <p:spPr>
          <a:xfrm>
            <a:off x="914400" y="1965960"/>
            <a:ext cx="4754880" cy="274320"/>
          </a:xfrm>
          <a:prstGeom prst="rect">
            <a:avLst/>
          </a:prstGeom>
          <a:noFill/>
          <a:ln/>
        </p:spPr>
        <p:txBody>
          <a:bodyPr wrap="square" lIns="0" tIns="0" rIns="0" bIns="0" rtlCol="0" anchor="ctr"/>
          <a:lstStyle/>
          <a:p>
            <a:pPr indent="0" marL="0">
              <a:buNone/>
            </a:pPr>
            <a:r>
              <a:rPr lang="en-US" sz="1000" b="1" spc="120" kern="0" dirty="0">
                <a:solidFill>
                  <a:srgbClr val="5B6470"/>
                </a:solidFill>
                <a:latin typeface="Calibri" pitchFamily="34" charset="0"/>
                <a:ea typeface="Calibri" pitchFamily="34" charset="-122"/>
                <a:cs typeface="Calibri" pitchFamily="34" charset="-120"/>
              </a:rPr>
              <a:t>CÓMO FUNCIONA UN ESCÁNER CERTIFICADO</a:t>
            </a:r>
            <a:endParaRPr lang="en-US" sz="1000" dirty="0"/>
          </a:p>
        </p:txBody>
      </p:sp>
      <p:sp>
        <p:nvSpPr>
          <p:cNvPr id="6" name="Text 4"/>
          <p:cNvSpPr/>
          <p:nvPr/>
        </p:nvSpPr>
        <p:spPr>
          <a:xfrm>
            <a:off x="914400" y="2331720"/>
            <a:ext cx="4754880" cy="17373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D23"/>
                </a:solidFill>
                <a:latin typeface="Calibri" pitchFamily="34" charset="0"/>
                <a:ea typeface="Calibri" pitchFamily="34" charset="-122"/>
                <a:cs typeface="Calibri" pitchFamily="34" charset="-120"/>
              </a:rPr>
              <a:t>Barre un plano a 15 cm del piso y define zonas de protección y de aviso</a:t>
            </a:r>
            <a:endParaRPr lang="en-US" sz="1150" dirty="0"/>
          </a:p>
          <a:p>
            <a:pPr marL="342900" indent="-342900">
              <a:spcAft>
                <a:spcPts val="700"/>
              </a:spcAft>
              <a:buSzPct val="100000"/>
              <a:buChar char="•"/>
            </a:pPr>
            <a:r>
              <a:rPr lang="en-US" sz="1150" dirty="0">
                <a:solidFill>
                  <a:srgbClr val="1A1D23"/>
                </a:solidFill>
                <a:latin typeface="Calibri" pitchFamily="34" charset="0"/>
                <a:ea typeface="Calibri" pitchFamily="34" charset="-122"/>
                <a:cs typeface="Calibri" pitchFamily="34" charset="-120"/>
              </a:rPr>
              <a:t>Si algo entra en la zona, sus dos salidas OSSD caen en menos de 80 ms</a:t>
            </a:r>
            <a:endParaRPr lang="en-US" sz="1150" dirty="0"/>
          </a:p>
          <a:p>
            <a:pPr marL="342900" indent="-342900">
              <a:spcAft>
                <a:spcPts val="700"/>
              </a:spcAft>
              <a:buSzPct val="100000"/>
              <a:buChar char="•"/>
            </a:pPr>
            <a:r>
              <a:rPr lang="en-US" sz="1150" dirty="0">
                <a:solidFill>
                  <a:srgbClr val="1A1D23"/>
                </a:solidFill>
                <a:latin typeface="Calibri" pitchFamily="34" charset="0"/>
                <a:ea typeface="Calibri" pitchFamily="34" charset="-122"/>
                <a:cs typeface="Calibri" pitchFamily="34" charset="-120"/>
              </a:rPr>
              <a:t>Esas salidas van cableadas al relé de seguridad, que corta la tracción</a:t>
            </a:r>
            <a:endParaRPr lang="en-US" sz="1150" dirty="0"/>
          </a:p>
          <a:p>
            <a:pPr marL="342900" indent="-342900">
              <a:spcAft>
                <a:spcPts val="700"/>
              </a:spcAft>
              <a:buSzPct val="100000"/>
              <a:buChar char="•"/>
            </a:pPr>
            <a:r>
              <a:rPr lang="en-US" sz="1150" dirty="0">
                <a:solidFill>
                  <a:srgbClr val="1A1D23"/>
                </a:solidFill>
                <a:latin typeface="Calibri" pitchFamily="34" charset="0"/>
                <a:ea typeface="Calibri" pitchFamily="34" charset="-122"/>
                <a:cs typeface="Calibri" pitchFamily="34" charset="-120"/>
              </a:rPr>
              <a:t>Doble canal: una falla sola no anula la función. Se autodiagnostica.</a:t>
            </a:r>
            <a:endParaRPr lang="en-US" sz="1150" dirty="0"/>
          </a:p>
        </p:txBody>
      </p:sp>
      <p:sp>
        <p:nvSpPr>
          <p:cNvPr id="7" name="Shape 5"/>
          <p:cNvSpPr/>
          <p:nvPr/>
        </p:nvSpPr>
        <p:spPr>
          <a:xfrm>
            <a:off x="6172200" y="1783080"/>
            <a:ext cx="5394960" cy="2423160"/>
          </a:xfrm>
          <a:prstGeom prst="roundRect">
            <a:avLst>
              <a:gd name="adj" fmla="val 3396"/>
            </a:avLst>
          </a:prstGeom>
          <a:solidFill>
            <a:srgbClr val="1A1D23"/>
          </a:solidFill>
          <a:ln/>
          <a:effectLst>
            <a:outerShdw sx="100000" sy="100000" kx="0" ky="0" algn="bl" rotWithShape="0" blurRad="152400" dist="38100" dir="5400000">
              <a:srgbClr val="000000">
                <a:alpha val="28000"/>
              </a:srgbClr>
            </a:outerShdw>
          </a:effectLst>
        </p:spPr>
      </p:sp>
      <p:sp>
        <p:nvSpPr>
          <p:cNvPr id="8" name="Text 6"/>
          <p:cNvSpPr/>
          <p:nvPr/>
        </p:nvSpPr>
        <p:spPr>
          <a:xfrm>
            <a:off x="6492240" y="1965960"/>
            <a:ext cx="4754880" cy="274320"/>
          </a:xfrm>
          <a:prstGeom prst="rect">
            <a:avLst/>
          </a:prstGeom>
          <a:noFill/>
          <a:ln/>
        </p:spPr>
        <p:txBody>
          <a:bodyPr wrap="square" lIns="0" tIns="0" rIns="0" bIns="0" rtlCol="0" anchor="ctr"/>
          <a:lstStyle/>
          <a:p>
            <a:pPr indent="0" marL="0">
              <a:buNone/>
            </a:pPr>
            <a:r>
              <a:rPr lang="en-US" sz="1000" b="1" spc="120" kern="0" dirty="0">
                <a:solidFill>
                  <a:srgbClr val="F5C518"/>
                </a:solidFill>
                <a:latin typeface="Calibri" pitchFamily="34" charset="0"/>
                <a:ea typeface="Calibri" pitchFamily="34" charset="-122"/>
                <a:cs typeface="Calibri" pitchFamily="34" charset="-120"/>
              </a:rPr>
              <a:t>LO QUE NO HACE</a:t>
            </a:r>
            <a:endParaRPr lang="en-US" sz="1000" dirty="0"/>
          </a:p>
        </p:txBody>
      </p:sp>
      <p:sp>
        <p:nvSpPr>
          <p:cNvPr id="9" name="Text 7"/>
          <p:cNvSpPr/>
          <p:nvPr/>
        </p:nvSpPr>
        <p:spPr>
          <a:xfrm>
            <a:off x="6492240" y="2331720"/>
            <a:ext cx="4754880" cy="17373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ECEBE6"/>
                </a:solidFill>
                <a:latin typeface="Calibri" pitchFamily="34" charset="0"/>
                <a:ea typeface="Calibri" pitchFamily="34" charset="-122"/>
                <a:cs typeface="Calibri" pitchFamily="34" charset="-120"/>
              </a:rPr>
              <a:t>No alimenta el filtro de Kalman</a:t>
            </a:r>
            <a:endParaRPr lang="en-US" sz="1150" dirty="0"/>
          </a:p>
          <a:p>
            <a:pPr marL="342900" indent="-342900">
              <a:spcAft>
                <a:spcPts val="700"/>
              </a:spcAft>
              <a:buSzPct val="100000"/>
              <a:buChar char="•"/>
            </a:pPr>
            <a:r>
              <a:rPr lang="en-US" sz="1150" dirty="0">
                <a:solidFill>
                  <a:srgbClr val="ECEBE6"/>
                </a:solidFill>
                <a:latin typeface="Calibri" pitchFamily="34" charset="0"/>
                <a:ea typeface="Calibri" pitchFamily="34" charset="-122"/>
                <a:cs typeface="Calibri" pitchFamily="34" charset="-120"/>
              </a:rPr>
              <a:t>No participa en la localización ni en el SLAM</a:t>
            </a:r>
            <a:endParaRPr lang="en-US" sz="1150" dirty="0"/>
          </a:p>
          <a:p>
            <a:pPr marL="342900" indent="-342900">
              <a:spcAft>
                <a:spcPts val="700"/>
              </a:spcAft>
              <a:buSzPct val="100000"/>
              <a:buChar char="•"/>
            </a:pPr>
            <a:r>
              <a:rPr lang="en-US" sz="1150" dirty="0">
                <a:solidFill>
                  <a:srgbClr val="ECEBE6"/>
                </a:solidFill>
                <a:latin typeface="Calibri" pitchFamily="34" charset="0"/>
                <a:ea typeface="Calibri" pitchFamily="34" charset="-122"/>
                <a:cs typeface="Calibri" pitchFamily="34" charset="-120"/>
              </a:rPr>
              <a:t>No planifica rutas ni corrige la pose</a:t>
            </a:r>
            <a:endParaRPr lang="en-US" sz="1150" dirty="0"/>
          </a:p>
          <a:p>
            <a:pPr marL="342900" indent="-342900">
              <a:spcAft>
                <a:spcPts val="700"/>
              </a:spcAft>
              <a:buSzPct val="100000"/>
              <a:buChar char="•"/>
            </a:pPr>
            <a:r>
              <a:rPr lang="en-US" sz="1150" dirty="0">
                <a:solidFill>
                  <a:srgbClr val="ECEBE6"/>
                </a:solidFill>
                <a:latin typeface="Calibri" pitchFamily="34" charset="0"/>
                <a:ea typeface="Calibri" pitchFamily="34" charset="-122"/>
                <a:cs typeface="Calibri" pitchFamily="34" charset="-120"/>
              </a:rPr>
              <a:t>No pasa por la computadora de navegación</a:t>
            </a:r>
            <a:endParaRPr lang="en-US" sz="1150" dirty="0"/>
          </a:p>
        </p:txBody>
      </p:sp>
      <p:sp>
        <p:nvSpPr>
          <p:cNvPr id="10" name="Shape 8"/>
          <p:cNvSpPr/>
          <p:nvPr/>
        </p:nvSpPr>
        <p:spPr>
          <a:xfrm>
            <a:off x="594360" y="4434840"/>
            <a:ext cx="10972800" cy="1051560"/>
          </a:xfrm>
          <a:prstGeom prst="roundRect">
            <a:avLst>
              <a:gd name="adj" fmla="val 7826"/>
            </a:avLst>
          </a:prstGeom>
          <a:solidFill>
            <a:srgbClr val="1A1D23"/>
          </a:solidFill>
          <a:ln/>
          <a:effectLst>
            <a:outerShdw sx="100000" sy="100000" kx="0" ky="0" algn="bl" rotWithShape="0" blurRad="152400" dist="38100" dir="5400000">
              <a:srgbClr val="000000">
                <a:alpha val="28000"/>
              </a:srgbClr>
            </a:outerShdw>
          </a:effectLst>
        </p:spPr>
      </p:sp>
      <p:sp>
        <p:nvSpPr>
          <p:cNvPr id="11" name="Text 9"/>
          <p:cNvSpPr/>
          <p:nvPr/>
        </p:nvSpPr>
        <p:spPr>
          <a:xfrm>
            <a:off x="960120" y="4434840"/>
            <a:ext cx="10241280" cy="1051560"/>
          </a:xfrm>
          <a:prstGeom prst="rect">
            <a:avLst/>
          </a:prstGeom>
          <a:noFill/>
          <a:ln/>
        </p:spPr>
        <p:txBody>
          <a:bodyPr wrap="square" lIns="0" tIns="0" rIns="0" bIns="0" rtlCol="0" anchor="ctr"/>
          <a:lstStyle/>
          <a:p>
            <a:pPr indent="0" marL="0">
              <a:buNone/>
            </a:pPr>
            <a:r>
              <a:rPr lang="en-US" sz="1250" b="1" dirty="0">
                <a:solidFill>
                  <a:srgbClr val="F5C518"/>
                </a:solidFill>
                <a:latin typeface="Calibri" pitchFamily="34" charset="0"/>
                <a:ea typeface="Calibri" pitchFamily="34" charset="-122"/>
                <a:cs typeface="Calibri" pitchFamily="34" charset="-120"/>
              </a:rPr>
              <a:t>La norma exige que las dos capas estén aisladas: la salida de seguridad es certificada, el dato de navegación es sólo informativo. La computadora puede colgarse, el SLAM puede perderse, el software puede tener un bug — y la máquina se detiene igual.</a:t>
            </a:r>
            <a:endParaRPr lang="en-US" sz="1250" dirty="0"/>
          </a:p>
        </p:txBody>
      </p:sp>
      <p:sp>
        <p:nvSpPr>
          <p:cNvPr id="12" name="Text 10"/>
          <p:cNvSpPr/>
          <p:nvPr/>
        </p:nvSpPr>
        <p:spPr>
          <a:xfrm>
            <a:off x="594360" y="5669280"/>
            <a:ext cx="10972800" cy="731520"/>
          </a:xfrm>
          <a:prstGeom prst="rect">
            <a:avLst/>
          </a:prstGeom>
          <a:noFill/>
          <a:ln/>
        </p:spPr>
        <p:txBody>
          <a:bodyPr wrap="square" lIns="0" tIns="0" rIns="0" bIns="0" rtlCol="0" anchor="t"/>
          <a:lstStyle/>
          <a:p>
            <a:pPr indent="0" marL="0">
              <a:buNone/>
            </a:pPr>
            <a:r>
              <a:rPr lang="en-US" sz="1250" dirty="0">
                <a:solidFill>
                  <a:srgbClr val="1A1D23"/>
                </a:solidFill>
                <a:latin typeface="Calibri" pitchFamily="34" charset="0"/>
                <a:ea typeface="Calibri" pitchFamily="34" charset="-122"/>
                <a:cs typeface="Calibri" pitchFamily="34" charset="-120"/>
              </a:rPr>
              <a:t>Por eso se puede desarrollar el 100% de la navegación sin los escáneres y montarlos después sin tocar una sola línea de la matemática, ni un solo parámetro de sintonización. Son paro de emergencia, no percepción.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La única cosa que sí hay que decidir desde hoy</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El escáner es un accesorio, pero su zona de protección dicta a qué velocidad puede andar la máquina</a:t>
            </a:r>
            <a:endParaRPr lang="en-US" sz="1350" dirty="0"/>
          </a:p>
        </p:txBody>
      </p:sp>
      <p:sp>
        <p:nvSpPr>
          <p:cNvPr id="4" name="Shape 2"/>
          <p:cNvSpPr/>
          <p:nvPr/>
        </p:nvSpPr>
        <p:spPr>
          <a:xfrm>
            <a:off x="594360" y="1920240"/>
            <a:ext cx="6400800" cy="402336"/>
          </a:xfrm>
          <a:prstGeom prst="rect">
            <a:avLst/>
          </a:prstGeom>
          <a:solidFill>
            <a:srgbClr val="20242B"/>
          </a:solidFill>
          <a:ln w="7620">
            <a:solidFill>
              <a:srgbClr val="2C323B"/>
            </a:solidFill>
            <a:prstDash val="solid"/>
          </a:ln>
        </p:spPr>
      </p:sp>
      <p:sp>
        <p:nvSpPr>
          <p:cNvPr id="5" name="Text 3"/>
          <p:cNvSpPr/>
          <p:nvPr/>
        </p:nvSpPr>
        <p:spPr>
          <a:xfrm>
            <a:off x="722376" y="1920240"/>
            <a:ext cx="1938528" cy="402336"/>
          </a:xfrm>
          <a:prstGeom prst="rect">
            <a:avLst/>
          </a:prstGeom>
          <a:noFill/>
          <a:ln/>
        </p:spPr>
        <p:txBody>
          <a:bodyPr wrap="square" lIns="0" tIns="0" rIns="0" bIns="0" rtlCol="0" anchor="ctr"/>
          <a:lstStyle/>
          <a:p>
            <a:pPr algn="l" indent="0" marL="0">
              <a:buNone/>
            </a:pPr>
            <a:r>
              <a:rPr lang="en-US" sz="1000" b="1" dirty="0">
                <a:solidFill>
                  <a:srgbClr val="8B949E"/>
                </a:solidFill>
                <a:latin typeface="Calibri" pitchFamily="34" charset="0"/>
                <a:ea typeface="Calibri" pitchFamily="34" charset="-122"/>
                <a:cs typeface="Calibri" pitchFamily="34" charset="-120"/>
              </a:rPr>
              <a:t>VELOCIDAD</a:t>
            </a:r>
            <a:endParaRPr lang="en-US" sz="1000" dirty="0"/>
          </a:p>
        </p:txBody>
      </p:sp>
      <p:sp>
        <p:nvSpPr>
          <p:cNvPr id="6" name="Text 4"/>
          <p:cNvSpPr/>
          <p:nvPr/>
        </p:nvSpPr>
        <p:spPr>
          <a:xfrm>
            <a:off x="2916936" y="1920240"/>
            <a:ext cx="3950208" cy="402336"/>
          </a:xfrm>
          <a:prstGeom prst="rect">
            <a:avLst/>
          </a:prstGeom>
          <a:noFill/>
          <a:ln/>
        </p:spPr>
        <p:txBody>
          <a:bodyPr wrap="square" lIns="0" tIns="0" rIns="0" bIns="0" rtlCol="0" anchor="ctr"/>
          <a:lstStyle/>
          <a:p>
            <a:pPr algn="r" indent="0" marL="0">
              <a:buNone/>
            </a:pPr>
            <a:r>
              <a:rPr lang="en-US" sz="1000" b="1" dirty="0">
                <a:solidFill>
                  <a:srgbClr val="8B949E"/>
                </a:solidFill>
                <a:latin typeface="Calibri" pitchFamily="34" charset="0"/>
                <a:ea typeface="Calibri" pitchFamily="34" charset="-122"/>
                <a:cs typeface="Calibri" pitchFamily="34" charset="-120"/>
              </a:rPr>
              <a:t>ZONA DE PROTECCIÓN MÍNIMA</a:t>
            </a:r>
            <a:endParaRPr lang="en-US" sz="1000" dirty="0"/>
          </a:p>
        </p:txBody>
      </p:sp>
      <p:sp>
        <p:nvSpPr>
          <p:cNvPr id="7" name="Shape 5"/>
          <p:cNvSpPr/>
          <p:nvPr/>
        </p:nvSpPr>
        <p:spPr>
          <a:xfrm>
            <a:off x="594360" y="2322576"/>
            <a:ext cx="6400800" cy="566928"/>
          </a:xfrm>
          <a:prstGeom prst="rect">
            <a:avLst/>
          </a:prstGeom>
          <a:solidFill>
            <a:srgbClr val="1A1E25"/>
          </a:solidFill>
          <a:ln w="7620">
            <a:solidFill>
              <a:srgbClr val="2C323B"/>
            </a:solidFill>
            <a:prstDash val="solid"/>
          </a:ln>
        </p:spPr>
      </p:sp>
      <p:sp>
        <p:nvSpPr>
          <p:cNvPr id="8" name="Text 6"/>
          <p:cNvSpPr/>
          <p:nvPr/>
        </p:nvSpPr>
        <p:spPr>
          <a:xfrm>
            <a:off x="722376" y="2322576"/>
            <a:ext cx="1938528" cy="566928"/>
          </a:xfrm>
          <a:prstGeom prst="rect">
            <a:avLst/>
          </a:prstGeom>
          <a:noFill/>
          <a:ln/>
        </p:spPr>
        <p:txBody>
          <a:bodyPr wrap="square" lIns="0" tIns="0" rIns="0" bIns="0" rtlCol="0" anchor="ctr"/>
          <a:lstStyle/>
          <a:p>
            <a:pPr algn="l" indent="0" marL="0">
              <a:buNone/>
            </a:pPr>
            <a:r>
              <a:rPr lang="en-US" sz="1300" b="1" dirty="0">
                <a:solidFill>
                  <a:srgbClr val="ECEBE6"/>
                </a:solidFill>
                <a:latin typeface="Calibri" pitchFamily="34" charset="0"/>
                <a:ea typeface="Calibri" pitchFamily="34" charset="-122"/>
                <a:cs typeface="Calibri" pitchFamily="34" charset="-120"/>
              </a:rPr>
              <a:t>0.5 m/s</a:t>
            </a:r>
            <a:endParaRPr lang="en-US" sz="1300" dirty="0"/>
          </a:p>
        </p:txBody>
      </p:sp>
      <p:sp>
        <p:nvSpPr>
          <p:cNvPr id="9" name="Text 7"/>
          <p:cNvSpPr/>
          <p:nvPr/>
        </p:nvSpPr>
        <p:spPr>
          <a:xfrm>
            <a:off x="2916936" y="2322576"/>
            <a:ext cx="3950208" cy="566928"/>
          </a:xfrm>
          <a:prstGeom prst="rect">
            <a:avLst/>
          </a:prstGeom>
          <a:noFill/>
          <a:ln/>
        </p:spPr>
        <p:txBody>
          <a:bodyPr wrap="square" lIns="0" tIns="0" rIns="0" bIns="0" rtlCol="0" anchor="ctr"/>
          <a:lstStyle/>
          <a:p>
            <a:pPr algn="r" indent="0" marL="0">
              <a:buNone/>
            </a:pPr>
            <a:r>
              <a:rPr lang="en-US" sz="1400" b="1" dirty="0">
                <a:solidFill>
                  <a:srgbClr val="39D98A"/>
                </a:solidFill>
                <a:latin typeface="Calibri" pitchFamily="34" charset="0"/>
                <a:ea typeface="Calibri" pitchFamily="34" charset="-122"/>
                <a:cs typeface="Calibri" pitchFamily="34" charset="-120"/>
              </a:rPr>
              <a:t>0.33 m</a:t>
            </a:r>
            <a:endParaRPr lang="en-US" sz="1400" dirty="0"/>
          </a:p>
        </p:txBody>
      </p:sp>
      <p:sp>
        <p:nvSpPr>
          <p:cNvPr id="10" name="Shape 8"/>
          <p:cNvSpPr/>
          <p:nvPr/>
        </p:nvSpPr>
        <p:spPr>
          <a:xfrm>
            <a:off x="594360" y="2889504"/>
            <a:ext cx="6400800" cy="566928"/>
          </a:xfrm>
          <a:prstGeom prst="rect">
            <a:avLst/>
          </a:prstGeom>
          <a:solidFill>
            <a:srgbClr val="1A1E25"/>
          </a:solidFill>
          <a:ln w="7620">
            <a:solidFill>
              <a:srgbClr val="2C323B"/>
            </a:solidFill>
            <a:prstDash val="solid"/>
          </a:ln>
        </p:spPr>
      </p:sp>
      <p:sp>
        <p:nvSpPr>
          <p:cNvPr id="11" name="Text 9"/>
          <p:cNvSpPr/>
          <p:nvPr/>
        </p:nvSpPr>
        <p:spPr>
          <a:xfrm>
            <a:off x="722376" y="2889504"/>
            <a:ext cx="1938528" cy="566928"/>
          </a:xfrm>
          <a:prstGeom prst="rect">
            <a:avLst/>
          </a:prstGeom>
          <a:noFill/>
          <a:ln/>
        </p:spPr>
        <p:txBody>
          <a:bodyPr wrap="square" lIns="0" tIns="0" rIns="0" bIns="0" rtlCol="0" anchor="ctr"/>
          <a:lstStyle/>
          <a:p>
            <a:pPr algn="l" indent="0" marL="0">
              <a:buNone/>
            </a:pPr>
            <a:r>
              <a:rPr lang="en-US" sz="1300" b="1" dirty="0">
                <a:solidFill>
                  <a:srgbClr val="ECEBE6"/>
                </a:solidFill>
                <a:latin typeface="Calibri" pitchFamily="34" charset="0"/>
                <a:ea typeface="Calibri" pitchFamily="34" charset="-122"/>
                <a:cs typeface="Calibri" pitchFamily="34" charset="-120"/>
              </a:rPr>
              <a:t>1.0 m/s</a:t>
            </a:r>
            <a:endParaRPr lang="en-US" sz="1300" dirty="0"/>
          </a:p>
        </p:txBody>
      </p:sp>
      <p:sp>
        <p:nvSpPr>
          <p:cNvPr id="12" name="Text 10"/>
          <p:cNvSpPr/>
          <p:nvPr/>
        </p:nvSpPr>
        <p:spPr>
          <a:xfrm>
            <a:off x="2916936" y="2889504"/>
            <a:ext cx="3950208" cy="566928"/>
          </a:xfrm>
          <a:prstGeom prst="rect">
            <a:avLst/>
          </a:prstGeom>
          <a:noFill/>
          <a:ln/>
        </p:spPr>
        <p:txBody>
          <a:bodyPr wrap="square" lIns="0" tIns="0" rIns="0" bIns="0" rtlCol="0" anchor="ctr"/>
          <a:lstStyle/>
          <a:p>
            <a:pPr algn="r" indent="0" marL="0">
              <a:buNone/>
            </a:pPr>
            <a:r>
              <a:rPr lang="en-US" sz="1400" b="1" dirty="0">
                <a:solidFill>
                  <a:srgbClr val="39D98A"/>
                </a:solidFill>
                <a:latin typeface="Calibri" pitchFamily="34" charset="0"/>
                <a:ea typeface="Calibri" pitchFamily="34" charset="-122"/>
                <a:cs typeface="Calibri" pitchFamily="34" charset="-120"/>
              </a:rPr>
              <a:t>0.68 m</a:t>
            </a:r>
            <a:endParaRPr lang="en-US" sz="1400" dirty="0"/>
          </a:p>
        </p:txBody>
      </p:sp>
      <p:sp>
        <p:nvSpPr>
          <p:cNvPr id="13" name="Shape 11"/>
          <p:cNvSpPr/>
          <p:nvPr/>
        </p:nvSpPr>
        <p:spPr>
          <a:xfrm>
            <a:off x="594360" y="3456432"/>
            <a:ext cx="6400800" cy="566928"/>
          </a:xfrm>
          <a:prstGeom prst="rect">
            <a:avLst/>
          </a:prstGeom>
          <a:solidFill>
            <a:srgbClr val="1A1E25"/>
          </a:solidFill>
          <a:ln w="7620">
            <a:solidFill>
              <a:srgbClr val="2C323B"/>
            </a:solidFill>
            <a:prstDash val="solid"/>
          </a:ln>
        </p:spPr>
      </p:sp>
      <p:sp>
        <p:nvSpPr>
          <p:cNvPr id="14" name="Text 12"/>
          <p:cNvSpPr/>
          <p:nvPr/>
        </p:nvSpPr>
        <p:spPr>
          <a:xfrm>
            <a:off x="722376" y="3456432"/>
            <a:ext cx="1938528" cy="566928"/>
          </a:xfrm>
          <a:prstGeom prst="rect">
            <a:avLst/>
          </a:prstGeom>
          <a:noFill/>
          <a:ln/>
        </p:spPr>
        <p:txBody>
          <a:bodyPr wrap="square" lIns="0" tIns="0" rIns="0" bIns="0" rtlCol="0" anchor="ctr"/>
          <a:lstStyle/>
          <a:p>
            <a:pPr algn="l" indent="0" marL="0">
              <a:buNone/>
            </a:pPr>
            <a:r>
              <a:rPr lang="en-US" sz="1300" b="1" dirty="0">
                <a:solidFill>
                  <a:srgbClr val="ECEBE6"/>
                </a:solidFill>
                <a:latin typeface="Calibri" pitchFamily="34" charset="0"/>
                <a:ea typeface="Calibri" pitchFamily="34" charset="-122"/>
                <a:cs typeface="Calibri" pitchFamily="34" charset="-120"/>
              </a:rPr>
              <a:t>1.5 m/s</a:t>
            </a:r>
            <a:endParaRPr lang="en-US" sz="1300" dirty="0"/>
          </a:p>
        </p:txBody>
      </p:sp>
      <p:sp>
        <p:nvSpPr>
          <p:cNvPr id="15" name="Text 13"/>
          <p:cNvSpPr/>
          <p:nvPr/>
        </p:nvSpPr>
        <p:spPr>
          <a:xfrm>
            <a:off x="2916936" y="3456432"/>
            <a:ext cx="3950208" cy="566928"/>
          </a:xfrm>
          <a:prstGeom prst="rect">
            <a:avLst/>
          </a:prstGeom>
          <a:noFill/>
          <a:ln/>
        </p:spPr>
        <p:txBody>
          <a:bodyPr wrap="square" lIns="0" tIns="0" rIns="0" bIns="0" rtlCol="0" anchor="ctr"/>
          <a:lstStyle/>
          <a:p>
            <a:pPr algn="r" indent="0" marL="0">
              <a:buNone/>
            </a:pPr>
            <a:r>
              <a:rPr lang="en-US" sz="1400" b="1" dirty="0">
                <a:solidFill>
                  <a:srgbClr val="F5C518"/>
                </a:solidFill>
                <a:latin typeface="Calibri" pitchFamily="34" charset="0"/>
                <a:ea typeface="Calibri" pitchFamily="34" charset="-122"/>
                <a:cs typeface="Calibri" pitchFamily="34" charset="-120"/>
              </a:rPr>
              <a:t>1.16 m</a:t>
            </a:r>
            <a:endParaRPr lang="en-US" sz="1400" dirty="0"/>
          </a:p>
        </p:txBody>
      </p:sp>
      <p:sp>
        <p:nvSpPr>
          <p:cNvPr id="16" name="Shape 14"/>
          <p:cNvSpPr/>
          <p:nvPr/>
        </p:nvSpPr>
        <p:spPr>
          <a:xfrm>
            <a:off x="594360" y="4023360"/>
            <a:ext cx="6400800" cy="566928"/>
          </a:xfrm>
          <a:prstGeom prst="rect">
            <a:avLst/>
          </a:prstGeom>
          <a:solidFill>
            <a:srgbClr val="1A1E25"/>
          </a:solidFill>
          <a:ln w="7620">
            <a:solidFill>
              <a:srgbClr val="2C323B"/>
            </a:solidFill>
            <a:prstDash val="solid"/>
          </a:ln>
        </p:spPr>
      </p:sp>
      <p:sp>
        <p:nvSpPr>
          <p:cNvPr id="17" name="Text 15"/>
          <p:cNvSpPr/>
          <p:nvPr/>
        </p:nvSpPr>
        <p:spPr>
          <a:xfrm>
            <a:off x="722376" y="4023360"/>
            <a:ext cx="1938528" cy="566928"/>
          </a:xfrm>
          <a:prstGeom prst="rect">
            <a:avLst/>
          </a:prstGeom>
          <a:noFill/>
          <a:ln/>
        </p:spPr>
        <p:txBody>
          <a:bodyPr wrap="square" lIns="0" tIns="0" rIns="0" bIns="0" rtlCol="0" anchor="ctr"/>
          <a:lstStyle/>
          <a:p>
            <a:pPr algn="l" indent="0" marL="0">
              <a:buNone/>
            </a:pPr>
            <a:r>
              <a:rPr lang="en-US" sz="1300" b="1" dirty="0">
                <a:solidFill>
                  <a:srgbClr val="ECEBE6"/>
                </a:solidFill>
                <a:latin typeface="Calibri" pitchFamily="34" charset="0"/>
                <a:ea typeface="Calibri" pitchFamily="34" charset="-122"/>
                <a:cs typeface="Calibri" pitchFamily="34" charset="-120"/>
              </a:rPr>
              <a:t>2.0 m/s</a:t>
            </a:r>
            <a:endParaRPr lang="en-US" sz="1300" dirty="0"/>
          </a:p>
        </p:txBody>
      </p:sp>
      <p:sp>
        <p:nvSpPr>
          <p:cNvPr id="18" name="Text 16"/>
          <p:cNvSpPr/>
          <p:nvPr/>
        </p:nvSpPr>
        <p:spPr>
          <a:xfrm>
            <a:off x="2916936" y="4023360"/>
            <a:ext cx="3950208" cy="566928"/>
          </a:xfrm>
          <a:prstGeom prst="rect">
            <a:avLst/>
          </a:prstGeom>
          <a:noFill/>
          <a:ln/>
        </p:spPr>
        <p:txBody>
          <a:bodyPr wrap="square" lIns="0" tIns="0" rIns="0" bIns="0" rtlCol="0" anchor="ctr"/>
          <a:lstStyle/>
          <a:p>
            <a:pPr algn="r" indent="0" marL="0">
              <a:buNone/>
            </a:pPr>
            <a:r>
              <a:rPr lang="en-US" sz="1400" b="1" dirty="0">
                <a:solidFill>
                  <a:srgbClr val="F5C518"/>
                </a:solidFill>
                <a:latin typeface="Calibri" pitchFamily="34" charset="0"/>
                <a:ea typeface="Calibri" pitchFamily="34" charset="-122"/>
                <a:cs typeface="Calibri" pitchFamily="34" charset="-120"/>
              </a:rPr>
              <a:t>1.76 m</a:t>
            </a:r>
            <a:endParaRPr lang="en-US" sz="1400" dirty="0"/>
          </a:p>
        </p:txBody>
      </p:sp>
      <p:sp>
        <p:nvSpPr>
          <p:cNvPr id="19" name="Shape 17"/>
          <p:cNvSpPr/>
          <p:nvPr/>
        </p:nvSpPr>
        <p:spPr>
          <a:xfrm>
            <a:off x="594360" y="4590288"/>
            <a:ext cx="6400800" cy="566928"/>
          </a:xfrm>
          <a:prstGeom prst="rect">
            <a:avLst/>
          </a:prstGeom>
          <a:solidFill>
            <a:srgbClr val="1A1E25"/>
          </a:solidFill>
          <a:ln w="7620">
            <a:solidFill>
              <a:srgbClr val="2C323B"/>
            </a:solidFill>
            <a:prstDash val="solid"/>
          </a:ln>
        </p:spPr>
      </p:sp>
      <p:sp>
        <p:nvSpPr>
          <p:cNvPr id="20" name="Text 18"/>
          <p:cNvSpPr/>
          <p:nvPr/>
        </p:nvSpPr>
        <p:spPr>
          <a:xfrm>
            <a:off x="722376" y="4590288"/>
            <a:ext cx="1938528" cy="566928"/>
          </a:xfrm>
          <a:prstGeom prst="rect">
            <a:avLst/>
          </a:prstGeom>
          <a:noFill/>
          <a:ln/>
        </p:spPr>
        <p:txBody>
          <a:bodyPr wrap="square" lIns="0" tIns="0" rIns="0" bIns="0" rtlCol="0" anchor="ctr"/>
          <a:lstStyle/>
          <a:p>
            <a:pPr algn="l" indent="0" marL="0">
              <a:buNone/>
            </a:pPr>
            <a:r>
              <a:rPr lang="en-US" sz="1300" b="1" dirty="0">
                <a:solidFill>
                  <a:srgbClr val="ECEBE6"/>
                </a:solidFill>
                <a:latin typeface="Calibri" pitchFamily="34" charset="0"/>
                <a:ea typeface="Calibri" pitchFamily="34" charset="-122"/>
                <a:cs typeface="Calibri" pitchFamily="34" charset="-120"/>
              </a:rPr>
              <a:t>3.3 m/s</a:t>
            </a:r>
            <a:endParaRPr lang="en-US" sz="1300" dirty="0"/>
          </a:p>
        </p:txBody>
      </p:sp>
      <p:sp>
        <p:nvSpPr>
          <p:cNvPr id="21" name="Text 19"/>
          <p:cNvSpPr/>
          <p:nvPr/>
        </p:nvSpPr>
        <p:spPr>
          <a:xfrm>
            <a:off x="2916936" y="4590288"/>
            <a:ext cx="3950208" cy="566928"/>
          </a:xfrm>
          <a:prstGeom prst="rect">
            <a:avLst/>
          </a:prstGeom>
          <a:noFill/>
          <a:ln/>
        </p:spPr>
        <p:txBody>
          <a:bodyPr wrap="square" lIns="0" tIns="0" rIns="0" bIns="0" rtlCol="0" anchor="ctr"/>
          <a:lstStyle/>
          <a:p>
            <a:pPr algn="r" indent="0" marL="0">
              <a:buNone/>
            </a:pPr>
            <a:r>
              <a:rPr lang="en-US" sz="1400" b="1" dirty="0">
                <a:solidFill>
                  <a:srgbClr val="FF5A52"/>
                </a:solidFill>
                <a:latin typeface="Calibri" pitchFamily="34" charset="0"/>
                <a:ea typeface="Calibri" pitchFamily="34" charset="-122"/>
                <a:cs typeface="Calibri" pitchFamily="34" charset="-120"/>
              </a:rPr>
              <a:t>3.91 m</a:t>
            </a:r>
            <a:endParaRPr lang="en-US" sz="1400" dirty="0"/>
          </a:p>
        </p:txBody>
      </p:sp>
      <p:sp>
        <p:nvSpPr>
          <p:cNvPr id="22" name="Shape 20"/>
          <p:cNvSpPr/>
          <p:nvPr/>
        </p:nvSpPr>
        <p:spPr>
          <a:xfrm>
            <a:off x="7360920" y="1920240"/>
            <a:ext cx="4206240" cy="3364992"/>
          </a:xfrm>
          <a:prstGeom prst="roundRect">
            <a:avLst>
              <a:gd name="adj" fmla="val 2446"/>
            </a:avLst>
          </a:prstGeom>
          <a:solidFill>
            <a:srgbClr val="20242B"/>
          </a:solidFill>
          <a:ln/>
          <a:effectLst>
            <a:outerShdw sx="100000" sy="100000" kx="0" ky="0" algn="bl" rotWithShape="0" blurRad="152400" dist="38100" dir="5400000">
              <a:srgbClr val="000000">
                <a:alpha val="28000"/>
              </a:srgbClr>
            </a:outerShdw>
          </a:effectLst>
        </p:spPr>
      </p:sp>
      <p:sp>
        <p:nvSpPr>
          <p:cNvPr id="23" name="Text 21"/>
          <p:cNvSpPr/>
          <p:nvPr/>
        </p:nvSpPr>
        <p:spPr>
          <a:xfrm>
            <a:off x="7680960" y="2121408"/>
            <a:ext cx="3566160" cy="274320"/>
          </a:xfrm>
          <a:prstGeom prst="rect">
            <a:avLst/>
          </a:prstGeom>
          <a:noFill/>
          <a:ln/>
        </p:spPr>
        <p:txBody>
          <a:bodyPr wrap="square" lIns="0" tIns="0" rIns="0" bIns="0" rtlCol="0" anchor="ctr"/>
          <a:lstStyle/>
          <a:p>
            <a:pPr indent="0" marL="0">
              <a:buNone/>
            </a:pPr>
            <a:r>
              <a:rPr lang="en-US" sz="1050" b="1" spc="120" kern="0" dirty="0">
                <a:solidFill>
                  <a:srgbClr val="F5C518"/>
                </a:solidFill>
                <a:latin typeface="Calibri" pitchFamily="34" charset="0"/>
                <a:ea typeface="Calibri" pitchFamily="34" charset="-122"/>
                <a:cs typeface="Calibri" pitchFamily="34" charset="-120"/>
              </a:rPr>
              <a:t>El tope físico</a:t>
            </a:r>
            <a:endParaRPr lang="en-US" sz="1050" dirty="0"/>
          </a:p>
        </p:txBody>
      </p:sp>
      <p:sp>
        <p:nvSpPr>
          <p:cNvPr id="24" name="Text 22"/>
          <p:cNvSpPr/>
          <p:nvPr/>
        </p:nvSpPr>
        <p:spPr>
          <a:xfrm>
            <a:off x="7680960" y="2487168"/>
            <a:ext cx="3566160" cy="1005840"/>
          </a:xfrm>
          <a:prstGeom prst="rect">
            <a:avLst/>
          </a:prstGeom>
          <a:noFill/>
          <a:ln/>
        </p:spPr>
        <p:txBody>
          <a:bodyPr wrap="square" lIns="0" tIns="0" rIns="0" bIns="0" rtlCol="0" anchor="t"/>
          <a:lstStyle/>
          <a:p>
            <a:pPr indent="0" marL="0">
              <a:buNone/>
            </a:pPr>
            <a:r>
              <a:rPr lang="en-US" sz="1200" dirty="0">
                <a:solidFill>
                  <a:srgbClr val="ECEBE6"/>
                </a:solidFill>
                <a:latin typeface="Calibri" pitchFamily="34" charset="0"/>
                <a:ea typeface="Calibri" pitchFamily="34" charset="-122"/>
                <a:cs typeface="Calibri" pitchFamily="34" charset="-120"/>
              </a:rPr>
              <a:t>A 3.3 m/s la zona de protección tendría que medir 3.91 m — más de lo que mide de ancho el pasillo actual.</a:t>
            </a:r>
            <a:endParaRPr lang="en-US" sz="1200" dirty="0"/>
          </a:p>
        </p:txBody>
      </p:sp>
      <p:sp>
        <p:nvSpPr>
          <p:cNvPr id="25" name="Text 23"/>
          <p:cNvSpPr/>
          <p:nvPr/>
        </p:nvSpPr>
        <p:spPr>
          <a:xfrm>
            <a:off x="7680960" y="3520440"/>
            <a:ext cx="3566160" cy="109728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Por eso ningún montacargas autónomo del mundo anda a velocidad de catálogo bajo techo. Todos operan entre 1 y 1.5 m/s.</a:t>
            </a:r>
            <a:endParaRPr lang="en-US" sz="1200" dirty="0"/>
          </a:p>
        </p:txBody>
      </p:sp>
      <p:sp>
        <p:nvSpPr>
          <p:cNvPr id="26" name="Text 24"/>
          <p:cNvSpPr/>
          <p:nvPr/>
        </p:nvSpPr>
        <p:spPr>
          <a:xfrm>
            <a:off x="7680960" y="4663440"/>
            <a:ext cx="3566160" cy="457200"/>
          </a:xfrm>
          <a:prstGeom prst="rect">
            <a:avLst/>
          </a:prstGeom>
          <a:noFill/>
          <a:ln/>
        </p:spPr>
        <p:txBody>
          <a:bodyPr wrap="square" lIns="0" tIns="0" rIns="0" bIns="0" rtlCol="0" anchor="t"/>
          <a:lstStyle/>
          <a:p>
            <a:pPr indent="0" marL="0">
              <a:buNone/>
            </a:pPr>
            <a:r>
              <a:rPr lang="en-US" sz="1300" b="1" dirty="0">
                <a:solidFill>
                  <a:srgbClr val="39D98A"/>
                </a:solidFill>
                <a:latin typeface="Calibri" pitchFamily="34" charset="0"/>
                <a:ea typeface="Calibri" pitchFamily="34" charset="-122"/>
                <a:cs typeface="Calibri" pitchFamily="34" charset="-120"/>
              </a:rPr>
              <a:t>Diseñamos para 1.5 m/s desde la Fase 0.</a:t>
            </a:r>
            <a:endParaRPr lang="en-US" sz="1300" dirty="0"/>
          </a:p>
        </p:txBody>
      </p:sp>
      <p:sp>
        <p:nvSpPr>
          <p:cNvPr id="27" name="Shape 25"/>
          <p:cNvSpPr/>
          <p:nvPr/>
        </p:nvSpPr>
        <p:spPr>
          <a:xfrm>
            <a:off x="594360" y="5486400"/>
            <a:ext cx="10972800" cy="1051560"/>
          </a:xfrm>
          <a:prstGeom prst="roundRect">
            <a:avLst>
              <a:gd name="adj" fmla="val 7826"/>
            </a:avLst>
          </a:prstGeom>
          <a:solidFill>
            <a:srgbClr val="20242B"/>
          </a:solidFill>
          <a:ln/>
          <a:effectLst>
            <a:outerShdw sx="100000" sy="100000" kx="0" ky="0" algn="bl" rotWithShape="0" blurRad="152400" dist="38100" dir="5400000">
              <a:srgbClr val="000000">
                <a:alpha val="28000"/>
              </a:srgbClr>
            </a:outerShdw>
          </a:effectLst>
        </p:spPr>
      </p:sp>
      <p:sp>
        <p:nvSpPr>
          <p:cNvPr id="28" name="Text 26"/>
          <p:cNvSpPr/>
          <p:nvPr/>
        </p:nvSpPr>
        <p:spPr>
          <a:xfrm>
            <a:off x="960120" y="5486400"/>
            <a:ext cx="10241280" cy="1051560"/>
          </a:xfrm>
          <a:prstGeom prst="rect">
            <a:avLst/>
          </a:prstGeom>
          <a:noFill/>
          <a:ln/>
        </p:spPr>
        <p:txBody>
          <a:bodyPr wrap="square" lIns="0" tIns="0" rIns="0" bIns="0" rtlCol="0" anchor="ctr"/>
          <a:lstStyle/>
          <a:p>
            <a:pPr indent="0" marL="0">
              <a:buNone/>
            </a:pPr>
            <a:r>
              <a:rPr lang="en-US" sz="1250" b="1" dirty="0">
                <a:solidFill>
                  <a:srgbClr val="F5C518"/>
                </a:solidFill>
                <a:latin typeface="Calibri" pitchFamily="34" charset="0"/>
                <a:ea typeface="Calibri" pitchFamily="34" charset="-122"/>
                <a:cs typeface="Calibri" pitchFamily="34" charset="-120"/>
              </a:rPr>
              <a:t>Reacción total 330 ms: 80 del escáner, 50 del controlador y del contactor, 200 de respuesta del freno. Más la distancia de frenado. Si fijamos hoy el sobre de velocidad, el escáner de la Fase 2 entra sin rediseñar nada.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Menos hardware, más software</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Es la lección que nos dejó el proyecto de graduación, y es también dónde está el negocio</a:t>
            </a:r>
            <a:endParaRPr lang="en-US" sz="1350" dirty="0"/>
          </a:p>
        </p:txBody>
      </p:sp>
      <p:sp>
        <p:nvSpPr>
          <p:cNvPr id="4" name="Shape 2"/>
          <p:cNvSpPr/>
          <p:nvPr/>
        </p:nvSpPr>
        <p:spPr>
          <a:xfrm>
            <a:off x="594360" y="1783080"/>
            <a:ext cx="10972800" cy="1234440"/>
          </a:xfrm>
          <a:prstGeom prst="roundRect">
            <a:avLst>
              <a:gd name="adj" fmla="val 6667"/>
            </a:avLst>
          </a:prstGeom>
          <a:solidFill>
            <a:srgbClr val="1A1D23"/>
          </a:solidFill>
          <a:ln/>
          <a:effectLst>
            <a:outerShdw sx="100000" sy="100000" kx="0" ky="0" algn="bl" rotWithShape="0" blurRad="152400" dist="38100" dir="5400000">
              <a:srgbClr val="000000">
                <a:alpha val="28000"/>
              </a:srgbClr>
            </a:outerShdw>
          </a:effectLst>
        </p:spPr>
      </p:sp>
      <p:sp>
        <p:nvSpPr>
          <p:cNvPr id="5" name="Text 3"/>
          <p:cNvSpPr/>
          <p:nvPr/>
        </p:nvSpPr>
        <p:spPr>
          <a:xfrm>
            <a:off x="1005840" y="1920240"/>
            <a:ext cx="10149840" cy="457200"/>
          </a:xfrm>
          <a:prstGeom prst="rect">
            <a:avLst/>
          </a:prstGeom>
          <a:noFill/>
          <a:ln/>
        </p:spPr>
        <p:txBody>
          <a:bodyPr wrap="square" lIns="0" tIns="0" rIns="0" bIns="0" rtlCol="0" anchor="ctr"/>
          <a:lstStyle/>
          <a:p>
            <a:pPr indent="0" marL="0">
              <a:buNone/>
            </a:pPr>
            <a:r>
              <a:rPr lang="en-US" sz="1800" b="1" i="1" dirty="0">
                <a:solidFill>
                  <a:srgbClr val="F5C518"/>
                </a:solidFill>
                <a:latin typeface="Cambria" pitchFamily="34" charset="0"/>
                <a:ea typeface="Cambria" pitchFamily="34" charset="-122"/>
                <a:cs typeface="Cambria" pitchFamily="34" charset="-120"/>
              </a:rPr>
              <a:t>"No lo necesitan. Menos hardware, más software."</a:t>
            </a:r>
            <a:endParaRPr lang="en-US" sz="1800" dirty="0"/>
          </a:p>
        </p:txBody>
      </p:sp>
      <p:sp>
        <p:nvSpPr>
          <p:cNvPr id="6" name="Text 4"/>
          <p:cNvSpPr/>
          <p:nvPr/>
        </p:nvSpPr>
        <p:spPr>
          <a:xfrm>
            <a:off x="1005840" y="2395728"/>
            <a:ext cx="10149840" cy="54864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Lo dijo el profesor cuando el equipo quería agregarle otra cámara al robot. Salió adelante con una Jetson de $250 sobre un PuzzleBot. Lo que se pide aquí es hardware sustancialmente mejor que aquello.</a:t>
            </a:r>
            <a:endParaRPr lang="en-US" sz="1200" dirty="0"/>
          </a:p>
        </p:txBody>
      </p:sp>
      <p:sp>
        <p:nvSpPr>
          <p:cNvPr id="7" name="Shape 5"/>
          <p:cNvSpPr/>
          <p:nvPr/>
        </p:nvSpPr>
        <p:spPr>
          <a:xfrm>
            <a:off x="594360" y="3246120"/>
            <a:ext cx="3493008" cy="2148840"/>
          </a:xfrm>
          <a:prstGeom prst="roundRect">
            <a:avLst>
              <a:gd name="adj" fmla="val 3830"/>
            </a:avLst>
          </a:prstGeom>
          <a:solidFill>
            <a:srgbClr val="FFFFFF"/>
          </a:solidFill>
          <a:ln/>
          <a:effectLst>
            <a:outerShdw sx="100000" sy="100000" kx="0" ky="0" algn="bl" rotWithShape="0" blurRad="152400" dist="38100" dir="5400000">
              <a:srgbClr val="000000">
                <a:alpha val="28000"/>
              </a:srgbClr>
            </a:outerShdw>
          </a:effectLst>
        </p:spPr>
      </p:sp>
      <p:sp>
        <p:nvSpPr>
          <p:cNvPr id="8" name="Shape 6"/>
          <p:cNvSpPr/>
          <p:nvPr/>
        </p:nvSpPr>
        <p:spPr>
          <a:xfrm>
            <a:off x="886968" y="3474720"/>
            <a:ext cx="548640" cy="41148"/>
          </a:xfrm>
          <a:prstGeom prst="rect">
            <a:avLst/>
          </a:prstGeom>
          <a:solidFill>
            <a:srgbClr val="37C3FF"/>
          </a:solidFill>
          <a:ln/>
        </p:spPr>
      </p:sp>
      <p:sp>
        <p:nvSpPr>
          <p:cNvPr id="9" name="Text 7"/>
          <p:cNvSpPr/>
          <p:nvPr/>
        </p:nvSpPr>
        <p:spPr>
          <a:xfrm>
            <a:off x="886968" y="3639312"/>
            <a:ext cx="2926080" cy="640080"/>
          </a:xfrm>
          <a:prstGeom prst="rect">
            <a:avLst/>
          </a:prstGeom>
          <a:noFill/>
          <a:ln/>
        </p:spPr>
        <p:txBody>
          <a:bodyPr wrap="square" lIns="0" tIns="0" rIns="0" bIns="0" rtlCol="0" anchor="t"/>
          <a:lstStyle/>
          <a:p>
            <a:pPr indent="0" marL="0">
              <a:buNone/>
            </a:pPr>
            <a:r>
              <a:rPr lang="en-US" sz="1500" b="1" dirty="0">
                <a:solidFill>
                  <a:srgbClr val="1A1D23"/>
                </a:solidFill>
                <a:latin typeface="Cambria" pitchFamily="34" charset="0"/>
                <a:ea typeface="Cambria" pitchFamily="34" charset="-122"/>
                <a:cs typeface="Cambria" pitchFamily="34" charset="-120"/>
              </a:rPr>
              <a:t>El hardware pone el techo</a:t>
            </a:r>
            <a:endParaRPr lang="en-US" sz="1500" dirty="0"/>
          </a:p>
        </p:txBody>
      </p:sp>
      <p:sp>
        <p:nvSpPr>
          <p:cNvPr id="10" name="Text 8"/>
          <p:cNvSpPr/>
          <p:nvPr/>
        </p:nvSpPr>
        <p:spPr>
          <a:xfrm>
            <a:off x="886968" y="4315968"/>
            <a:ext cx="2926080" cy="96012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El software decide cuánto de ese techo alcanzás. Los proyectos de robótica no fracasan por sensores baratos: fracasan por software flojo.</a:t>
            </a:r>
            <a:endParaRPr lang="en-US" sz="1100" dirty="0"/>
          </a:p>
        </p:txBody>
      </p:sp>
      <p:sp>
        <p:nvSpPr>
          <p:cNvPr id="11" name="Shape 9"/>
          <p:cNvSpPr/>
          <p:nvPr/>
        </p:nvSpPr>
        <p:spPr>
          <a:xfrm>
            <a:off x="4306824" y="3246120"/>
            <a:ext cx="3493008" cy="2148840"/>
          </a:xfrm>
          <a:prstGeom prst="roundRect">
            <a:avLst>
              <a:gd name="adj" fmla="val 3830"/>
            </a:avLst>
          </a:prstGeom>
          <a:solidFill>
            <a:srgbClr val="FFFFFF"/>
          </a:solidFill>
          <a:ln/>
          <a:effectLst>
            <a:outerShdw sx="100000" sy="100000" kx="0" ky="0" algn="bl" rotWithShape="0" blurRad="152400" dist="38100" dir="5400000">
              <a:srgbClr val="000000">
                <a:alpha val="28000"/>
              </a:srgbClr>
            </a:outerShdw>
          </a:effectLst>
        </p:spPr>
      </p:sp>
      <p:sp>
        <p:nvSpPr>
          <p:cNvPr id="12" name="Shape 10"/>
          <p:cNvSpPr/>
          <p:nvPr/>
        </p:nvSpPr>
        <p:spPr>
          <a:xfrm>
            <a:off x="4599432" y="3474720"/>
            <a:ext cx="548640" cy="41148"/>
          </a:xfrm>
          <a:prstGeom prst="rect">
            <a:avLst/>
          </a:prstGeom>
          <a:solidFill>
            <a:srgbClr val="F5C518"/>
          </a:solidFill>
          <a:ln/>
        </p:spPr>
      </p:sp>
      <p:sp>
        <p:nvSpPr>
          <p:cNvPr id="13" name="Text 11"/>
          <p:cNvSpPr/>
          <p:nvPr/>
        </p:nvSpPr>
        <p:spPr>
          <a:xfrm>
            <a:off x="4599432" y="3639312"/>
            <a:ext cx="2926080" cy="640080"/>
          </a:xfrm>
          <a:prstGeom prst="rect">
            <a:avLst/>
          </a:prstGeom>
          <a:noFill/>
          <a:ln/>
        </p:spPr>
        <p:txBody>
          <a:bodyPr wrap="square" lIns="0" tIns="0" rIns="0" bIns="0" rtlCol="0" anchor="t"/>
          <a:lstStyle/>
          <a:p>
            <a:pPr indent="0" marL="0">
              <a:buNone/>
            </a:pPr>
            <a:r>
              <a:rPr lang="en-US" sz="1500" b="1" dirty="0">
                <a:solidFill>
                  <a:srgbClr val="1A1D23"/>
                </a:solidFill>
                <a:latin typeface="Cambria" pitchFamily="34" charset="0"/>
                <a:ea typeface="Cambria" pitchFamily="34" charset="-122"/>
                <a:cs typeface="Cambria" pitchFamily="34" charset="-120"/>
              </a:rPr>
              <a:t>Cada sensor es un modo de falla</a:t>
            </a:r>
            <a:endParaRPr lang="en-US" sz="1500" dirty="0"/>
          </a:p>
        </p:txBody>
      </p:sp>
      <p:sp>
        <p:nvSpPr>
          <p:cNvPr id="14" name="Text 12"/>
          <p:cNvSpPr/>
          <p:nvPr/>
        </p:nvSpPr>
        <p:spPr>
          <a:xfrm>
            <a:off x="4599432" y="4315968"/>
            <a:ext cx="2926080" cy="96012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Una calibración más, un cable más, una superficie más que se ensucia. Menos piezas es más confiable, no menos capaz.</a:t>
            </a:r>
            <a:endParaRPr lang="en-US" sz="1100" dirty="0"/>
          </a:p>
        </p:txBody>
      </p:sp>
      <p:sp>
        <p:nvSpPr>
          <p:cNvPr id="15" name="Shape 13"/>
          <p:cNvSpPr/>
          <p:nvPr/>
        </p:nvSpPr>
        <p:spPr>
          <a:xfrm>
            <a:off x="8019288" y="3246120"/>
            <a:ext cx="3493008" cy="2148840"/>
          </a:xfrm>
          <a:prstGeom prst="roundRect">
            <a:avLst>
              <a:gd name="adj" fmla="val 3830"/>
            </a:avLst>
          </a:prstGeom>
          <a:solidFill>
            <a:srgbClr val="FFFFFF"/>
          </a:solidFill>
          <a:ln/>
          <a:effectLst>
            <a:outerShdw sx="100000" sy="100000" kx="0" ky="0" algn="bl" rotWithShape="0" blurRad="152400" dist="38100" dir="5400000">
              <a:srgbClr val="000000">
                <a:alpha val="28000"/>
              </a:srgbClr>
            </a:outerShdw>
          </a:effectLst>
        </p:spPr>
      </p:sp>
      <p:sp>
        <p:nvSpPr>
          <p:cNvPr id="16" name="Shape 14"/>
          <p:cNvSpPr/>
          <p:nvPr/>
        </p:nvSpPr>
        <p:spPr>
          <a:xfrm>
            <a:off x="8311896" y="3474720"/>
            <a:ext cx="548640" cy="41148"/>
          </a:xfrm>
          <a:prstGeom prst="rect">
            <a:avLst/>
          </a:prstGeom>
          <a:solidFill>
            <a:srgbClr val="39D98A"/>
          </a:solidFill>
          <a:ln/>
        </p:spPr>
      </p:sp>
      <p:sp>
        <p:nvSpPr>
          <p:cNvPr id="17" name="Text 15"/>
          <p:cNvSpPr/>
          <p:nvPr/>
        </p:nvSpPr>
        <p:spPr>
          <a:xfrm>
            <a:off x="8311896" y="3639312"/>
            <a:ext cx="2926080" cy="640080"/>
          </a:xfrm>
          <a:prstGeom prst="rect">
            <a:avLst/>
          </a:prstGeom>
          <a:noFill/>
          <a:ln/>
        </p:spPr>
        <p:txBody>
          <a:bodyPr wrap="square" lIns="0" tIns="0" rIns="0" bIns="0" rtlCol="0" anchor="t"/>
          <a:lstStyle/>
          <a:p>
            <a:pPr indent="0" marL="0">
              <a:buNone/>
            </a:pPr>
            <a:r>
              <a:rPr lang="en-US" sz="1500" b="1" dirty="0">
                <a:solidFill>
                  <a:srgbClr val="1A1D23"/>
                </a:solidFill>
                <a:latin typeface="Cambria" pitchFamily="34" charset="0"/>
                <a:ea typeface="Cambria" pitchFamily="34" charset="-122"/>
                <a:cs typeface="Cambria" pitchFamily="34" charset="-120"/>
              </a:rPr>
              <a:t>El sensor es commodity</a:t>
            </a:r>
            <a:endParaRPr lang="en-US" sz="1500" dirty="0"/>
          </a:p>
        </p:txBody>
      </p:sp>
      <p:sp>
        <p:nvSpPr>
          <p:cNvPr id="18" name="Text 16"/>
          <p:cNvSpPr/>
          <p:nvPr/>
        </p:nvSpPr>
        <p:spPr>
          <a:xfrm>
            <a:off x="8311896" y="4315968"/>
            <a:ext cx="2926080" cy="96012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Cualquiera compra un LiDAR. Lo que Montasa sería dueña es del software que lo hace funcionar en pasillos de 3.17 m con maxicubos.</a:t>
            </a:r>
            <a:endParaRPr lang="en-US" sz="1100" dirty="0"/>
          </a:p>
        </p:txBody>
      </p:sp>
      <p:sp>
        <p:nvSpPr>
          <p:cNvPr id="19" name="Shape 17"/>
          <p:cNvSpPr/>
          <p:nvPr/>
        </p:nvSpPr>
        <p:spPr>
          <a:xfrm>
            <a:off x="594360" y="5623560"/>
            <a:ext cx="10972800" cy="960120"/>
          </a:xfrm>
          <a:prstGeom prst="roundRect">
            <a:avLst>
              <a:gd name="adj" fmla="val 8571"/>
            </a:avLst>
          </a:prstGeom>
          <a:solidFill>
            <a:srgbClr val="1A1D23"/>
          </a:solidFill>
          <a:ln/>
          <a:effectLst>
            <a:outerShdw sx="100000" sy="100000" kx="0" ky="0" algn="bl" rotWithShape="0" blurRad="152400" dist="38100" dir="5400000">
              <a:srgbClr val="000000">
                <a:alpha val="28000"/>
              </a:srgbClr>
            </a:outerShdw>
          </a:effectLst>
        </p:spPr>
      </p:sp>
      <p:sp>
        <p:nvSpPr>
          <p:cNvPr id="20" name="Text 18"/>
          <p:cNvSpPr/>
          <p:nvPr/>
        </p:nvSpPr>
        <p:spPr>
          <a:xfrm>
            <a:off x="960120" y="5623560"/>
            <a:ext cx="10241280" cy="960120"/>
          </a:xfrm>
          <a:prstGeom prst="rect">
            <a:avLst/>
          </a:prstGeom>
          <a:noFill/>
          <a:ln/>
        </p:spPr>
        <p:txBody>
          <a:bodyPr wrap="square" lIns="0" tIns="0" rIns="0" bIns="0" rtlCol="0" anchor="ctr"/>
          <a:lstStyle/>
          <a:p>
            <a:pPr indent="0" marL="0">
              <a:buNone/>
            </a:pPr>
            <a:r>
              <a:rPr lang="en-US" sz="1350" b="1" dirty="0">
                <a:solidFill>
                  <a:srgbClr val="F5C518"/>
                </a:solidFill>
                <a:latin typeface="Calibri" pitchFamily="34" charset="0"/>
                <a:ea typeface="Calibri" pitchFamily="34" charset="-122"/>
                <a:cs typeface="Calibri" pitchFamily="34" charset="-120"/>
              </a:rPr>
              <a:t>Con aquel hardware alcanzó. Con este, la pregunta ya no es si el hardware da — es si el software da. Y esa pregunta se responde con $3,000, no con $25,000.</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Qué lleva la Fase 0 · Validación</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25 componentes. El LiDAR es el 25% del presupuesto, y va completo.</a:t>
            </a:r>
            <a:endParaRPr lang="en-US" sz="1350" dirty="0"/>
          </a:p>
        </p:txBody>
      </p:sp>
      <p:sp>
        <p:nvSpPr>
          <p:cNvPr id="4" name="Shape 2"/>
          <p:cNvSpPr/>
          <p:nvPr/>
        </p:nvSpPr>
        <p:spPr>
          <a:xfrm>
            <a:off x="594360" y="1828800"/>
            <a:ext cx="10972800" cy="402336"/>
          </a:xfrm>
          <a:prstGeom prst="rect">
            <a:avLst/>
          </a:prstGeom>
          <a:solidFill>
            <a:srgbClr val="E7E9EC"/>
          </a:solidFill>
          <a:ln w="7620">
            <a:solidFill>
              <a:srgbClr val="D8DADE"/>
            </a:solidFill>
            <a:prstDash val="solid"/>
          </a:ln>
        </p:spPr>
      </p:sp>
      <p:sp>
        <p:nvSpPr>
          <p:cNvPr id="5" name="Text 3"/>
          <p:cNvSpPr/>
          <p:nvPr/>
        </p:nvSpPr>
        <p:spPr>
          <a:xfrm>
            <a:off x="722376" y="1828800"/>
            <a:ext cx="1847088" cy="402336"/>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MÓDULO</a:t>
            </a:r>
            <a:endParaRPr lang="en-US" sz="1000" dirty="0"/>
          </a:p>
        </p:txBody>
      </p:sp>
      <p:sp>
        <p:nvSpPr>
          <p:cNvPr id="6" name="Text 4"/>
          <p:cNvSpPr/>
          <p:nvPr/>
        </p:nvSpPr>
        <p:spPr>
          <a:xfrm>
            <a:off x="2825496" y="1828800"/>
            <a:ext cx="6601968" cy="402336"/>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QUÉ INCLUYE</a:t>
            </a:r>
            <a:endParaRPr lang="en-US" sz="1000" dirty="0"/>
          </a:p>
        </p:txBody>
      </p:sp>
      <p:sp>
        <p:nvSpPr>
          <p:cNvPr id="7" name="Text 5"/>
          <p:cNvSpPr/>
          <p:nvPr/>
        </p:nvSpPr>
        <p:spPr>
          <a:xfrm>
            <a:off x="9683496" y="1828800"/>
            <a:ext cx="1755648" cy="402336"/>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USD</a:t>
            </a:r>
            <a:endParaRPr lang="en-US" sz="1000" dirty="0"/>
          </a:p>
        </p:txBody>
      </p:sp>
      <p:sp>
        <p:nvSpPr>
          <p:cNvPr id="8" name="Shape 6"/>
          <p:cNvSpPr/>
          <p:nvPr/>
        </p:nvSpPr>
        <p:spPr>
          <a:xfrm>
            <a:off x="594360" y="2231136"/>
            <a:ext cx="10972800" cy="566928"/>
          </a:xfrm>
          <a:prstGeom prst="rect">
            <a:avLst/>
          </a:prstGeom>
          <a:solidFill>
            <a:srgbClr val="FFFFFF"/>
          </a:solidFill>
          <a:ln w="7620">
            <a:solidFill>
              <a:srgbClr val="D8DADE"/>
            </a:solidFill>
            <a:prstDash val="solid"/>
          </a:ln>
        </p:spPr>
      </p:sp>
      <p:sp>
        <p:nvSpPr>
          <p:cNvPr id="9" name="Text 7"/>
          <p:cNvSpPr/>
          <p:nvPr/>
        </p:nvSpPr>
        <p:spPr>
          <a:xfrm>
            <a:off x="722376" y="2231136"/>
            <a:ext cx="1847088" cy="566928"/>
          </a:xfrm>
          <a:prstGeom prst="rect">
            <a:avLst/>
          </a:prstGeom>
          <a:noFill/>
          <a:ln/>
        </p:spPr>
        <p:txBody>
          <a:bodyPr wrap="square" lIns="0" tIns="0" rIns="0" bIns="0" rtlCol="0" anchor="ctr"/>
          <a:lstStyle/>
          <a:p>
            <a:pPr algn="l" indent="0" marL="0">
              <a:buNone/>
            </a:pPr>
            <a:r>
              <a:rPr lang="en-US" sz="1150" b="1" dirty="0">
                <a:solidFill>
                  <a:srgbClr val="37C3FF"/>
                </a:solidFill>
                <a:latin typeface="Calibri" pitchFamily="34" charset="0"/>
                <a:ea typeface="Calibri" pitchFamily="34" charset="-122"/>
                <a:cs typeface="Calibri" pitchFamily="34" charset="-120"/>
              </a:rPr>
              <a:t>Navegación</a:t>
            </a:r>
            <a:endParaRPr lang="en-US" sz="1150" dirty="0"/>
          </a:p>
        </p:txBody>
      </p:sp>
      <p:sp>
        <p:nvSpPr>
          <p:cNvPr id="10" name="Text 8"/>
          <p:cNvSpPr/>
          <p:nvPr/>
        </p:nvSpPr>
        <p:spPr>
          <a:xfrm>
            <a:off x="2825496" y="2231136"/>
            <a:ext cx="6601968" cy="566928"/>
          </a:xfrm>
          <a:prstGeom prst="rect">
            <a:avLst/>
          </a:prstGeom>
          <a:noFill/>
          <a:ln/>
        </p:spPr>
        <p:txBody>
          <a:bodyPr wrap="square" lIns="0" tIns="0" rIns="0" bIns="0" rtlCol="0" anchor="ctr"/>
          <a:lstStyle/>
          <a:p>
            <a:pPr algn="l" indent="0" marL="0">
              <a:buNone/>
            </a:pPr>
            <a:r>
              <a:rPr lang="en-US" sz="1000" dirty="0">
                <a:solidFill>
                  <a:srgbClr val="5B6470"/>
                </a:solidFill>
                <a:latin typeface="Calibri" pitchFamily="34" charset="0"/>
                <a:ea typeface="Calibri" pitchFamily="34" charset="-122"/>
                <a:cs typeface="Calibri" pitchFamily="34" charset="-120"/>
              </a:rPr>
              <a:t>LiDAR 3D Livox Mid-360 · IMU · encoders de tracción y dirección · marcadores</a:t>
            </a:r>
            <a:endParaRPr lang="en-US" sz="1000" dirty="0"/>
          </a:p>
        </p:txBody>
      </p:sp>
      <p:sp>
        <p:nvSpPr>
          <p:cNvPr id="11" name="Text 9"/>
          <p:cNvSpPr/>
          <p:nvPr/>
        </p:nvSpPr>
        <p:spPr>
          <a:xfrm>
            <a:off x="9683496" y="2231136"/>
            <a:ext cx="1755648" cy="566928"/>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$1,049</a:t>
            </a:r>
            <a:endParaRPr lang="en-US" sz="1250" dirty="0"/>
          </a:p>
        </p:txBody>
      </p:sp>
      <p:sp>
        <p:nvSpPr>
          <p:cNvPr id="12" name="Shape 10"/>
          <p:cNvSpPr/>
          <p:nvPr/>
        </p:nvSpPr>
        <p:spPr>
          <a:xfrm>
            <a:off x="594360" y="2798064"/>
            <a:ext cx="10972800" cy="566928"/>
          </a:xfrm>
          <a:prstGeom prst="rect">
            <a:avLst/>
          </a:prstGeom>
          <a:solidFill>
            <a:srgbClr val="FFFFFF"/>
          </a:solidFill>
          <a:ln w="7620">
            <a:solidFill>
              <a:srgbClr val="D8DADE"/>
            </a:solidFill>
            <a:prstDash val="solid"/>
          </a:ln>
        </p:spPr>
      </p:sp>
      <p:sp>
        <p:nvSpPr>
          <p:cNvPr id="13" name="Text 11"/>
          <p:cNvSpPr/>
          <p:nvPr/>
        </p:nvSpPr>
        <p:spPr>
          <a:xfrm>
            <a:off x="722376" y="2798064"/>
            <a:ext cx="1847088" cy="566928"/>
          </a:xfrm>
          <a:prstGeom prst="rect">
            <a:avLst/>
          </a:prstGeom>
          <a:noFill/>
          <a:ln/>
        </p:spPr>
        <p:txBody>
          <a:bodyPr wrap="square" lIns="0" tIns="0" rIns="0" bIns="0" rtlCol="0" anchor="ctr"/>
          <a:lstStyle/>
          <a:p>
            <a:pPr algn="l" indent="0" marL="0">
              <a:buNone/>
            </a:pPr>
            <a:r>
              <a:rPr lang="en-US" sz="1150" b="1" dirty="0">
                <a:solidFill>
                  <a:srgbClr val="F5C518"/>
                </a:solidFill>
                <a:latin typeface="Calibri" pitchFamily="34" charset="0"/>
                <a:ea typeface="Calibri" pitchFamily="34" charset="-122"/>
                <a:cs typeface="Calibri" pitchFamily="34" charset="-120"/>
              </a:rPr>
              <a:t>Cómputo</a:t>
            </a:r>
            <a:endParaRPr lang="en-US" sz="1150" dirty="0"/>
          </a:p>
        </p:txBody>
      </p:sp>
      <p:sp>
        <p:nvSpPr>
          <p:cNvPr id="14" name="Text 12"/>
          <p:cNvSpPr/>
          <p:nvPr/>
        </p:nvSpPr>
        <p:spPr>
          <a:xfrm>
            <a:off x="2825496" y="2798064"/>
            <a:ext cx="6601968" cy="566928"/>
          </a:xfrm>
          <a:prstGeom prst="rect">
            <a:avLst/>
          </a:prstGeom>
          <a:noFill/>
          <a:ln/>
        </p:spPr>
        <p:txBody>
          <a:bodyPr wrap="square" lIns="0" tIns="0" rIns="0" bIns="0" rtlCol="0" anchor="ctr"/>
          <a:lstStyle/>
          <a:p>
            <a:pPr algn="l" indent="0" marL="0">
              <a:buNone/>
            </a:pPr>
            <a:r>
              <a:rPr lang="en-US" sz="1000" dirty="0">
                <a:solidFill>
                  <a:srgbClr val="5B6470"/>
                </a:solidFill>
                <a:latin typeface="Calibri" pitchFamily="34" charset="0"/>
                <a:ea typeface="Calibri" pitchFamily="34" charset="-122"/>
                <a:cs typeface="Calibri" pitchFamily="34" charset="-120"/>
              </a:rPr>
              <a:t>Jetson Orin Nano 8 GB · NVMe · caja IP54 · alimentación y protección</a:t>
            </a:r>
            <a:endParaRPr lang="en-US" sz="1000" dirty="0"/>
          </a:p>
        </p:txBody>
      </p:sp>
      <p:sp>
        <p:nvSpPr>
          <p:cNvPr id="15" name="Text 13"/>
          <p:cNvSpPr/>
          <p:nvPr/>
        </p:nvSpPr>
        <p:spPr>
          <a:xfrm>
            <a:off x="9683496" y="2798064"/>
            <a:ext cx="1755648" cy="566928"/>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$769</a:t>
            </a:r>
            <a:endParaRPr lang="en-US" sz="1250" dirty="0"/>
          </a:p>
        </p:txBody>
      </p:sp>
      <p:sp>
        <p:nvSpPr>
          <p:cNvPr id="16" name="Shape 14"/>
          <p:cNvSpPr/>
          <p:nvPr/>
        </p:nvSpPr>
        <p:spPr>
          <a:xfrm>
            <a:off x="594360" y="3364992"/>
            <a:ext cx="10972800" cy="566928"/>
          </a:xfrm>
          <a:prstGeom prst="rect">
            <a:avLst/>
          </a:prstGeom>
          <a:solidFill>
            <a:srgbClr val="FFFFFF"/>
          </a:solidFill>
          <a:ln w="7620">
            <a:solidFill>
              <a:srgbClr val="D8DADE"/>
            </a:solidFill>
            <a:prstDash val="solid"/>
          </a:ln>
        </p:spPr>
      </p:sp>
      <p:sp>
        <p:nvSpPr>
          <p:cNvPr id="17" name="Text 15"/>
          <p:cNvSpPr/>
          <p:nvPr/>
        </p:nvSpPr>
        <p:spPr>
          <a:xfrm>
            <a:off x="722376" y="3364992"/>
            <a:ext cx="1847088" cy="566928"/>
          </a:xfrm>
          <a:prstGeom prst="rect">
            <a:avLst/>
          </a:prstGeom>
          <a:noFill/>
          <a:ln/>
        </p:spPr>
        <p:txBody>
          <a:bodyPr wrap="square" lIns="0" tIns="0" rIns="0" bIns="0" rtlCol="0" anchor="ctr"/>
          <a:lstStyle/>
          <a:p>
            <a:pPr algn="l" indent="0" marL="0">
              <a:buNone/>
            </a:pPr>
            <a:r>
              <a:rPr lang="en-US" sz="1150" b="1" dirty="0">
                <a:solidFill>
                  <a:srgbClr val="39D98A"/>
                </a:solidFill>
                <a:latin typeface="Calibri" pitchFamily="34" charset="0"/>
                <a:ea typeface="Calibri" pitchFamily="34" charset="-122"/>
                <a:cs typeface="Calibri" pitchFamily="34" charset="-120"/>
              </a:rPr>
              <a:t>Visión</a:t>
            </a:r>
            <a:endParaRPr lang="en-US" sz="1150" dirty="0"/>
          </a:p>
        </p:txBody>
      </p:sp>
      <p:sp>
        <p:nvSpPr>
          <p:cNvPr id="18" name="Text 16"/>
          <p:cNvSpPr/>
          <p:nvPr/>
        </p:nvSpPr>
        <p:spPr>
          <a:xfrm>
            <a:off x="2825496" y="3364992"/>
            <a:ext cx="6601968" cy="566928"/>
          </a:xfrm>
          <a:prstGeom prst="rect">
            <a:avLst/>
          </a:prstGeom>
          <a:noFill/>
          <a:ln/>
        </p:spPr>
        <p:txBody>
          <a:bodyPr wrap="square" lIns="0" tIns="0" rIns="0" bIns="0" rtlCol="0" anchor="ctr"/>
          <a:lstStyle/>
          <a:p>
            <a:pPr algn="l" indent="0" marL="0">
              <a:buNone/>
            </a:pPr>
            <a:r>
              <a:rPr lang="en-US" sz="1000" dirty="0">
                <a:solidFill>
                  <a:srgbClr val="5B6470"/>
                </a:solidFill>
                <a:latin typeface="Calibri" pitchFamily="34" charset="0"/>
                <a:ea typeface="Calibri" pitchFamily="34" charset="-122"/>
                <a:cs typeface="Calibri" pitchFamily="34" charset="-120"/>
              </a:rPr>
              <a:t>Cámara de uñas · cámara de mástil 5 MP para leer ubicaciones</a:t>
            </a:r>
            <a:endParaRPr lang="en-US" sz="1000" dirty="0"/>
          </a:p>
        </p:txBody>
      </p:sp>
      <p:sp>
        <p:nvSpPr>
          <p:cNvPr id="19" name="Text 17"/>
          <p:cNvSpPr/>
          <p:nvPr/>
        </p:nvSpPr>
        <p:spPr>
          <a:xfrm>
            <a:off x="9683496" y="3364992"/>
            <a:ext cx="1755648" cy="566928"/>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$330</a:t>
            </a:r>
            <a:endParaRPr lang="en-US" sz="1250" dirty="0"/>
          </a:p>
        </p:txBody>
      </p:sp>
      <p:sp>
        <p:nvSpPr>
          <p:cNvPr id="20" name="Shape 18"/>
          <p:cNvSpPr/>
          <p:nvPr/>
        </p:nvSpPr>
        <p:spPr>
          <a:xfrm>
            <a:off x="594360" y="3931920"/>
            <a:ext cx="10972800" cy="566928"/>
          </a:xfrm>
          <a:prstGeom prst="rect">
            <a:avLst/>
          </a:prstGeom>
          <a:solidFill>
            <a:srgbClr val="FFFFFF"/>
          </a:solidFill>
          <a:ln w="7620">
            <a:solidFill>
              <a:srgbClr val="D8DADE"/>
            </a:solidFill>
            <a:prstDash val="solid"/>
          </a:ln>
        </p:spPr>
      </p:sp>
      <p:sp>
        <p:nvSpPr>
          <p:cNvPr id="21" name="Text 19"/>
          <p:cNvSpPr/>
          <p:nvPr/>
        </p:nvSpPr>
        <p:spPr>
          <a:xfrm>
            <a:off x="722376" y="3931920"/>
            <a:ext cx="1847088" cy="566928"/>
          </a:xfrm>
          <a:prstGeom prst="rect">
            <a:avLst/>
          </a:prstGeom>
          <a:noFill/>
          <a:ln/>
        </p:spPr>
        <p:txBody>
          <a:bodyPr wrap="square" lIns="0" tIns="0" rIns="0" bIns="0" rtlCol="0" anchor="ctr"/>
          <a:lstStyle/>
          <a:p>
            <a:pPr algn="l" indent="0" marL="0">
              <a:buNone/>
            </a:pPr>
            <a:r>
              <a:rPr lang="en-US" sz="1150" b="1" dirty="0">
                <a:solidFill>
                  <a:srgbClr val="F5C518"/>
                </a:solidFill>
                <a:latin typeface="Calibri" pitchFamily="34" charset="0"/>
                <a:ea typeface="Calibri" pitchFamily="34" charset="-122"/>
                <a:cs typeface="Calibri" pitchFamily="34" charset="-120"/>
              </a:rPr>
              <a:t>Carga</a:t>
            </a:r>
            <a:endParaRPr lang="en-US" sz="1150" dirty="0"/>
          </a:p>
        </p:txBody>
      </p:sp>
      <p:sp>
        <p:nvSpPr>
          <p:cNvPr id="22" name="Text 20"/>
          <p:cNvSpPr/>
          <p:nvPr/>
        </p:nvSpPr>
        <p:spPr>
          <a:xfrm>
            <a:off x="2825496" y="3931920"/>
            <a:ext cx="6601968" cy="566928"/>
          </a:xfrm>
          <a:prstGeom prst="rect">
            <a:avLst/>
          </a:prstGeom>
          <a:noFill/>
          <a:ln/>
        </p:spPr>
        <p:txBody>
          <a:bodyPr wrap="square" lIns="0" tIns="0" rIns="0" bIns="0" rtlCol="0" anchor="ctr"/>
          <a:lstStyle/>
          <a:p>
            <a:pPr algn="l" indent="0" marL="0">
              <a:buNone/>
            </a:pPr>
            <a:r>
              <a:rPr lang="en-US" sz="1000" dirty="0">
                <a:solidFill>
                  <a:srgbClr val="5B6470"/>
                </a:solidFill>
                <a:latin typeface="Calibri" pitchFamily="34" charset="0"/>
                <a:ea typeface="Calibri" pitchFamily="34" charset="-122"/>
                <a:cs typeface="Calibri" pitchFamily="34" charset="-120"/>
              </a:rPr>
              <a:t>Altura de uñas por láser · presión hidráulica · fotocélula</a:t>
            </a:r>
            <a:endParaRPr lang="en-US" sz="1000" dirty="0"/>
          </a:p>
        </p:txBody>
      </p:sp>
      <p:sp>
        <p:nvSpPr>
          <p:cNvPr id="23" name="Text 21"/>
          <p:cNvSpPr/>
          <p:nvPr/>
        </p:nvSpPr>
        <p:spPr>
          <a:xfrm>
            <a:off x="9683496" y="3931920"/>
            <a:ext cx="1755648" cy="566928"/>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$330</a:t>
            </a:r>
            <a:endParaRPr lang="en-US" sz="1250" dirty="0"/>
          </a:p>
        </p:txBody>
      </p:sp>
      <p:sp>
        <p:nvSpPr>
          <p:cNvPr id="24" name="Shape 22"/>
          <p:cNvSpPr/>
          <p:nvPr/>
        </p:nvSpPr>
        <p:spPr>
          <a:xfrm>
            <a:off x="594360" y="4498848"/>
            <a:ext cx="10972800" cy="566928"/>
          </a:xfrm>
          <a:prstGeom prst="rect">
            <a:avLst/>
          </a:prstGeom>
          <a:solidFill>
            <a:srgbClr val="FFFFFF"/>
          </a:solidFill>
          <a:ln w="7620">
            <a:solidFill>
              <a:srgbClr val="D8DADE"/>
            </a:solidFill>
            <a:prstDash val="solid"/>
          </a:ln>
        </p:spPr>
      </p:sp>
      <p:sp>
        <p:nvSpPr>
          <p:cNvPr id="25" name="Text 23"/>
          <p:cNvSpPr/>
          <p:nvPr/>
        </p:nvSpPr>
        <p:spPr>
          <a:xfrm>
            <a:off x="722376" y="4498848"/>
            <a:ext cx="1847088" cy="566928"/>
          </a:xfrm>
          <a:prstGeom prst="rect">
            <a:avLst/>
          </a:prstGeom>
          <a:noFill/>
          <a:ln/>
        </p:spPr>
        <p:txBody>
          <a:bodyPr wrap="square" lIns="0" tIns="0" rIns="0" bIns="0" rtlCol="0" anchor="ctr"/>
          <a:lstStyle/>
          <a:p>
            <a:pPr algn="l" indent="0" marL="0">
              <a:buNone/>
            </a:pPr>
            <a:r>
              <a:rPr lang="en-US" sz="1150" b="1" dirty="0">
                <a:solidFill>
                  <a:srgbClr val="5B6470"/>
                </a:solidFill>
                <a:latin typeface="Calibri" pitchFamily="34" charset="0"/>
                <a:ea typeface="Calibri" pitchFamily="34" charset="-122"/>
                <a:cs typeface="Calibri" pitchFamily="34" charset="-120"/>
              </a:rPr>
              <a:t>Interfaz y red</a:t>
            </a:r>
            <a:endParaRPr lang="en-US" sz="1150" dirty="0"/>
          </a:p>
        </p:txBody>
      </p:sp>
      <p:sp>
        <p:nvSpPr>
          <p:cNvPr id="26" name="Text 24"/>
          <p:cNvSpPr/>
          <p:nvPr/>
        </p:nvSpPr>
        <p:spPr>
          <a:xfrm>
            <a:off x="2825496" y="4498848"/>
            <a:ext cx="6601968" cy="566928"/>
          </a:xfrm>
          <a:prstGeom prst="rect">
            <a:avLst/>
          </a:prstGeom>
          <a:noFill/>
          <a:ln/>
        </p:spPr>
        <p:txBody>
          <a:bodyPr wrap="square" lIns="0" tIns="0" rIns="0" bIns="0" rtlCol="0" anchor="ctr"/>
          <a:lstStyle/>
          <a:p>
            <a:pPr algn="l" indent="0" marL="0">
              <a:buNone/>
            </a:pPr>
            <a:r>
              <a:rPr lang="en-US" sz="1000" dirty="0">
                <a:solidFill>
                  <a:srgbClr val="5B6470"/>
                </a:solidFill>
                <a:latin typeface="Calibri" pitchFamily="34" charset="0"/>
                <a:ea typeface="Calibri" pitchFamily="34" charset="-122"/>
                <a:cs typeface="Calibri" pitchFamily="34" charset="-120"/>
              </a:rPr>
              <a:t>Router · antenas · tablet · barra de estado · torreta y luces</a:t>
            </a:r>
            <a:endParaRPr lang="en-US" sz="1000" dirty="0"/>
          </a:p>
        </p:txBody>
      </p:sp>
      <p:sp>
        <p:nvSpPr>
          <p:cNvPr id="27" name="Text 25"/>
          <p:cNvSpPr/>
          <p:nvPr/>
        </p:nvSpPr>
        <p:spPr>
          <a:xfrm>
            <a:off x="9683496" y="4498848"/>
            <a:ext cx="1755648" cy="566928"/>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$400</a:t>
            </a:r>
            <a:endParaRPr lang="en-US" sz="1250" dirty="0"/>
          </a:p>
        </p:txBody>
      </p:sp>
      <p:sp>
        <p:nvSpPr>
          <p:cNvPr id="28" name="Shape 26"/>
          <p:cNvSpPr/>
          <p:nvPr/>
        </p:nvSpPr>
        <p:spPr>
          <a:xfrm>
            <a:off x="594360" y="5065776"/>
            <a:ext cx="10972800" cy="566928"/>
          </a:xfrm>
          <a:prstGeom prst="rect">
            <a:avLst/>
          </a:prstGeom>
          <a:solidFill>
            <a:srgbClr val="FFFFFF"/>
          </a:solidFill>
          <a:ln w="7620">
            <a:solidFill>
              <a:srgbClr val="D8DADE"/>
            </a:solidFill>
            <a:prstDash val="solid"/>
          </a:ln>
        </p:spPr>
      </p:sp>
      <p:sp>
        <p:nvSpPr>
          <p:cNvPr id="29" name="Text 27"/>
          <p:cNvSpPr/>
          <p:nvPr/>
        </p:nvSpPr>
        <p:spPr>
          <a:xfrm>
            <a:off x="722376" y="5065776"/>
            <a:ext cx="1847088" cy="566928"/>
          </a:xfrm>
          <a:prstGeom prst="rect">
            <a:avLst/>
          </a:prstGeom>
          <a:noFill/>
          <a:ln/>
        </p:spPr>
        <p:txBody>
          <a:bodyPr wrap="square" lIns="0" tIns="0" rIns="0" bIns="0" rtlCol="0" anchor="ctr"/>
          <a:lstStyle/>
          <a:p>
            <a:pPr algn="l" indent="0" marL="0">
              <a:buNone/>
            </a:pPr>
            <a:r>
              <a:rPr lang="en-US" sz="1150" b="1" dirty="0">
                <a:solidFill>
                  <a:srgbClr val="5B6470"/>
                </a:solidFill>
                <a:latin typeface="Calibri" pitchFamily="34" charset="0"/>
                <a:ea typeface="Calibri" pitchFamily="34" charset="-122"/>
                <a:cs typeface="Calibri" pitchFamily="34" charset="-120"/>
              </a:rPr>
              <a:t>Montaje</a:t>
            </a:r>
            <a:endParaRPr lang="en-US" sz="1150" dirty="0"/>
          </a:p>
        </p:txBody>
      </p:sp>
      <p:sp>
        <p:nvSpPr>
          <p:cNvPr id="30" name="Text 28"/>
          <p:cNvSpPr/>
          <p:nvPr/>
        </p:nvSpPr>
        <p:spPr>
          <a:xfrm>
            <a:off x="2825496" y="5065776"/>
            <a:ext cx="6601968" cy="566928"/>
          </a:xfrm>
          <a:prstGeom prst="rect">
            <a:avLst/>
          </a:prstGeom>
          <a:noFill/>
          <a:ln/>
        </p:spPr>
        <p:txBody>
          <a:bodyPr wrap="square" lIns="0" tIns="0" rIns="0" bIns="0" rtlCol="0" anchor="ctr"/>
          <a:lstStyle/>
          <a:p>
            <a:pPr algn="l" indent="0" marL="0">
              <a:buNone/>
            </a:pPr>
            <a:r>
              <a:rPr lang="en-US" sz="1000" dirty="0">
                <a:solidFill>
                  <a:srgbClr val="5B6470"/>
                </a:solidFill>
                <a:latin typeface="Calibri" pitchFamily="34" charset="0"/>
                <a:ea typeface="Calibri" pitchFamily="34" charset="-122"/>
                <a:cs typeface="Calibri" pitchFamily="34" charset="-120"/>
              </a:rPr>
              <a:t>Arnés y soportes armados en el taller · consumibles</a:t>
            </a:r>
            <a:endParaRPr lang="en-US" sz="1000" dirty="0"/>
          </a:p>
        </p:txBody>
      </p:sp>
      <p:sp>
        <p:nvSpPr>
          <p:cNvPr id="31" name="Text 29"/>
          <p:cNvSpPr/>
          <p:nvPr/>
        </p:nvSpPr>
        <p:spPr>
          <a:xfrm>
            <a:off x="9683496" y="5065776"/>
            <a:ext cx="1755648" cy="566928"/>
          </a:xfrm>
          <a:prstGeom prst="rect">
            <a:avLst/>
          </a:prstGeom>
          <a:noFill/>
          <a:ln/>
        </p:spPr>
        <p:txBody>
          <a:bodyPr wrap="square" lIns="0" tIns="0" rIns="0" bIns="0" rtlCol="0" anchor="ctr"/>
          <a:lstStyle/>
          <a:p>
            <a:pPr algn="r" indent="0" marL="0">
              <a:buNone/>
            </a:pPr>
            <a:r>
              <a:rPr lang="en-US" sz="1250" b="1" dirty="0">
                <a:solidFill>
                  <a:srgbClr val="1A1D23"/>
                </a:solidFill>
                <a:latin typeface="Calibri" pitchFamily="34" charset="0"/>
                <a:ea typeface="Calibri" pitchFamily="34" charset="-122"/>
                <a:cs typeface="Calibri" pitchFamily="34" charset="-120"/>
              </a:rPr>
              <a:t>$315</a:t>
            </a:r>
            <a:endParaRPr lang="en-US" sz="1250" dirty="0"/>
          </a:p>
        </p:txBody>
      </p:sp>
      <p:sp>
        <p:nvSpPr>
          <p:cNvPr id="32" name="Shape 30"/>
          <p:cNvSpPr/>
          <p:nvPr/>
        </p:nvSpPr>
        <p:spPr>
          <a:xfrm>
            <a:off x="594360" y="5632704"/>
            <a:ext cx="10972800" cy="603504"/>
          </a:xfrm>
          <a:prstGeom prst="rect">
            <a:avLst/>
          </a:prstGeom>
          <a:solidFill>
            <a:srgbClr val="FFFFFF"/>
          </a:solidFill>
          <a:ln w="7620">
            <a:solidFill>
              <a:srgbClr val="D8DADE"/>
            </a:solidFill>
            <a:prstDash val="solid"/>
          </a:ln>
        </p:spPr>
      </p:sp>
      <p:sp>
        <p:nvSpPr>
          <p:cNvPr id="33" name="Text 31"/>
          <p:cNvSpPr/>
          <p:nvPr/>
        </p:nvSpPr>
        <p:spPr>
          <a:xfrm>
            <a:off x="722376" y="5632704"/>
            <a:ext cx="8705088" cy="603504"/>
          </a:xfrm>
          <a:prstGeom prst="rect">
            <a:avLst/>
          </a:prstGeom>
          <a:noFill/>
          <a:ln/>
        </p:spPr>
        <p:txBody>
          <a:bodyPr wrap="square" lIns="0" tIns="0" rIns="0" bIns="0" rtlCol="0" anchor="ctr"/>
          <a:lstStyle/>
          <a:p>
            <a:pPr algn="l" indent="0" marL="0">
              <a:buNone/>
            </a:pPr>
            <a:r>
              <a:rPr lang="en-US" sz="1300" b="1" dirty="0">
                <a:solidFill>
                  <a:srgbClr val="1A1D23"/>
                </a:solidFill>
                <a:latin typeface="Calibri" pitchFamily="34" charset="0"/>
                <a:ea typeface="Calibri" pitchFamily="34" charset="-122"/>
                <a:cs typeface="Calibri" pitchFamily="34" charset="-120"/>
              </a:rPr>
              <a:t>TOTAL HARDWARE</a:t>
            </a:r>
            <a:endParaRPr lang="en-US" sz="1300" dirty="0"/>
          </a:p>
        </p:txBody>
      </p:sp>
      <p:sp>
        <p:nvSpPr>
          <p:cNvPr id="34" name="Text 32"/>
          <p:cNvSpPr/>
          <p:nvPr/>
        </p:nvSpPr>
        <p:spPr>
          <a:xfrm>
            <a:off x="9683496" y="5632704"/>
            <a:ext cx="1755648" cy="603504"/>
          </a:xfrm>
          <a:prstGeom prst="rect">
            <a:avLst/>
          </a:prstGeom>
          <a:noFill/>
          <a:ln/>
        </p:spPr>
        <p:txBody>
          <a:bodyPr wrap="square" lIns="0" tIns="0" rIns="0" bIns="0" rtlCol="0" anchor="ctr"/>
          <a:lstStyle/>
          <a:p>
            <a:pPr algn="r" indent="0" marL="0">
              <a:buNone/>
            </a:pPr>
            <a:r>
              <a:rPr lang="en-US" sz="1600" b="1" dirty="0">
                <a:solidFill>
                  <a:srgbClr val="F5C518"/>
                </a:solidFill>
                <a:latin typeface="Calibri" pitchFamily="34" charset="0"/>
                <a:ea typeface="Calibri" pitchFamily="34" charset="-122"/>
                <a:cs typeface="Calibri" pitchFamily="34" charset="-120"/>
              </a:rPr>
              <a:t>$3,033</a:t>
            </a:r>
            <a:endParaRPr lang="en-US" sz="1600" dirty="0"/>
          </a:p>
        </p:txBody>
      </p:sp>
      <p:sp>
        <p:nvSpPr>
          <p:cNvPr id="35" name="Text 33"/>
          <p:cNvSpPr/>
          <p:nvPr/>
        </p:nvSpPr>
        <p:spPr>
          <a:xfrm>
            <a:off x="594360" y="6355080"/>
            <a:ext cx="10972800" cy="365760"/>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El montacargas lo presta Montasa. La mano de obra la pone el equipo. Herramienta de taller no incluida: se compra una vez y se queda.</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Economía del primer piloto</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3 unidades a nivel 1, más la infraestructura del sitio</a:t>
            </a:r>
            <a:endParaRPr lang="en-US" sz="1350" dirty="0"/>
          </a:p>
        </p:txBody>
      </p:sp>
      <p:sp>
        <p:nvSpPr>
          <p:cNvPr id="4" name="Shape 2"/>
          <p:cNvSpPr/>
          <p:nvPr/>
        </p:nvSpPr>
        <p:spPr>
          <a:xfrm>
            <a:off x="594360" y="1828800"/>
            <a:ext cx="5486400" cy="384048"/>
          </a:xfrm>
          <a:prstGeom prst="rect">
            <a:avLst/>
          </a:prstGeom>
          <a:solidFill>
            <a:srgbClr val="E7E9EC"/>
          </a:solidFill>
          <a:ln w="7620">
            <a:solidFill>
              <a:srgbClr val="D8DADE"/>
            </a:solidFill>
            <a:prstDash val="solid"/>
          </a:ln>
        </p:spPr>
      </p:sp>
      <p:sp>
        <p:nvSpPr>
          <p:cNvPr id="5" name="Text 3"/>
          <p:cNvSpPr/>
          <p:nvPr/>
        </p:nvSpPr>
        <p:spPr>
          <a:xfrm>
            <a:off x="722376" y="1828800"/>
            <a:ext cx="3584448" cy="384048"/>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COSTO DE MATERIALES</a:t>
            </a:r>
            <a:endParaRPr lang="en-US" sz="1000" dirty="0"/>
          </a:p>
        </p:txBody>
      </p:sp>
      <p:sp>
        <p:nvSpPr>
          <p:cNvPr id="6" name="Text 4"/>
          <p:cNvSpPr/>
          <p:nvPr/>
        </p:nvSpPr>
        <p:spPr>
          <a:xfrm>
            <a:off x="4562856" y="1828800"/>
            <a:ext cx="1389888" cy="384048"/>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USD</a:t>
            </a:r>
            <a:endParaRPr lang="en-US" sz="1000" dirty="0"/>
          </a:p>
        </p:txBody>
      </p:sp>
      <p:sp>
        <p:nvSpPr>
          <p:cNvPr id="7" name="Shape 5"/>
          <p:cNvSpPr/>
          <p:nvPr/>
        </p:nvSpPr>
        <p:spPr>
          <a:xfrm>
            <a:off x="594360" y="2212848"/>
            <a:ext cx="5486400" cy="502920"/>
          </a:xfrm>
          <a:prstGeom prst="rect">
            <a:avLst/>
          </a:prstGeom>
          <a:solidFill>
            <a:srgbClr val="FFFFFF"/>
          </a:solidFill>
          <a:ln w="7620">
            <a:solidFill>
              <a:srgbClr val="D8DADE"/>
            </a:solidFill>
            <a:prstDash val="solid"/>
          </a:ln>
        </p:spPr>
      </p:sp>
      <p:sp>
        <p:nvSpPr>
          <p:cNvPr id="8" name="Text 6"/>
          <p:cNvSpPr/>
          <p:nvPr/>
        </p:nvSpPr>
        <p:spPr>
          <a:xfrm>
            <a:off x="722376" y="2212848"/>
            <a:ext cx="3584448" cy="502920"/>
          </a:xfrm>
          <a:prstGeom prst="rect">
            <a:avLst/>
          </a:prstGeom>
          <a:noFill/>
          <a:ln/>
        </p:spPr>
        <p:txBody>
          <a:bodyPr wrap="square" lIns="0" tIns="0" rIns="0" bIns="0" rtlCol="0" anchor="ctr"/>
          <a:lstStyle/>
          <a:p>
            <a:pPr algn="l" indent="0" marL="0">
              <a:buNone/>
            </a:pPr>
            <a:r>
              <a:rPr lang="en-US" sz="1100" dirty="0">
                <a:solidFill>
                  <a:srgbClr val="1A1D23"/>
                </a:solidFill>
                <a:latin typeface="Calibri" pitchFamily="34" charset="0"/>
                <a:ea typeface="Calibri" pitchFamily="34" charset="-122"/>
                <a:cs typeface="Calibri" pitchFamily="34" charset="-120"/>
              </a:rPr>
              <a:t>Hardware de 3 unidades</a:t>
            </a:r>
            <a:endParaRPr lang="en-US" sz="1100" dirty="0"/>
          </a:p>
        </p:txBody>
      </p:sp>
      <p:sp>
        <p:nvSpPr>
          <p:cNvPr id="9" name="Text 7"/>
          <p:cNvSpPr/>
          <p:nvPr/>
        </p:nvSpPr>
        <p:spPr>
          <a:xfrm>
            <a:off x="4562856" y="2212848"/>
            <a:ext cx="1389888" cy="502920"/>
          </a:xfrm>
          <a:prstGeom prst="rect">
            <a:avLst/>
          </a:prstGeom>
          <a:noFill/>
          <a:ln/>
        </p:spPr>
        <p:txBody>
          <a:bodyPr wrap="square" lIns="0" tIns="0" rIns="0" bIns="0" rtlCol="0" anchor="ctr"/>
          <a:lstStyle/>
          <a:p>
            <a:pPr algn="r" indent="0" marL="0">
              <a:buNone/>
            </a:pPr>
            <a:r>
              <a:rPr lang="en-US" sz="1200" b="1" dirty="0">
                <a:solidFill>
                  <a:srgbClr val="1A1D23"/>
                </a:solidFill>
                <a:latin typeface="Calibri" pitchFamily="34" charset="0"/>
                <a:ea typeface="Calibri" pitchFamily="34" charset="-122"/>
                <a:cs typeface="Calibri" pitchFamily="34" charset="-120"/>
              </a:rPr>
              <a:t>$25,644</a:t>
            </a:r>
            <a:endParaRPr lang="en-US" sz="1200" dirty="0"/>
          </a:p>
        </p:txBody>
      </p:sp>
      <p:sp>
        <p:nvSpPr>
          <p:cNvPr id="10" name="Shape 8"/>
          <p:cNvSpPr/>
          <p:nvPr/>
        </p:nvSpPr>
        <p:spPr>
          <a:xfrm>
            <a:off x="594360" y="2715768"/>
            <a:ext cx="5486400" cy="502920"/>
          </a:xfrm>
          <a:prstGeom prst="rect">
            <a:avLst/>
          </a:prstGeom>
          <a:solidFill>
            <a:srgbClr val="FFFFFF"/>
          </a:solidFill>
          <a:ln w="7620">
            <a:solidFill>
              <a:srgbClr val="D8DADE"/>
            </a:solidFill>
            <a:prstDash val="solid"/>
          </a:ln>
        </p:spPr>
      </p:sp>
      <p:sp>
        <p:nvSpPr>
          <p:cNvPr id="11" name="Text 9"/>
          <p:cNvSpPr/>
          <p:nvPr/>
        </p:nvSpPr>
        <p:spPr>
          <a:xfrm>
            <a:off x="722376" y="2715768"/>
            <a:ext cx="3584448" cy="502920"/>
          </a:xfrm>
          <a:prstGeom prst="rect">
            <a:avLst/>
          </a:prstGeom>
          <a:noFill/>
          <a:ln/>
        </p:spPr>
        <p:txBody>
          <a:bodyPr wrap="square" lIns="0" tIns="0" rIns="0" bIns="0" rtlCol="0" anchor="ctr"/>
          <a:lstStyle/>
          <a:p>
            <a:pPr algn="l" indent="0" marL="0">
              <a:buNone/>
            </a:pPr>
            <a:r>
              <a:rPr lang="en-US" sz="1100" dirty="0">
                <a:solidFill>
                  <a:srgbClr val="1A1D23"/>
                </a:solidFill>
                <a:latin typeface="Calibri" pitchFamily="34" charset="0"/>
                <a:ea typeface="Calibri" pitchFamily="34" charset="-122"/>
                <a:cs typeface="Calibri" pitchFamily="34" charset="-120"/>
              </a:rPr>
              <a:t>Infraestructura del almacén</a:t>
            </a:r>
            <a:endParaRPr lang="en-US" sz="1100" dirty="0"/>
          </a:p>
        </p:txBody>
      </p:sp>
      <p:sp>
        <p:nvSpPr>
          <p:cNvPr id="12" name="Text 10"/>
          <p:cNvSpPr/>
          <p:nvPr/>
        </p:nvSpPr>
        <p:spPr>
          <a:xfrm>
            <a:off x="4562856" y="2715768"/>
            <a:ext cx="1389888" cy="502920"/>
          </a:xfrm>
          <a:prstGeom prst="rect">
            <a:avLst/>
          </a:prstGeom>
          <a:noFill/>
          <a:ln/>
        </p:spPr>
        <p:txBody>
          <a:bodyPr wrap="square" lIns="0" tIns="0" rIns="0" bIns="0" rtlCol="0" anchor="ctr"/>
          <a:lstStyle/>
          <a:p>
            <a:pPr algn="r" indent="0" marL="0">
              <a:buNone/>
            </a:pPr>
            <a:r>
              <a:rPr lang="en-US" sz="1200" b="1" dirty="0">
                <a:solidFill>
                  <a:srgbClr val="1A1D23"/>
                </a:solidFill>
                <a:latin typeface="Calibri" pitchFamily="34" charset="0"/>
                <a:ea typeface="Calibri" pitchFamily="34" charset="-122"/>
                <a:cs typeface="Calibri" pitchFamily="34" charset="-120"/>
              </a:rPr>
              <a:t>$14,288</a:t>
            </a:r>
            <a:endParaRPr lang="en-US" sz="1200" dirty="0"/>
          </a:p>
        </p:txBody>
      </p:sp>
      <p:sp>
        <p:nvSpPr>
          <p:cNvPr id="13" name="Shape 11"/>
          <p:cNvSpPr/>
          <p:nvPr/>
        </p:nvSpPr>
        <p:spPr>
          <a:xfrm>
            <a:off x="594360" y="3218688"/>
            <a:ext cx="5486400" cy="502920"/>
          </a:xfrm>
          <a:prstGeom prst="rect">
            <a:avLst/>
          </a:prstGeom>
          <a:solidFill>
            <a:srgbClr val="FFFFFF"/>
          </a:solidFill>
          <a:ln w="7620">
            <a:solidFill>
              <a:srgbClr val="D8DADE"/>
            </a:solidFill>
            <a:prstDash val="solid"/>
          </a:ln>
        </p:spPr>
      </p:sp>
      <p:sp>
        <p:nvSpPr>
          <p:cNvPr id="14" name="Text 12"/>
          <p:cNvSpPr/>
          <p:nvPr/>
        </p:nvSpPr>
        <p:spPr>
          <a:xfrm>
            <a:off x="722376" y="3218688"/>
            <a:ext cx="3584448" cy="502920"/>
          </a:xfrm>
          <a:prstGeom prst="rect">
            <a:avLst/>
          </a:prstGeom>
          <a:noFill/>
          <a:ln/>
        </p:spPr>
        <p:txBody>
          <a:bodyPr wrap="square" lIns="0" tIns="0" rIns="0" bIns="0" rtlCol="0" anchor="ctr"/>
          <a:lstStyle/>
          <a:p>
            <a:pPr algn="l" indent="0" marL="0">
              <a:buNone/>
            </a:pPr>
            <a:r>
              <a:rPr lang="en-US" sz="1100" dirty="0">
                <a:solidFill>
                  <a:srgbClr val="1A1D23"/>
                </a:solidFill>
                <a:latin typeface="Calibri" pitchFamily="34" charset="0"/>
                <a:ea typeface="Calibri" pitchFamily="34" charset="-122"/>
                <a:cs typeface="Calibri" pitchFamily="34" charset="-120"/>
              </a:rPr>
              <a:t>Flete e importación, 20%</a:t>
            </a:r>
            <a:endParaRPr lang="en-US" sz="1100" dirty="0"/>
          </a:p>
        </p:txBody>
      </p:sp>
      <p:sp>
        <p:nvSpPr>
          <p:cNvPr id="15" name="Text 13"/>
          <p:cNvSpPr/>
          <p:nvPr/>
        </p:nvSpPr>
        <p:spPr>
          <a:xfrm>
            <a:off x="4562856" y="3218688"/>
            <a:ext cx="1389888" cy="502920"/>
          </a:xfrm>
          <a:prstGeom prst="rect">
            <a:avLst/>
          </a:prstGeom>
          <a:noFill/>
          <a:ln/>
        </p:spPr>
        <p:txBody>
          <a:bodyPr wrap="square" lIns="0" tIns="0" rIns="0" bIns="0" rtlCol="0" anchor="ctr"/>
          <a:lstStyle/>
          <a:p>
            <a:pPr algn="r" indent="0" marL="0">
              <a:buNone/>
            </a:pPr>
            <a:r>
              <a:rPr lang="en-US" sz="1200" b="1" dirty="0">
                <a:solidFill>
                  <a:srgbClr val="1A1D23"/>
                </a:solidFill>
                <a:latin typeface="Calibri" pitchFamily="34" charset="0"/>
                <a:ea typeface="Calibri" pitchFamily="34" charset="-122"/>
                <a:cs typeface="Calibri" pitchFamily="34" charset="-120"/>
              </a:rPr>
              <a:t>$7,986</a:t>
            </a:r>
            <a:endParaRPr lang="en-US" sz="1200" dirty="0"/>
          </a:p>
        </p:txBody>
      </p:sp>
      <p:sp>
        <p:nvSpPr>
          <p:cNvPr id="16" name="Shape 14"/>
          <p:cNvSpPr/>
          <p:nvPr/>
        </p:nvSpPr>
        <p:spPr>
          <a:xfrm>
            <a:off x="594360" y="3721608"/>
            <a:ext cx="5486400" cy="548640"/>
          </a:xfrm>
          <a:prstGeom prst="rect">
            <a:avLst/>
          </a:prstGeom>
          <a:solidFill>
            <a:srgbClr val="FFFFFF"/>
          </a:solidFill>
          <a:ln w="7620">
            <a:solidFill>
              <a:srgbClr val="D8DADE"/>
            </a:solidFill>
            <a:prstDash val="solid"/>
          </a:ln>
        </p:spPr>
      </p:sp>
      <p:sp>
        <p:nvSpPr>
          <p:cNvPr id="17" name="Text 15"/>
          <p:cNvSpPr/>
          <p:nvPr/>
        </p:nvSpPr>
        <p:spPr>
          <a:xfrm>
            <a:off x="722376" y="3721608"/>
            <a:ext cx="3584448" cy="548640"/>
          </a:xfrm>
          <a:prstGeom prst="rect">
            <a:avLst/>
          </a:prstGeom>
          <a:noFill/>
          <a:ln/>
        </p:spPr>
        <p:txBody>
          <a:bodyPr wrap="square" lIns="0" tIns="0" rIns="0" bIns="0" rtlCol="0" anchor="ctr"/>
          <a:lstStyle/>
          <a:p>
            <a:pPr algn="l" indent="0" marL="0">
              <a:buNone/>
            </a:pPr>
            <a:r>
              <a:rPr lang="en-US" sz="1200" b="1" dirty="0">
                <a:solidFill>
                  <a:srgbClr val="1A1D23"/>
                </a:solidFill>
                <a:latin typeface="Calibri" pitchFamily="34" charset="0"/>
                <a:ea typeface="Calibri" pitchFamily="34" charset="-122"/>
                <a:cs typeface="Calibri" pitchFamily="34" charset="-120"/>
              </a:rPr>
              <a:t>TOTAL MATERIALES</a:t>
            </a:r>
            <a:endParaRPr lang="en-US" sz="1200" dirty="0"/>
          </a:p>
        </p:txBody>
      </p:sp>
      <p:sp>
        <p:nvSpPr>
          <p:cNvPr id="18" name="Text 16"/>
          <p:cNvSpPr/>
          <p:nvPr/>
        </p:nvSpPr>
        <p:spPr>
          <a:xfrm>
            <a:off x="4562856" y="3721608"/>
            <a:ext cx="1389888" cy="548640"/>
          </a:xfrm>
          <a:prstGeom prst="rect">
            <a:avLst/>
          </a:prstGeom>
          <a:noFill/>
          <a:ln/>
        </p:spPr>
        <p:txBody>
          <a:bodyPr wrap="square" lIns="0" tIns="0" rIns="0" bIns="0" rtlCol="0" anchor="ctr"/>
          <a:lstStyle/>
          <a:p>
            <a:pPr algn="r" indent="0" marL="0">
              <a:buNone/>
            </a:pPr>
            <a:r>
              <a:rPr lang="en-US" sz="1400" b="1" dirty="0">
                <a:solidFill>
                  <a:srgbClr val="FF5A52"/>
                </a:solidFill>
                <a:latin typeface="Calibri" pitchFamily="34" charset="0"/>
                <a:ea typeface="Calibri" pitchFamily="34" charset="-122"/>
                <a:cs typeface="Calibri" pitchFamily="34" charset="-120"/>
              </a:rPr>
              <a:t>$47,918</a:t>
            </a:r>
            <a:endParaRPr lang="en-US" sz="1400" dirty="0"/>
          </a:p>
        </p:txBody>
      </p:sp>
      <p:sp>
        <p:nvSpPr>
          <p:cNvPr id="19" name="Text 17"/>
          <p:cNvSpPr/>
          <p:nvPr/>
        </p:nvSpPr>
        <p:spPr>
          <a:xfrm>
            <a:off x="594360" y="4389120"/>
            <a:ext cx="5486400" cy="548640"/>
          </a:xfrm>
          <a:prstGeom prst="rect">
            <a:avLst/>
          </a:prstGeom>
          <a:noFill/>
          <a:ln/>
        </p:spPr>
        <p:txBody>
          <a:bodyPr wrap="square" lIns="0" tIns="0" rIns="0" bIns="0" rtlCol="0" anchor="t"/>
          <a:lstStyle/>
          <a:p>
            <a:pPr indent="0" marL="0">
              <a:buNone/>
            </a:pPr>
            <a:r>
              <a:rPr lang="en-US" sz="1050" i="1" dirty="0">
                <a:solidFill>
                  <a:srgbClr val="5B6470"/>
                </a:solidFill>
                <a:latin typeface="Calibri" pitchFamily="34" charset="0"/>
                <a:ea typeface="Calibri" pitchFamily="34" charset="-122"/>
                <a:cs typeface="Calibri" pitchFamily="34" charset="-120"/>
              </a:rPr>
              <a:t>La instalación la absorbe el taller de Montasa: 3 a 5 días por unidad la primera vez.</a:t>
            </a:r>
            <a:endParaRPr lang="en-US" sz="1050" dirty="0"/>
          </a:p>
        </p:txBody>
      </p:sp>
      <p:sp>
        <p:nvSpPr>
          <p:cNvPr id="20" name="Shape 18"/>
          <p:cNvSpPr/>
          <p:nvPr/>
        </p:nvSpPr>
        <p:spPr>
          <a:xfrm>
            <a:off x="6446520" y="1828800"/>
            <a:ext cx="5120640" cy="384048"/>
          </a:xfrm>
          <a:prstGeom prst="rect">
            <a:avLst/>
          </a:prstGeom>
          <a:solidFill>
            <a:srgbClr val="E7E9EC"/>
          </a:solidFill>
          <a:ln w="7620">
            <a:solidFill>
              <a:srgbClr val="D8DADE"/>
            </a:solidFill>
            <a:prstDash val="solid"/>
          </a:ln>
        </p:spPr>
      </p:sp>
      <p:sp>
        <p:nvSpPr>
          <p:cNvPr id="21" name="Text 19"/>
          <p:cNvSpPr/>
          <p:nvPr/>
        </p:nvSpPr>
        <p:spPr>
          <a:xfrm>
            <a:off x="6574536" y="1828800"/>
            <a:ext cx="1298448" cy="384048"/>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ESCENARIO</a:t>
            </a:r>
            <a:endParaRPr lang="en-US" sz="1000" dirty="0"/>
          </a:p>
        </p:txBody>
      </p:sp>
      <p:sp>
        <p:nvSpPr>
          <p:cNvPr id="22" name="Text 20"/>
          <p:cNvSpPr/>
          <p:nvPr/>
        </p:nvSpPr>
        <p:spPr>
          <a:xfrm>
            <a:off x="8129016" y="1828800"/>
            <a:ext cx="978408" cy="384048"/>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PRECIO</a:t>
            </a:r>
            <a:endParaRPr lang="en-US" sz="1000" dirty="0"/>
          </a:p>
        </p:txBody>
      </p:sp>
      <p:sp>
        <p:nvSpPr>
          <p:cNvPr id="23" name="Text 21"/>
          <p:cNvSpPr/>
          <p:nvPr/>
        </p:nvSpPr>
        <p:spPr>
          <a:xfrm>
            <a:off x="9363456" y="1828800"/>
            <a:ext cx="978408" cy="384048"/>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MARGEN</a:t>
            </a:r>
            <a:endParaRPr lang="en-US" sz="1000" dirty="0"/>
          </a:p>
        </p:txBody>
      </p:sp>
      <p:sp>
        <p:nvSpPr>
          <p:cNvPr id="24" name="Text 22"/>
          <p:cNvSpPr/>
          <p:nvPr/>
        </p:nvSpPr>
        <p:spPr>
          <a:xfrm>
            <a:off x="10597896" y="1828800"/>
            <a:ext cx="841248" cy="384048"/>
          </a:xfrm>
          <a:prstGeom prst="rect">
            <a:avLst/>
          </a:prstGeom>
          <a:noFill/>
          <a:ln/>
        </p:spPr>
        <p:txBody>
          <a:bodyPr wrap="square" lIns="0" tIns="0" rIns="0" bIns="0" rtlCol="0" anchor="ctr"/>
          <a:lstStyle/>
          <a:p>
            <a:pPr algn="r" indent="0" marL="0">
              <a:buNone/>
            </a:pPr>
            <a:r>
              <a:rPr lang="en-US" sz="1000" b="1" dirty="0">
                <a:solidFill>
                  <a:srgbClr val="5B6470"/>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6446520" y="2212848"/>
            <a:ext cx="5120640" cy="566928"/>
          </a:xfrm>
          <a:prstGeom prst="rect">
            <a:avLst/>
          </a:prstGeom>
          <a:solidFill>
            <a:srgbClr val="FFFFFF"/>
          </a:solidFill>
          <a:ln w="7620">
            <a:solidFill>
              <a:srgbClr val="D8DADE"/>
            </a:solidFill>
            <a:prstDash val="solid"/>
          </a:ln>
        </p:spPr>
      </p:sp>
      <p:sp>
        <p:nvSpPr>
          <p:cNvPr id="26" name="Text 24"/>
          <p:cNvSpPr/>
          <p:nvPr/>
        </p:nvSpPr>
        <p:spPr>
          <a:xfrm>
            <a:off x="6574536" y="2212848"/>
            <a:ext cx="1298448" cy="566928"/>
          </a:xfrm>
          <a:prstGeom prst="rect">
            <a:avLst/>
          </a:prstGeom>
          <a:noFill/>
          <a:ln/>
        </p:spPr>
        <p:txBody>
          <a:bodyPr wrap="square" lIns="0" tIns="0" rIns="0" bIns="0" rtlCol="0" anchor="ctr"/>
          <a:lstStyle/>
          <a:p>
            <a:pPr algn="l" indent="0" marL="0">
              <a:buNone/>
            </a:pPr>
            <a:r>
              <a:rPr lang="en-US" sz="1100" b="1" dirty="0">
                <a:solidFill>
                  <a:srgbClr val="5B6470"/>
                </a:solidFill>
                <a:latin typeface="Calibri" pitchFamily="34" charset="0"/>
                <a:ea typeface="Calibri" pitchFamily="34" charset="-122"/>
                <a:cs typeface="Calibri" pitchFamily="34" charset="-120"/>
              </a:rPr>
              <a:t>Piloto a costo</a:t>
            </a:r>
            <a:endParaRPr lang="en-US" sz="1100" dirty="0"/>
          </a:p>
        </p:txBody>
      </p:sp>
      <p:sp>
        <p:nvSpPr>
          <p:cNvPr id="27" name="Text 25"/>
          <p:cNvSpPr/>
          <p:nvPr/>
        </p:nvSpPr>
        <p:spPr>
          <a:xfrm>
            <a:off x="8129016" y="2212848"/>
            <a:ext cx="978408" cy="566928"/>
          </a:xfrm>
          <a:prstGeom prst="rect">
            <a:avLst/>
          </a:prstGeom>
          <a:noFill/>
          <a:ln/>
        </p:spPr>
        <p:txBody>
          <a:bodyPr wrap="square" lIns="0" tIns="0" rIns="0" bIns="0" rtlCol="0" anchor="ctr"/>
          <a:lstStyle/>
          <a:p>
            <a:pPr algn="r" indent="0" marL="0">
              <a:buNone/>
            </a:pPr>
            <a:r>
              <a:rPr lang="en-US" sz="1100" dirty="0">
                <a:solidFill>
                  <a:srgbClr val="1A1D23"/>
                </a:solidFill>
                <a:latin typeface="Calibri" pitchFamily="34" charset="0"/>
                <a:ea typeface="Calibri" pitchFamily="34" charset="-122"/>
                <a:cs typeface="Calibri" pitchFamily="34" charset="-120"/>
              </a:rPr>
              <a:t>$50,000</a:t>
            </a:r>
            <a:endParaRPr lang="en-US" sz="1100" dirty="0"/>
          </a:p>
        </p:txBody>
      </p:sp>
      <p:sp>
        <p:nvSpPr>
          <p:cNvPr id="28" name="Text 26"/>
          <p:cNvSpPr/>
          <p:nvPr/>
        </p:nvSpPr>
        <p:spPr>
          <a:xfrm>
            <a:off x="9363456" y="2212848"/>
            <a:ext cx="978408" cy="566928"/>
          </a:xfrm>
          <a:prstGeom prst="rect">
            <a:avLst/>
          </a:prstGeom>
          <a:noFill/>
          <a:ln/>
        </p:spPr>
        <p:txBody>
          <a:bodyPr wrap="square" lIns="0" tIns="0" rIns="0" bIns="0" rtlCol="0" anchor="ctr"/>
          <a:lstStyle/>
          <a:p>
            <a:pPr algn="r" indent="0" marL="0">
              <a:buNone/>
            </a:pPr>
            <a:r>
              <a:rPr lang="en-US" sz="1100" dirty="0">
                <a:solidFill>
                  <a:srgbClr val="1A1D23"/>
                </a:solidFill>
                <a:latin typeface="Calibri" pitchFamily="34" charset="0"/>
                <a:ea typeface="Calibri" pitchFamily="34" charset="-122"/>
                <a:cs typeface="Calibri" pitchFamily="34" charset="-120"/>
              </a:rPr>
              <a:t>$2,082</a:t>
            </a:r>
            <a:endParaRPr lang="en-US" sz="1100" dirty="0"/>
          </a:p>
        </p:txBody>
      </p:sp>
      <p:sp>
        <p:nvSpPr>
          <p:cNvPr id="29" name="Text 27"/>
          <p:cNvSpPr/>
          <p:nvPr/>
        </p:nvSpPr>
        <p:spPr>
          <a:xfrm>
            <a:off x="10597896" y="2212848"/>
            <a:ext cx="841248" cy="566928"/>
          </a:xfrm>
          <a:prstGeom prst="rect">
            <a:avLst/>
          </a:prstGeom>
          <a:noFill/>
          <a:ln/>
        </p:spPr>
        <p:txBody>
          <a:bodyPr wrap="square" lIns="0" tIns="0" rIns="0" bIns="0" rtlCol="0" anchor="ctr"/>
          <a:lstStyle/>
          <a:p>
            <a:pPr algn="r" indent="0" marL="0">
              <a:buNone/>
            </a:pPr>
            <a:r>
              <a:rPr lang="en-US" sz="1200" b="1" dirty="0">
                <a:solidFill>
                  <a:srgbClr val="5B6470"/>
                </a:solidFill>
                <a:latin typeface="Calibri" pitchFamily="34" charset="0"/>
                <a:ea typeface="Calibri" pitchFamily="34" charset="-122"/>
                <a:cs typeface="Calibri" pitchFamily="34" charset="-120"/>
              </a:rPr>
              <a:t>4%</a:t>
            </a:r>
            <a:endParaRPr lang="en-US" sz="1200" dirty="0"/>
          </a:p>
        </p:txBody>
      </p:sp>
      <p:sp>
        <p:nvSpPr>
          <p:cNvPr id="30" name="Shape 28"/>
          <p:cNvSpPr/>
          <p:nvPr/>
        </p:nvSpPr>
        <p:spPr>
          <a:xfrm>
            <a:off x="6446520" y="2779776"/>
            <a:ext cx="5120640" cy="566928"/>
          </a:xfrm>
          <a:prstGeom prst="rect">
            <a:avLst/>
          </a:prstGeom>
          <a:solidFill>
            <a:srgbClr val="FFFFFF"/>
          </a:solidFill>
          <a:ln w="7620">
            <a:solidFill>
              <a:srgbClr val="D8DADE"/>
            </a:solidFill>
            <a:prstDash val="solid"/>
          </a:ln>
        </p:spPr>
      </p:sp>
      <p:sp>
        <p:nvSpPr>
          <p:cNvPr id="31" name="Text 29"/>
          <p:cNvSpPr/>
          <p:nvPr/>
        </p:nvSpPr>
        <p:spPr>
          <a:xfrm>
            <a:off x="6574536" y="2779776"/>
            <a:ext cx="1298448" cy="566928"/>
          </a:xfrm>
          <a:prstGeom prst="rect">
            <a:avLst/>
          </a:prstGeom>
          <a:noFill/>
          <a:ln/>
        </p:spPr>
        <p:txBody>
          <a:bodyPr wrap="square" lIns="0" tIns="0" rIns="0" bIns="0" rtlCol="0" anchor="ctr"/>
          <a:lstStyle/>
          <a:p>
            <a:pPr algn="l" indent="0" marL="0">
              <a:buNone/>
            </a:pPr>
            <a:r>
              <a:rPr lang="en-US" sz="1100" b="1" dirty="0">
                <a:solidFill>
                  <a:srgbClr val="37C3FF"/>
                </a:solidFill>
                <a:latin typeface="Calibri" pitchFamily="34" charset="0"/>
                <a:ea typeface="Calibri" pitchFamily="34" charset="-122"/>
                <a:cs typeface="Calibri" pitchFamily="34" charset="-120"/>
              </a:rPr>
              <a:t>Conservador</a:t>
            </a:r>
            <a:endParaRPr lang="en-US" sz="1100" dirty="0"/>
          </a:p>
        </p:txBody>
      </p:sp>
      <p:sp>
        <p:nvSpPr>
          <p:cNvPr id="32" name="Text 30"/>
          <p:cNvSpPr/>
          <p:nvPr/>
        </p:nvSpPr>
        <p:spPr>
          <a:xfrm>
            <a:off x="8129016" y="2779776"/>
            <a:ext cx="978408" cy="566928"/>
          </a:xfrm>
          <a:prstGeom prst="rect">
            <a:avLst/>
          </a:prstGeom>
          <a:noFill/>
          <a:ln/>
        </p:spPr>
        <p:txBody>
          <a:bodyPr wrap="square" lIns="0" tIns="0" rIns="0" bIns="0" rtlCol="0" anchor="ctr"/>
          <a:lstStyle/>
          <a:p>
            <a:pPr algn="r" indent="0" marL="0">
              <a:buNone/>
            </a:pPr>
            <a:r>
              <a:rPr lang="en-US" sz="1100" dirty="0">
                <a:solidFill>
                  <a:srgbClr val="1A1D23"/>
                </a:solidFill>
                <a:latin typeface="Calibri" pitchFamily="34" charset="0"/>
                <a:ea typeface="Calibri" pitchFamily="34" charset="-122"/>
                <a:cs typeface="Calibri" pitchFamily="34" charset="-120"/>
              </a:rPr>
              <a:t>$70,000</a:t>
            </a:r>
            <a:endParaRPr lang="en-US" sz="1100" dirty="0"/>
          </a:p>
        </p:txBody>
      </p:sp>
      <p:sp>
        <p:nvSpPr>
          <p:cNvPr id="33" name="Text 31"/>
          <p:cNvSpPr/>
          <p:nvPr/>
        </p:nvSpPr>
        <p:spPr>
          <a:xfrm>
            <a:off x="9363456" y="2779776"/>
            <a:ext cx="978408" cy="566928"/>
          </a:xfrm>
          <a:prstGeom prst="rect">
            <a:avLst/>
          </a:prstGeom>
          <a:noFill/>
          <a:ln/>
        </p:spPr>
        <p:txBody>
          <a:bodyPr wrap="square" lIns="0" tIns="0" rIns="0" bIns="0" rtlCol="0" anchor="ctr"/>
          <a:lstStyle/>
          <a:p>
            <a:pPr algn="r" indent="0" marL="0">
              <a:buNone/>
            </a:pPr>
            <a:r>
              <a:rPr lang="en-US" sz="1100" dirty="0">
                <a:solidFill>
                  <a:srgbClr val="1A1D23"/>
                </a:solidFill>
                <a:latin typeface="Calibri" pitchFamily="34" charset="0"/>
                <a:ea typeface="Calibri" pitchFamily="34" charset="-122"/>
                <a:cs typeface="Calibri" pitchFamily="34" charset="-120"/>
              </a:rPr>
              <a:t>$22,082</a:t>
            </a:r>
            <a:endParaRPr lang="en-US" sz="1100" dirty="0"/>
          </a:p>
        </p:txBody>
      </p:sp>
      <p:sp>
        <p:nvSpPr>
          <p:cNvPr id="34" name="Text 32"/>
          <p:cNvSpPr/>
          <p:nvPr/>
        </p:nvSpPr>
        <p:spPr>
          <a:xfrm>
            <a:off x="10597896" y="2779776"/>
            <a:ext cx="841248" cy="566928"/>
          </a:xfrm>
          <a:prstGeom prst="rect">
            <a:avLst/>
          </a:prstGeom>
          <a:noFill/>
          <a:ln/>
        </p:spPr>
        <p:txBody>
          <a:bodyPr wrap="square" lIns="0" tIns="0" rIns="0" bIns="0" rtlCol="0" anchor="ctr"/>
          <a:lstStyle/>
          <a:p>
            <a:pPr algn="r" indent="0" marL="0">
              <a:buNone/>
            </a:pPr>
            <a:r>
              <a:rPr lang="en-US" sz="1200" b="1" dirty="0">
                <a:solidFill>
                  <a:srgbClr val="37C3FF"/>
                </a:solidFill>
                <a:latin typeface="Calibri" pitchFamily="34" charset="0"/>
                <a:ea typeface="Calibri" pitchFamily="34" charset="-122"/>
                <a:cs typeface="Calibri" pitchFamily="34" charset="-120"/>
              </a:rPr>
              <a:t>32%</a:t>
            </a:r>
            <a:endParaRPr lang="en-US" sz="1200" dirty="0"/>
          </a:p>
        </p:txBody>
      </p:sp>
      <p:sp>
        <p:nvSpPr>
          <p:cNvPr id="35" name="Shape 33"/>
          <p:cNvSpPr/>
          <p:nvPr/>
        </p:nvSpPr>
        <p:spPr>
          <a:xfrm>
            <a:off x="6446520" y="3346704"/>
            <a:ext cx="5120640" cy="566928"/>
          </a:xfrm>
          <a:prstGeom prst="rect">
            <a:avLst/>
          </a:prstGeom>
          <a:solidFill>
            <a:srgbClr val="FFFFFF"/>
          </a:solidFill>
          <a:ln w="7620">
            <a:solidFill>
              <a:srgbClr val="D8DADE"/>
            </a:solidFill>
            <a:prstDash val="solid"/>
          </a:ln>
        </p:spPr>
      </p:sp>
      <p:sp>
        <p:nvSpPr>
          <p:cNvPr id="36" name="Text 34"/>
          <p:cNvSpPr/>
          <p:nvPr/>
        </p:nvSpPr>
        <p:spPr>
          <a:xfrm>
            <a:off x="6574536" y="3346704"/>
            <a:ext cx="1298448" cy="566928"/>
          </a:xfrm>
          <a:prstGeom prst="rect">
            <a:avLst/>
          </a:prstGeom>
          <a:noFill/>
          <a:ln/>
        </p:spPr>
        <p:txBody>
          <a:bodyPr wrap="square" lIns="0" tIns="0" rIns="0" bIns="0" rtlCol="0" anchor="ctr"/>
          <a:lstStyle/>
          <a:p>
            <a:pPr algn="l" indent="0" marL="0">
              <a:buNone/>
            </a:pPr>
            <a:r>
              <a:rPr lang="en-US" sz="1100" b="1" dirty="0">
                <a:solidFill>
                  <a:srgbClr val="39D98A"/>
                </a:solidFill>
                <a:latin typeface="Calibri" pitchFamily="34" charset="0"/>
                <a:ea typeface="Calibri" pitchFamily="34" charset="-122"/>
                <a:cs typeface="Calibri" pitchFamily="34" charset="-120"/>
              </a:rPr>
              <a:t>Base</a:t>
            </a:r>
            <a:endParaRPr lang="en-US" sz="1100" dirty="0"/>
          </a:p>
        </p:txBody>
      </p:sp>
      <p:sp>
        <p:nvSpPr>
          <p:cNvPr id="37" name="Text 35"/>
          <p:cNvSpPr/>
          <p:nvPr/>
        </p:nvSpPr>
        <p:spPr>
          <a:xfrm>
            <a:off x="8129016" y="3346704"/>
            <a:ext cx="978408" cy="566928"/>
          </a:xfrm>
          <a:prstGeom prst="rect">
            <a:avLst/>
          </a:prstGeom>
          <a:noFill/>
          <a:ln/>
        </p:spPr>
        <p:txBody>
          <a:bodyPr wrap="square" lIns="0" tIns="0" rIns="0" bIns="0" rtlCol="0" anchor="ctr"/>
          <a:lstStyle/>
          <a:p>
            <a:pPr algn="r" indent="0" marL="0">
              <a:buNone/>
            </a:pPr>
            <a:r>
              <a:rPr lang="en-US" sz="1100" dirty="0">
                <a:solidFill>
                  <a:srgbClr val="1A1D23"/>
                </a:solidFill>
                <a:latin typeface="Calibri" pitchFamily="34" charset="0"/>
                <a:ea typeface="Calibri" pitchFamily="34" charset="-122"/>
                <a:cs typeface="Calibri" pitchFamily="34" charset="-120"/>
              </a:rPr>
              <a:t>$82,000</a:t>
            </a:r>
            <a:endParaRPr lang="en-US" sz="1100" dirty="0"/>
          </a:p>
        </p:txBody>
      </p:sp>
      <p:sp>
        <p:nvSpPr>
          <p:cNvPr id="38" name="Text 36"/>
          <p:cNvSpPr/>
          <p:nvPr/>
        </p:nvSpPr>
        <p:spPr>
          <a:xfrm>
            <a:off x="9363456" y="3346704"/>
            <a:ext cx="978408" cy="566928"/>
          </a:xfrm>
          <a:prstGeom prst="rect">
            <a:avLst/>
          </a:prstGeom>
          <a:noFill/>
          <a:ln/>
        </p:spPr>
        <p:txBody>
          <a:bodyPr wrap="square" lIns="0" tIns="0" rIns="0" bIns="0" rtlCol="0" anchor="ctr"/>
          <a:lstStyle/>
          <a:p>
            <a:pPr algn="r" indent="0" marL="0">
              <a:buNone/>
            </a:pPr>
            <a:r>
              <a:rPr lang="en-US" sz="1100" dirty="0">
                <a:solidFill>
                  <a:srgbClr val="1A1D23"/>
                </a:solidFill>
                <a:latin typeface="Calibri" pitchFamily="34" charset="0"/>
                <a:ea typeface="Calibri" pitchFamily="34" charset="-122"/>
                <a:cs typeface="Calibri" pitchFamily="34" charset="-120"/>
              </a:rPr>
              <a:t>$34,082</a:t>
            </a:r>
            <a:endParaRPr lang="en-US" sz="1100" dirty="0"/>
          </a:p>
        </p:txBody>
      </p:sp>
      <p:sp>
        <p:nvSpPr>
          <p:cNvPr id="39" name="Text 37"/>
          <p:cNvSpPr/>
          <p:nvPr/>
        </p:nvSpPr>
        <p:spPr>
          <a:xfrm>
            <a:off x="10597896" y="3346704"/>
            <a:ext cx="841248" cy="566928"/>
          </a:xfrm>
          <a:prstGeom prst="rect">
            <a:avLst/>
          </a:prstGeom>
          <a:noFill/>
          <a:ln/>
        </p:spPr>
        <p:txBody>
          <a:bodyPr wrap="square" lIns="0" tIns="0" rIns="0" bIns="0" rtlCol="0" anchor="ctr"/>
          <a:lstStyle/>
          <a:p>
            <a:pPr algn="r" indent="0" marL="0">
              <a:buNone/>
            </a:pPr>
            <a:r>
              <a:rPr lang="en-US" sz="1200" b="1" dirty="0">
                <a:solidFill>
                  <a:srgbClr val="39D98A"/>
                </a:solidFill>
                <a:latin typeface="Calibri" pitchFamily="34" charset="0"/>
                <a:ea typeface="Calibri" pitchFamily="34" charset="-122"/>
                <a:cs typeface="Calibri" pitchFamily="34" charset="-120"/>
              </a:rPr>
              <a:t>42%</a:t>
            </a:r>
            <a:endParaRPr lang="en-US" sz="1200" dirty="0"/>
          </a:p>
        </p:txBody>
      </p:sp>
      <p:sp>
        <p:nvSpPr>
          <p:cNvPr id="40" name="Shape 38"/>
          <p:cNvSpPr/>
          <p:nvPr/>
        </p:nvSpPr>
        <p:spPr>
          <a:xfrm>
            <a:off x="6446520" y="3913632"/>
            <a:ext cx="5120640" cy="566928"/>
          </a:xfrm>
          <a:prstGeom prst="rect">
            <a:avLst/>
          </a:prstGeom>
          <a:solidFill>
            <a:srgbClr val="FFFFFF"/>
          </a:solidFill>
          <a:ln w="7620">
            <a:solidFill>
              <a:srgbClr val="D8DADE"/>
            </a:solidFill>
            <a:prstDash val="solid"/>
          </a:ln>
        </p:spPr>
      </p:sp>
      <p:sp>
        <p:nvSpPr>
          <p:cNvPr id="41" name="Text 39"/>
          <p:cNvSpPr/>
          <p:nvPr/>
        </p:nvSpPr>
        <p:spPr>
          <a:xfrm>
            <a:off x="6574536" y="3913632"/>
            <a:ext cx="1298448" cy="566928"/>
          </a:xfrm>
          <a:prstGeom prst="rect">
            <a:avLst/>
          </a:prstGeom>
          <a:noFill/>
          <a:ln/>
        </p:spPr>
        <p:txBody>
          <a:bodyPr wrap="square" lIns="0" tIns="0" rIns="0" bIns="0" rtlCol="0" anchor="ctr"/>
          <a:lstStyle/>
          <a:p>
            <a:pPr algn="l" indent="0" marL="0">
              <a:buNone/>
            </a:pPr>
            <a:r>
              <a:rPr lang="en-US" sz="1100" b="1" dirty="0">
                <a:solidFill>
                  <a:srgbClr val="F5C518"/>
                </a:solidFill>
                <a:latin typeface="Calibri" pitchFamily="34" charset="0"/>
                <a:ea typeface="Calibri" pitchFamily="34" charset="-122"/>
                <a:cs typeface="Calibri" pitchFamily="34" charset="-120"/>
              </a:rPr>
              <a:t>Alto</a:t>
            </a:r>
            <a:endParaRPr lang="en-US" sz="1100" dirty="0"/>
          </a:p>
        </p:txBody>
      </p:sp>
      <p:sp>
        <p:nvSpPr>
          <p:cNvPr id="42" name="Text 40"/>
          <p:cNvSpPr/>
          <p:nvPr/>
        </p:nvSpPr>
        <p:spPr>
          <a:xfrm>
            <a:off x="8129016" y="3913632"/>
            <a:ext cx="978408" cy="566928"/>
          </a:xfrm>
          <a:prstGeom prst="rect">
            <a:avLst/>
          </a:prstGeom>
          <a:noFill/>
          <a:ln/>
        </p:spPr>
        <p:txBody>
          <a:bodyPr wrap="square" lIns="0" tIns="0" rIns="0" bIns="0" rtlCol="0" anchor="ctr"/>
          <a:lstStyle/>
          <a:p>
            <a:pPr algn="r" indent="0" marL="0">
              <a:buNone/>
            </a:pPr>
            <a:r>
              <a:rPr lang="en-US" sz="1100" dirty="0">
                <a:solidFill>
                  <a:srgbClr val="1A1D23"/>
                </a:solidFill>
                <a:latin typeface="Calibri" pitchFamily="34" charset="0"/>
                <a:ea typeface="Calibri" pitchFamily="34" charset="-122"/>
                <a:cs typeface="Calibri" pitchFamily="34" charset="-120"/>
              </a:rPr>
              <a:t>$94,000</a:t>
            </a:r>
            <a:endParaRPr lang="en-US" sz="1100" dirty="0"/>
          </a:p>
        </p:txBody>
      </p:sp>
      <p:sp>
        <p:nvSpPr>
          <p:cNvPr id="43" name="Text 41"/>
          <p:cNvSpPr/>
          <p:nvPr/>
        </p:nvSpPr>
        <p:spPr>
          <a:xfrm>
            <a:off x="9363456" y="3913632"/>
            <a:ext cx="978408" cy="566928"/>
          </a:xfrm>
          <a:prstGeom prst="rect">
            <a:avLst/>
          </a:prstGeom>
          <a:noFill/>
          <a:ln/>
        </p:spPr>
        <p:txBody>
          <a:bodyPr wrap="square" lIns="0" tIns="0" rIns="0" bIns="0" rtlCol="0" anchor="ctr"/>
          <a:lstStyle/>
          <a:p>
            <a:pPr algn="r" indent="0" marL="0">
              <a:buNone/>
            </a:pPr>
            <a:r>
              <a:rPr lang="en-US" sz="1100" dirty="0">
                <a:solidFill>
                  <a:srgbClr val="1A1D23"/>
                </a:solidFill>
                <a:latin typeface="Calibri" pitchFamily="34" charset="0"/>
                <a:ea typeface="Calibri" pitchFamily="34" charset="-122"/>
                <a:cs typeface="Calibri" pitchFamily="34" charset="-120"/>
              </a:rPr>
              <a:t>$46,082</a:t>
            </a:r>
            <a:endParaRPr lang="en-US" sz="1100" dirty="0"/>
          </a:p>
        </p:txBody>
      </p:sp>
      <p:sp>
        <p:nvSpPr>
          <p:cNvPr id="44" name="Text 42"/>
          <p:cNvSpPr/>
          <p:nvPr/>
        </p:nvSpPr>
        <p:spPr>
          <a:xfrm>
            <a:off x="10597896" y="3913632"/>
            <a:ext cx="841248" cy="566928"/>
          </a:xfrm>
          <a:prstGeom prst="rect">
            <a:avLst/>
          </a:prstGeom>
          <a:noFill/>
          <a:ln/>
        </p:spPr>
        <p:txBody>
          <a:bodyPr wrap="square" lIns="0" tIns="0" rIns="0" bIns="0" rtlCol="0" anchor="ctr"/>
          <a:lstStyle/>
          <a:p>
            <a:pPr algn="r" indent="0" marL="0">
              <a:buNone/>
            </a:pPr>
            <a:r>
              <a:rPr lang="en-US" sz="1200" b="1" dirty="0">
                <a:solidFill>
                  <a:srgbClr val="F5C518"/>
                </a:solidFill>
                <a:latin typeface="Calibri" pitchFamily="34" charset="0"/>
                <a:ea typeface="Calibri" pitchFamily="34" charset="-122"/>
                <a:cs typeface="Calibri" pitchFamily="34" charset="-120"/>
              </a:rPr>
              <a:t>49%</a:t>
            </a:r>
            <a:endParaRPr lang="en-US" sz="1200" dirty="0"/>
          </a:p>
        </p:txBody>
      </p:sp>
      <p:sp>
        <p:nvSpPr>
          <p:cNvPr id="45" name="Shape 43"/>
          <p:cNvSpPr/>
          <p:nvPr/>
        </p:nvSpPr>
        <p:spPr>
          <a:xfrm>
            <a:off x="6446520" y="4572000"/>
            <a:ext cx="5120640" cy="1143000"/>
          </a:xfrm>
          <a:prstGeom prst="roundRect">
            <a:avLst>
              <a:gd name="adj" fmla="val 7200"/>
            </a:avLst>
          </a:prstGeom>
          <a:solidFill>
            <a:srgbClr val="1A1D23"/>
          </a:solidFill>
          <a:ln/>
          <a:effectLst>
            <a:outerShdw sx="100000" sy="100000" kx="0" ky="0" algn="bl" rotWithShape="0" blurRad="152400" dist="38100" dir="5400000">
              <a:srgbClr val="000000">
                <a:alpha val="28000"/>
              </a:srgbClr>
            </a:outerShdw>
          </a:effectLst>
        </p:spPr>
      </p:sp>
      <p:sp>
        <p:nvSpPr>
          <p:cNvPr id="46" name="Text 44"/>
          <p:cNvSpPr/>
          <p:nvPr/>
        </p:nvSpPr>
        <p:spPr>
          <a:xfrm>
            <a:off x="6766560" y="4572000"/>
            <a:ext cx="4480560" cy="1143000"/>
          </a:xfrm>
          <a:prstGeom prst="rect">
            <a:avLst/>
          </a:prstGeom>
          <a:noFill/>
          <a:ln/>
        </p:spPr>
        <p:txBody>
          <a:bodyPr wrap="square" lIns="0" tIns="0" rIns="0" bIns="0" rtlCol="0" anchor="ctr"/>
          <a:lstStyle/>
          <a:p>
            <a:pPr indent="0" marL="0">
              <a:buNone/>
            </a:pPr>
            <a:r>
              <a:rPr lang="en-US" sz="1200" b="1" dirty="0">
                <a:solidFill>
                  <a:srgbClr val="39D98A"/>
                </a:solidFill>
                <a:latin typeface="Calibri" pitchFamily="34" charset="0"/>
                <a:ea typeface="Calibri" pitchFamily="34" charset="-122"/>
                <a:cs typeface="Calibri" pitchFamily="34" charset="-120"/>
              </a:rPr>
              <a:t>Con el escenario base, el piloto devuelve los $3,000 del prototipo más de diez veces.</a:t>
            </a:r>
            <a:endParaRPr lang="en-US" sz="1200" dirty="0"/>
          </a:p>
        </p:txBody>
      </p:sp>
      <p:sp>
        <p:nvSpPr>
          <p:cNvPr id="47" name="Text 45"/>
          <p:cNvSpPr/>
          <p:nvPr/>
        </p:nvSpPr>
        <p:spPr>
          <a:xfrm>
            <a:off x="594360" y="6035040"/>
            <a:ext cx="10972800" cy="548640"/>
          </a:xfrm>
          <a:prstGeom prst="rect">
            <a:avLst/>
          </a:prstGeom>
          <a:noFill/>
          <a:ln/>
        </p:spPr>
        <p:txBody>
          <a:bodyPr wrap="square" lIns="0" tIns="0" rIns="0" bIns="0" rtlCol="0" anchor="t"/>
          <a:lstStyle/>
          <a:p>
            <a:pPr indent="0" marL="0">
              <a:buNone/>
            </a:pPr>
            <a:r>
              <a:rPr lang="en-US" sz="1050" i="1" dirty="0">
                <a:solidFill>
                  <a:srgbClr val="5B6470"/>
                </a:solidFill>
                <a:latin typeface="Calibri" pitchFamily="34" charset="0"/>
                <a:ea typeface="Calibri" pitchFamily="34" charset="-122"/>
                <a:cs typeface="Calibri" pitchFamily="34" charset="-120"/>
              </a:rPr>
              <a:t>Margen bruto sobre materiales. No descuenta horas de ingeniería ni instalación. Los precios de venta son una decisión pendiente, no un compromiso.</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Dónde está el negocio de verdad</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La venta de hardware abre la puerta. El ingreso recurrente es lo que sostiene el producto.</a:t>
            </a:r>
            <a:endParaRPr lang="en-US" sz="1350" dirty="0"/>
          </a:p>
        </p:txBody>
      </p:sp>
      <p:sp>
        <p:nvSpPr>
          <p:cNvPr id="4" name="Shape 2"/>
          <p:cNvSpPr/>
          <p:nvPr/>
        </p:nvSpPr>
        <p:spPr>
          <a:xfrm>
            <a:off x="594360" y="1874520"/>
            <a:ext cx="3493008" cy="2560320"/>
          </a:xfrm>
          <a:prstGeom prst="roundRect">
            <a:avLst>
              <a:gd name="adj" fmla="val 3214"/>
            </a:avLst>
          </a:prstGeom>
          <a:solidFill>
            <a:srgbClr val="20242B"/>
          </a:solidFill>
          <a:ln/>
          <a:effectLst>
            <a:outerShdw sx="100000" sy="100000" kx="0" ky="0" algn="bl" rotWithShape="0" blurRad="152400" dist="38100" dir="5400000">
              <a:srgbClr val="000000">
                <a:alpha val="28000"/>
              </a:srgbClr>
            </a:outerShdw>
          </a:effectLst>
        </p:spPr>
      </p:sp>
      <p:sp>
        <p:nvSpPr>
          <p:cNvPr id="5" name="Shape 3"/>
          <p:cNvSpPr/>
          <p:nvPr/>
        </p:nvSpPr>
        <p:spPr>
          <a:xfrm>
            <a:off x="886968" y="2148840"/>
            <a:ext cx="548640" cy="41148"/>
          </a:xfrm>
          <a:prstGeom prst="rect">
            <a:avLst/>
          </a:prstGeom>
          <a:solidFill>
            <a:srgbClr val="FF5A52"/>
          </a:solidFill>
          <a:ln/>
        </p:spPr>
      </p:sp>
      <p:sp>
        <p:nvSpPr>
          <p:cNvPr id="6" name="Text 4"/>
          <p:cNvSpPr/>
          <p:nvPr/>
        </p:nvSpPr>
        <p:spPr>
          <a:xfrm>
            <a:off x="886968" y="2304288"/>
            <a:ext cx="2926080" cy="384048"/>
          </a:xfrm>
          <a:prstGeom prst="rect">
            <a:avLst/>
          </a:prstGeom>
          <a:noFill/>
          <a:ln/>
        </p:spPr>
        <p:txBody>
          <a:bodyPr wrap="square" lIns="0" tIns="0" rIns="0" bIns="0" rtlCol="0" anchor="ctr"/>
          <a:lstStyle/>
          <a:p>
            <a:pPr indent="0" marL="0">
              <a:buNone/>
            </a:pPr>
            <a:r>
              <a:rPr lang="en-US" sz="1800" b="1" dirty="0">
                <a:solidFill>
                  <a:srgbClr val="ECEBE6"/>
                </a:solidFill>
                <a:latin typeface="Cambria" pitchFamily="34" charset="0"/>
                <a:ea typeface="Cambria" pitchFamily="34" charset="-122"/>
                <a:cs typeface="Cambria" pitchFamily="34" charset="-120"/>
              </a:rPr>
              <a:t>Hardware</a:t>
            </a:r>
            <a:endParaRPr lang="en-US" sz="1800" dirty="0"/>
          </a:p>
        </p:txBody>
      </p:sp>
      <p:sp>
        <p:nvSpPr>
          <p:cNvPr id="7" name="Text 5"/>
          <p:cNvSpPr/>
          <p:nvPr/>
        </p:nvSpPr>
        <p:spPr>
          <a:xfrm>
            <a:off x="886968" y="2724912"/>
            <a:ext cx="2926080" cy="274320"/>
          </a:xfrm>
          <a:prstGeom prst="rect">
            <a:avLst/>
          </a:prstGeom>
          <a:noFill/>
          <a:ln/>
        </p:spPr>
        <p:txBody>
          <a:bodyPr wrap="square" lIns="0" tIns="0" rIns="0" bIns="0" rtlCol="0" anchor="ctr"/>
          <a:lstStyle/>
          <a:p>
            <a:pPr indent="0" marL="0">
              <a:buNone/>
            </a:pPr>
            <a:r>
              <a:rPr lang="en-US" sz="1050" b="1" dirty="0">
                <a:solidFill>
                  <a:srgbClr val="FF5A52"/>
                </a:solidFill>
                <a:latin typeface="Calibri" pitchFamily="34" charset="0"/>
                <a:ea typeface="Calibri" pitchFamily="34" charset="-122"/>
                <a:cs typeface="Calibri" pitchFamily="34" charset="-120"/>
              </a:rPr>
              <a:t>Una vez por unidad</a:t>
            </a:r>
            <a:endParaRPr lang="en-US" sz="1050" dirty="0"/>
          </a:p>
        </p:txBody>
      </p:sp>
      <p:sp>
        <p:nvSpPr>
          <p:cNvPr id="8" name="Text 6"/>
          <p:cNvSpPr/>
          <p:nvPr/>
        </p:nvSpPr>
        <p:spPr>
          <a:xfrm>
            <a:off x="886968" y="3063240"/>
            <a:ext cx="2926080" cy="658368"/>
          </a:xfrm>
          <a:prstGeom prst="rect">
            <a:avLst/>
          </a:prstGeom>
          <a:noFill/>
          <a:ln/>
        </p:spPr>
        <p:txBody>
          <a:bodyPr wrap="square" lIns="0" tIns="0" rIns="0" bIns="0" rtlCol="0" anchor="t"/>
          <a:lstStyle/>
          <a:p>
            <a:pPr indent="0" marL="0">
              <a:buNone/>
            </a:pPr>
            <a:r>
              <a:rPr lang="en-US" sz="1150" dirty="0">
                <a:solidFill>
                  <a:srgbClr val="8B949E"/>
                </a:solidFill>
                <a:latin typeface="Calibri" pitchFamily="34" charset="0"/>
                <a:ea typeface="Calibri" pitchFamily="34" charset="-122"/>
                <a:cs typeface="Calibri" pitchFamily="34" charset="-120"/>
              </a:rPr>
              <a:t>Margen alto, pero no se repite</a:t>
            </a:r>
            <a:endParaRPr lang="en-US" sz="1150" dirty="0"/>
          </a:p>
        </p:txBody>
      </p:sp>
      <p:sp>
        <p:nvSpPr>
          <p:cNvPr id="9" name="Text 7"/>
          <p:cNvSpPr/>
          <p:nvPr/>
        </p:nvSpPr>
        <p:spPr>
          <a:xfrm>
            <a:off x="886968" y="3858768"/>
            <a:ext cx="2926080" cy="365760"/>
          </a:xfrm>
          <a:prstGeom prst="rect">
            <a:avLst/>
          </a:prstGeom>
          <a:noFill/>
          <a:ln/>
        </p:spPr>
        <p:txBody>
          <a:bodyPr wrap="square" lIns="0" tIns="0" rIns="0" bIns="0" rtlCol="0" anchor="ctr"/>
          <a:lstStyle/>
          <a:p>
            <a:pPr indent="0" marL="0">
              <a:buNone/>
            </a:pPr>
            <a:r>
              <a:rPr lang="en-US" sz="1200" b="1" dirty="0">
                <a:solidFill>
                  <a:srgbClr val="ECEBE6"/>
                </a:solidFill>
                <a:latin typeface="Calibri" pitchFamily="34" charset="0"/>
                <a:ea typeface="Calibri" pitchFamily="34" charset="-122"/>
                <a:cs typeface="Calibri" pitchFamily="34" charset="-120"/>
              </a:rPr>
              <a:t>$8,548 de costo</a:t>
            </a:r>
            <a:endParaRPr lang="en-US" sz="1200" dirty="0"/>
          </a:p>
        </p:txBody>
      </p:sp>
      <p:sp>
        <p:nvSpPr>
          <p:cNvPr id="10" name="Shape 8"/>
          <p:cNvSpPr/>
          <p:nvPr/>
        </p:nvSpPr>
        <p:spPr>
          <a:xfrm>
            <a:off x="4306824" y="1874520"/>
            <a:ext cx="3493008" cy="2560320"/>
          </a:xfrm>
          <a:prstGeom prst="roundRect">
            <a:avLst>
              <a:gd name="adj" fmla="val 3214"/>
            </a:avLst>
          </a:prstGeom>
          <a:solidFill>
            <a:srgbClr val="20242B"/>
          </a:solidFill>
          <a:ln/>
          <a:effectLst>
            <a:outerShdw sx="100000" sy="100000" kx="0" ky="0" algn="bl" rotWithShape="0" blurRad="152400" dist="38100" dir="5400000">
              <a:srgbClr val="000000">
                <a:alpha val="28000"/>
              </a:srgbClr>
            </a:outerShdw>
          </a:effectLst>
        </p:spPr>
      </p:sp>
      <p:sp>
        <p:nvSpPr>
          <p:cNvPr id="11" name="Shape 9"/>
          <p:cNvSpPr/>
          <p:nvPr/>
        </p:nvSpPr>
        <p:spPr>
          <a:xfrm>
            <a:off x="4599432" y="2148840"/>
            <a:ext cx="548640" cy="41148"/>
          </a:xfrm>
          <a:prstGeom prst="rect">
            <a:avLst/>
          </a:prstGeom>
          <a:solidFill>
            <a:srgbClr val="F5C518"/>
          </a:solidFill>
          <a:ln/>
        </p:spPr>
      </p:sp>
      <p:sp>
        <p:nvSpPr>
          <p:cNvPr id="12" name="Text 10"/>
          <p:cNvSpPr/>
          <p:nvPr/>
        </p:nvSpPr>
        <p:spPr>
          <a:xfrm>
            <a:off x="4599432" y="2304288"/>
            <a:ext cx="2926080" cy="384048"/>
          </a:xfrm>
          <a:prstGeom prst="rect">
            <a:avLst/>
          </a:prstGeom>
          <a:noFill/>
          <a:ln/>
        </p:spPr>
        <p:txBody>
          <a:bodyPr wrap="square" lIns="0" tIns="0" rIns="0" bIns="0" rtlCol="0" anchor="ctr"/>
          <a:lstStyle/>
          <a:p>
            <a:pPr indent="0" marL="0">
              <a:buNone/>
            </a:pPr>
            <a:r>
              <a:rPr lang="en-US" sz="1800" b="1" dirty="0">
                <a:solidFill>
                  <a:srgbClr val="ECEBE6"/>
                </a:solidFill>
                <a:latin typeface="Cambria" pitchFamily="34" charset="0"/>
                <a:ea typeface="Cambria" pitchFamily="34" charset="-122"/>
                <a:cs typeface="Cambria" pitchFamily="34" charset="-120"/>
              </a:rPr>
              <a:t>Instalación e integración</a:t>
            </a:r>
            <a:endParaRPr lang="en-US" sz="1800" dirty="0"/>
          </a:p>
        </p:txBody>
      </p:sp>
      <p:sp>
        <p:nvSpPr>
          <p:cNvPr id="13" name="Text 11"/>
          <p:cNvSpPr/>
          <p:nvPr/>
        </p:nvSpPr>
        <p:spPr>
          <a:xfrm>
            <a:off x="4599432" y="2724912"/>
            <a:ext cx="2926080" cy="274320"/>
          </a:xfrm>
          <a:prstGeom prst="rect">
            <a:avLst/>
          </a:prstGeom>
          <a:noFill/>
          <a:ln/>
        </p:spPr>
        <p:txBody>
          <a:bodyPr wrap="square" lIns="0" tIns="0" rIns="0" bIns="0" rtlCol="0" anchor="ctr"/>
          <a:lstStyle/>
          <a:p>
            <a:pPr indent="0" marL="0">
              <a:buNone/>
            </a:pPr>
            <a:r>
              <a:rPr lang="en-US" sz="1050" b="1" dirty="0">
                <a:solidFill>
                  <a:srgbClr val="F5C518"/>
                </a:solidFill>
                <a:latin typeface="Calibri" pitchFamily="34" charset="0"/>
                <a:ea typeface="Calibri" pitchFamily="34" charset="-122"/>
                <a:cs typeface="Calibri" pitchFamily="34" charset="-120"/>
              </a:rPr>
              <a:t>Una vez por sitio</a:t>
            </a:r>
            <a:endParaRPr lang="en-US" sz="1050" dirty="0"/>
          </a:p>
        </p:txBody>
      </p:sp>
      <p:sp>
        <p:nvSpPr>
          <p:cNvPr id="14" name="Text 12"/>
          <p:cNvSpPr/>
          <p:nvPr/>
        </p:nvSpPr>
        <p:spPr>
          <a:xfrm>
            <a:off x="4599432" y="3063240"/>
            <a:ext cx="2926080" cy="658368"/>
          </a:xfrm>
          <a:prstGeom prst="rect">
            <a:avLst/>
          </a:prstGeom>
          <a:noFill/>
          <a:ln/>
        </p:spPr>
        <p:txBody>
          <a:bodyPr wrap="square" lIns="0" tIns="0" rIns="0" bIns="0" rtlCol="0" anchor="t"/>
          <a:lstStyle/>
          <a:p>
            <a:pPr indent="0" marL="0">
              <a:buNone/>
            </a:pPr>
            <a:r>
              <a:rPr lang="en-US" sz="1150" dirty="0">
                <a:solidFill>
                  <a:srgbClr val="8B949E"/>
                </a:solidFill>
                <a:latin typeface="Calibri" pitchFamily="34" charset="0"/>
                <a:ea typeface="Calibri" pitchFamily="34" charset="-122"/>
                <a:cs typeface="Calibri" pitchFamily="34" charset="-120"/>
              </a:rPr>
              <a:t>La cobra el taller que ya existe</a:t>
            </a:r>
            <a:endParaRPr lang="en-US" sz="1150" dirty="0"/>
          </a:p>
        </p:txBody>
      </p:sp>
      <p:sp>
        <p:nvSpPr>
          <p:cNvPr id="15" name="Text 13"/>
          <p:cNvSpPr/>
          <p:nvPr/>
        </p:nvSpPr>
        <p:spPr>
          <a:xfrm>
            <a:off x="4599432" y="3858768"/>
            <a:ext cx="2926080" cy="365760"/>
          </a:xfrm>
          <a:prstGeom prst="rect">
            <a:avLst/>
          </a:prstGeom>
          <a:noFill/>
          <a:ln/>
        </p:spPr>
        <p:txBody>
          <a:bodyPr wrap="square" lIns="0" tIns="0" rIns="0" bIns="0" rtlCol="0" anchor="ctr"/>
          <a:lstStyle/>
          <a:p>
            <a:pPr indent="0" marL="0">
              <a:buNone/>
            </a:pPr>
            <a:r>
              <a:rPr lang="en-US" sz="1200" b="1" dirty="0">
                <a:solidFill>
                  <a:srgbClr val="ECEBE6"/>
                </a:solidFill>
                <a:latin typeface="Calibri" pitchFamily="34" charset="0"/>
                <a:ea typeface="Calibri" pitchFamily="34" charset="-122"/>
                <a:cs typeface="Calibri" pitchFamily="34" charset="-120"/>
              </a:rPr>
              <a:t>Capacidad instalada</a:t>
            </a:r>
            <a:endParaRPr lang="en-US" sz="1200" dirty="0"/>
          </a:p>
        </p:txBody>
      </p:sp>
      <p:sp>
        <p:nvSpPr>
          <p:cNvPr id="16" name="Shape 14"/>
          <p:cNvSpPr/>
          <p:nvPr/>
        </p:nvSpPr>
        <p:spPr>
          <a:xfrm>
            <a:off x="8019288" y="1874520"/>
            <a:ext cx="3493008" cy="2560320"/>
          </a:xfrm>
          <a:prstGeom prst="roundRect">
            <a:avLst>
              <a:gd name="adj" fmla="val 3214"/>
            </a:avLst>
          </a:prstGeom>
          <a:solidFill>
            <a:srgbClr val="20242B"/>
          </a:solidFill>
          <a:ln/>
          <a:effectLst>
            <a:outerShdw sx="100000" sy="100000" kx="0" ky="0" algn="bl" rotWithShape="0" blurRad="152400" dist="38100" dir="5400000">
              <a:srgbClr val="000000">
                <a:alpha val="28000"/>
              </a:srgbClr>
            </a:outerShdw>
          </a:effectLst>
        </p:spPr>
      </p:sp>
      <p:sp>
        <p:nvSpPr>
          <p:cNvPr id="17" name="Shape 15"/>
          <p:cNvSpPr/>
          <p:nvPr/>
        </p:nvSpPr>
        <p:spPr>
          <a:xfrm>
            <a:off x="8311896" y="2148840"/>
            <a:ext cx="548640" cy="41148"/>
          </a:xfrm>
          <a:prstGeom prst="rect">
            <a:avLst/>
          </a:prstGeom>
          <a:solidFill>
            <a:srgbClr val="39D98A"/>
          </a:solidFill>
          <a:ln/>
        </p:spPr>
      </p:sp>
      <p:sp>
        <p:nvSpPr>
          <p:cNvPr id="18" name="Text 16"/>
          <p:cNvSpPr/>
          <p:nvPr/>
        </p:nvSpPr>
        <p:spPr>
          <a:xfrm>
            <a:off x="8311896" y="2304288"/>
            <a:ext cx="2926080" cy="384048"/>
          </a:xfrm>
          <a:prstGeom prst="rect">
            <a:avLst/>
          </a:prstGeom>
          <a:noFill/>
          <a:ln/>
        </p:spPr>
        <p:txBody>
          <a:bodyPr wrap="square" lIns="0" tIns="0" rIns="0" bIns="0" rtlCol="0" anchor="ctr"/>
          <a:lstStyle/>
          <a:p>
            <a:pPr indent="0" marL="0">
              <a:buNone/>
            </a:pPr>
            <a:r>
              <a:rPr lang="en-US" sz="1800" b="1" dirty="0">
                <a:solidFill>
                  <a:srgbClr val="ECEBE6"/>
                </a:solidFill>
                <a:latin typeface="Cambria" pitchFamily="34" charset="0"/>
                <a:ea typeface="Cambria" pitchFamily="34" charset="-122"/>
                <a:cs typeface="Cambria" pitchFamily="34" charset="-120"/>
              </a:rPr>
              <a:t>Software y monitoreo</a:t>
            </a:r>
            <a:endParaRPr lang="en-US" sz="1800" dirty="0"/>
          </a:p>
        </p:txBody>
      </p:sp>
      <p:sp>
        <p:nvSpPr>
          <p:cNvPr id="19" name="Text 17"/>
          <p:cNvSpPr/>
          <p:nvPr/>
        </p:nvSpPr>
        <p:spPr>
          <a:xfrm>
            <a:off x="8311896" y="2724912"/>
            <a:ext cx="2926080" cy="274320"/>
          </a:xfrm>
          <a:prstGeom prst="rect">
            <a:avLst/>
          </a:prstGeom>
          <a:noFill/>
          <a:ln/>
        </p:spPr>
        <p:txBody>
          <a:bodyPr wrap="square" lIns="0" tIns="0" rIns="0" bIns="0" rtlCol="0" anchor="ctr"/>
          <a:lstStyle/>
          <a:p>
            <a:pPr indent="0" marL="0">
              <a:buNone/>
            </a:pPr>
            <a:r>
              <a:rPr lang="en-US" sz="1050" b="1" dirty="0">
                <a:solidFill>
                  <a:srgbClr val="39D98A"/>
                </a:solidFill>
                <a:latin typeface="Calibri" pitchFamily="34" charset="0"/>
                <a:ea typeface="Calibri" pitchFamily="34" charset="-122"/>
                <a:cs typeface="Calibri" pitchFamily="34" charset="-120"/>
              </a:rPr>
              <a:t>Todos los años, por unidad</a:t>
            </a:r>
            <a:endParaRPr lang="en-US" sz="1050" dirty="0"/>
          </a:p>
        </p:txBody>
      </p:sp>
      <p:sp>
        <p:nvSpPr>
          <p:cNvPr id="20" name="Text 18"/>
          <p:cNvSpPr/>
          <p:nvPr/>
        </p:nvSpPr>
        <p:spPr>
          <a:xfrm>
            <a:off x="8311896" y="3063240"/>
            <a:ext cx="2926080" cy="658368"/>
          </a:xfrm>
          <a:prstGeom prst="rect">
            <a:avLst/>
          </a:prstGeom>
          <a:noFill/>
          <a:ln/>
        </p:spPr>
        <p:txBody>
          <a:bodyPr wrap="square" lIns="0" tIns="0" rIns="0" bIns="0" rtlCol="0" anchor="t"/>
          <a:lstStyle/>
          <a:p>
            <a:pPr indent="0" marL="0">
              <a:buNone/>
            </a:pPr>
            <a:r>
              <a:rPr lang="en-US" sz="1150" dirty="0">
                <a:solidFill>
                  <a:srgbClr val="8B949E"/>
                </a:solidFill>
                <a:latin typeface="Calibri" pitchFamily="34" charset="0"/>
                <a:ea typeface="Calibri" pitchFamily="34" charset="-122"/>
                <a:cs typeface="Calibri" pitchFamily="34" charset="-120"/>
              </a:rPr>
              <a:t>Es lo que hace escalable el negocio</a:t>
            </a:r>
            <a:endParaRPr lang="en-US" sz="1150" dirty="0"/>
          </a:p>
        </p:txBody>
      </p:sp>
      <p:sp>
        <p:nvSpPr>
          <p:cNvPr id="21" name="Text 19"/>
          <p:cNvSpPr/>
          <p:nvPr/>
        </p:nvSpPr>
        <p:spPr>
          <a:xfrm>
            <a:off x="8311896" y="3858768"/>
            <a:ext cx="2926080" cy="365760"/>
          </a:xfrm>
          <a:prstGeom prst="rect">
            <a:avLst/>
          </a:prstGeom>
          <a:noFill/>
          <a:ln/>
        </p:spPr>
        <p:txBody>
          <a:bodyPr wrap="square" lIns="0" tIns="0" rIns="0" bIns="0" rtlCol="0" anchor="ctr"/>
          <a:lstStyle/>
          <a:p>
            <a:pPr indent="0" marL="0">
              <a:buNone/>
            </a:pPr>
            <a:r>
              <a:rPr lang="en-US" sz="1200" b="1" dirty="0">
                <a:solidFill>
                  <a:srgbClr val="ECEBE6"/>
                </a:solidFill>
                <a:latin typeface="Calibri" pitchFamily="34" charset="0"/>
                <a:ea typeface="Calibri" pitchFamily="34" charset="-122"/>
                <a:cs typeface="Calibri" pitchFamily="34" charset="-120"/>
              </a:rPr>
              <a:t>$3,000 – $5,500 por unidad/año</a:t>
            </a:r>
            <a:endParaRPr lang="en-US" sz="1200" dirty="0"/>
          </a:p>
        </p:txBody>
      </p:sp>
      <p:sp>
        <p:nvSpPr>
          <p:cNvPr id="22" name="Shape 20"/>
          <p:cNvSpPr/>
          <p:nvPr/>
        </p:nvSpPr>
        <p:spPr>
          <a:xfrm>
            <a:off x="594360" y="4800600"/>
            <a:ext cx="10972800" cy="1463040"/>
          </a:xfrm>
          <a:prstGeom prst="roundRect">
            <a:avLst>
              <a:gd name="adj" fmla="val 5625"/>
            </a:avLst>
          </a:prstGeom>
          <a:solidFill>
            <a:srgbClr val="20242B"/>
          </a:solidFill>
          <a:ln/>
          <a:effectLst>
            <a:outerShdw sx="100000" sy="100000" kx="0" ky="0" algn="bl" rotWithShape="0" blurRad="152400" dist="38100" dir="5400000">
              <a:srgbClr val="000000">
                <a:alpha val="28000"/>
              </a:srgbClr>
            </a:outerShdw>
          </a:effectLst>
        </p:spPr>
      </p:sp>
      <p:sp>
        <p:nvSpPr>
          <p:cNvPr id="23" name="Text 21"/>
          <p:cNvSpPr/>
          <p:nvPr/>
        </p:nvSpPr>
        <p:spPr>
          <a:xfrm>
            <a:off x="960120" y="4800600"/>
            <a:ext cx="10241280" cy="1463040"/>
          </a:xfrm>
          <a:prstGeom prst="rect">
            <a:avLst/>
          </a:prstGeom>
          <a:noFill/>
          <a:ln/>
        </p:spPr>
        <p:txBody>
          <a:bodyPr wrap="square" lIns="0" tIns="0" rIns="0" bIns="0" rtlCol="0" anchor="ctr"/>
          <a:lstStyle/>
          <a:p>
            <a:pPr indent="0" marL="0">
              <a:buNone/>
            </a:pPr>
            <a:r>
              <a:rPr lang="en-US" sz="1350" b="1" dirty="0">
                <a:solidFill>
                  <a:srgbClr val="F5C518"/>
                </a:solidFill>
                <a:latin typeface="Calibri" pitchFamily="34" charset="0"/>
                <a:ea typeface="Calibri" pitchFamily="34" charset="-122"/>
                <a:cs typeface="Calibri" pitchFamily="34" charset="-120"/>
              </a:rPr>
              <a:t>Tres unidades en el primer cliente son unos $12,000 al año de ingreso recurrente. Si en 12 meses hay tres sitios operando, son cerca de $36,000 anuales que no dependen de vender hardware nuevo.</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Matriz de riesgos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Ocho riesgos identificados, cada uno con su mitigación</a:t>
            </a:r>
            <a:endParaRPr lang="en-US" sz="1350" dirty="0"/>
          </a:p>
        </p:txBody>
      </p:sp>
      <p:sp>
        <p:nvSpPr>
          <p:cNvPr id="4" name="Shape 2"/>
          <p:cNvSpPr/>
          <p:nvPr/>
        </p:nvSpPr>
        <p:spPr>
          <a:xfrm>
            <a:off x="594360" y="1783080"/>
            <a:ext cx="10972800" cy="365760"/>
          </a:xfrm>
          <a:prstGeom prst="rect">
            <a:avLst/>
          </a:prstGeom>
          <a:solidFill>
            <a:srgbClr val="E7E9EC"/>
          </a:solidFill>
          <a:ln w="7620">
            <a:solidFill>
              <a:srgbClr val="D8DADE"/>
            </a:solidFill>
            <a:prstDash val="solid"/>
          </a:ln>
        </p:spPr>
      </p:sp>
      <p:sp>
        <p:nvSpPr>
          <p:cNvPr id="5" name="Text 3"/>
          <p:cNvSpPr/>
          <p:nvPr/>
        </p:nvSpPr>
        <p:spPr>
          <a:xfrm>
            <a:off x="722376" y="1783080"/>
            <a:ext cx="1161288" cy="365760"/>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TIPO</a:t>
            </a:r>
            <a:endParaRPr lang="en-US" sz="1000" dirty="0"/>
          </a:p>
        </p:txBody>
      </p:sp>
      <p:sp>
        <p:nvSpPr>
          <p:cNvPr id="6" name="Text 4"/>
          <p:cNvSpPr/>
          <p:nvPr/>
        </p:nvSpPr>
        <p:spPr>
          <a:xfrm>
            <a:off x="2139696" y="1783080"/>
            <a:ext cx="3675888" cy="365760"/>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RIESGO</a:t>
            </a:r>
            <a:endParaRPr lang="en-US" sz="1000" dirty="0"/>
          </a:p>
        </p:txBody>
      </p:sp>
      <p:sp>
        <p:nvSpPr>
          <p:cNvPr id="7" name="Text 5"/>
          <p:cNvSpPr/>
          <p:nvPr/>
        </p:nvSpPr>
        <p:spPr>
          <a:xfrm>
            <a:off x="6071616" y="1783080"/>
            <a:ext cx="612648" cy="365760"/>
          </a:xfrm>
          <a:prstGeom prst="rect">
            <a:avLst/>
          </a:prstGeom>
          <a:noFill/>
          <a:ln/>
        </p:spPr>
        <p:txBody>
          <a:bodyPr wrap="square" lIns="0" tIns="0" rIns="0" bIns="0" rtlCol="0" anchor="ctr"/>
          <a:lstStyle/>
          <a:p>
            <a:pPr algn="ctr" indent="0" marL="0">
              <a:buNone/>
            </a:pPr>
            <a:r>
              <a:rPr lang="en-US" sz="1000" b="1" dirty="0">
                <a:solidFill>
                  <a:srgbClr val="5B6470"/>
                </a:solidFill>
                <a:latin typeface="Calibri" pitchFamily="34" charset="0"/>
                <a:ea typeface="Calibri" pitchFamily="34" charset="-122"/>
                <a:cs typeface="Calibri" pitchFamily="34" charset="-120"/>
              </a:rPr>
              <a:t>PROB.</a:t>
            </a:r>
            <a:endParaRPr lang="en-US" sz="1000" dirty="0"/>
          </a:p>
        </p:txBody>
      </p:sp>
      <p:sp>
        <p:nvSpPr>
          <p:cNvPr id="8" name="Text 6"/>
          <p:cNvSpPr/>
          <p:nvPr/>
        </p:nvSpPr>
        <p:spPr>
          <a:xfrm>
            <a:off x="6940296" y="1783080"/>
            <a:ext cx="749808" cy="365760"/>
          </a:xfrm>
          <a:prstGeom prst="rect">
            <a:avLst/>
          </a:prstGeom>
          <a:noFill/>
          <a:ln/>
        </p:spPr>
        <p:txBody>
          <a:bodyPr wrap="square" lIns="0" tIns="0" rIns="0" bIns="0" rtlCol="0" anchor="ctr"/>
          <a:lstStyle/>
          <a:p>
            <a:pPr algn="ctr" indent="0" marL="0">
              <a:buNone/>
            </a:pPr>
            <a:r>
              <a:rPr lang="en-US" sz="1000" b="1" dirty="0">
                <a:solidFill>
                  <a:srgbClr val="5B6470"/>
                </a:solidFill>
                <a:latin typeface="Calibri" pitchFamily="34" charset="0"/>
                <a:ea typeface="Calibri" pitchFamily="34" charset="-122"/>
                <a:cs typeface="Calibri" pitchFamily="34" charset="-120"/>
              </a:rPr>
              <a:t>IMPACTO</a:t>
            </a:r>
            <a:endParaRPr lang="en-US" sz="1000" dirty="0"/>
          </a:p>
        </p:txBody>
      </p:sp>
      <p:sp>
        <p:nvSpPr>
          <p:cNvPr id="9" name="Text 7"/>
          <p:cNvSpPr/>
          <p:nvPr/>
        </p:nvSpPr>
        <p:spPr>
          <a:xfrm>
            <a:off x="7946136" y="1783080"/>
            <a:ext cx="3493008" cy="365760"/>
          </a:xfrm>
          <a:prstGeom prst="rect">
            <a:avLst/>
          </a:prstGeom>
          <a:noFill/>
          <a:ln/>
        </p:spPr>
        <p:txBody>
          <a:bodyPr wrap="square" lIns="0" tIns="0" rIns="0" bIns="0" rtlCol="0" anchor="ctr"/>
          <a:lstStyle/>
          <a:p>
            <a:pPr algn="l" indent="0" marL="0">
              <a:buNone/>
            </a:pPr>
            <a:r>
              <a:rPr lang="en-US" sz="1000" b="1" dirty="0">
                <a:solidFill>
                  <a:srgbClr val="5B6470"/>
                </a:solidFill>
                <a:latin typeface="Calibri" pitchFamily="34" charset="0"/>
                <a:ea typeface="Calibri" pitchFamily="34" charset="-122"/>
                <a:cs typeface="Calibri" pitchFamily="34" charset="-120"/>
              </a:rPr>
              <a:t>MITIGACIÓN</a:t>
            </a:r>
            <a:endParaRPr lang="en-US" sz="1000" dirty="0"/>
          </a:p>
        </p:txBody>
      </p:sp>
      <p:sp>
        <p:nvSpPr>
          <p:cNvPr id="10" name="Shape 8"/>
          <p:cNvSpPr/>
          <p:nvPr/>
        </p:nvSpPr>
        <p:spPr>
          <a:xfrm>
            <a:off x="594360" y="2148840"/>
            <a:ext cx="10972800" cy="530352"/>
          </a:xfrm>
          <a:prstGeom prst="rect">
            <a:avLst/>
          </a:prstGeom>
          <a:solidFill>
            <a:srgbClr val="FFFFFF"/>
          </a:solidFill>
          <a:ln w="7620">
            <a:solidFill>
              <a:srgbClr val="D8DADE"/>
            </a:solidFill>
            <a:prstDash val="solid"/>
          </a:ln>
        </p:spPr>
      </p:sp>
      <p:sp>
        <p:nvSpPr>
          <p:cNvPr id="11" name="Text 9"/>
          <p:cNvSpPr/>
          <p:nvPr/>
        </p:nvSpPr>
        <p:spPr>
          <a:xfrm>
            <a:off x="722376" y="2148840"/>
            <a:ext cx="1161288" cy="530352"/>
          </a:xfrm>
          <a:prstGeom prst="rect">
            <a:avLst/>
          </a:prstGeom>
          <a:noFill/>
          <a:ln/>
        </p:spPr>
        <p:txBody>
          <a:bodyPr wrap="square" lIns="0" tIns="0" rIns="0" bIns="0" rtlCol="0" anchor="ctr"/>
          <a:lstStyle/>
          <a:p>
            <a:pPr algn="l" indent="0" marL="0">
              <a:buNone/>
            </a:pPr>
            <a:r>
              <a:rPr lang="en-US" sz="1000" b="1" dirty="0">
                <a:solidFill>
                  <a:srgbClr val="FF5A52"/>
                </a:solidFill>
                <a:latin typeface="Calibri" pitchFamily="34" charset="0"/>
                <a:ea typeface="Calibri" pitchFamily="34" charset="-122"/>
                <a:cs typeface="Calibri" pitchFamily="34" charset="-120"/>
              </a:rPr>
              <a:t>Técnico</a:t>
            </a:r>
            <a:endParaRPr lang="en-US" sz="1000" dirty="0"/>
          </a:p>
        </p:txBody>
      </p:sp>
      <p:sp>
        <p:nvSpPr>
          <p:cNvPr id="12" name="Text 10"/>
          <p:cNvSpPr/>
          <p:nvPr/>
        </p:nvSpPr>
        <p:spPr>
          <a:xfrm>
            <a:off x="2139696" y="2148840"/>
            <a:ext cx="3675888" cy="530352"/>
          </a:xfrm>
          <a:prstGeom prst="rect">
            <a:avLst/>
          </a:prstGeom>
          <a:noFill/>
          <a:ln/>
        </p:spPr>
        <p:txBody>
          <a:bodyPr wrap="square" lIns="0" tIns="0" rIns="0" bIns="0" rtlCol="0" anchor="ctr"/>
          <a:lstStyle/>
          <a:p>
            <a:pPr algn="l" indent="0" marL="0">
              <a:buNone/>
            </a:pPr>
            <a:r>
              <a:rPr lang="en-US" sz="1000" dirty="0">
                <a:solidFill>
                  <a:srgbClr val="1A1D23"/>
                </a:solidFill>
                <a:latin typeface="Calibri" pitchFamily="34" charset="0"/>
                <a:ea typeface="Calibri" pitchFamily="34" charset="-122"/>
                <a:cs typeface="Calibri" pitchFamily="34" charset="-120"/>
              </a:rPr>
              <a:t>El controlador del Baoli no expone comunicación abierta</a:t>
            </a:r>
            <a:endParaRPr lang="en-US" sz="1000" dirty="0"/>
          </a:p>
        </p:txBody>
      </p:sp>
      <p:sp>
        <p:nvSpPr>
          <p:cNvPr id="13" name="Text 11"/>
          <p:cNvSpPr/>
          <p:nvPr/>
        </p:nvSpPr>
        <p:spPr>
          <a:xfrm>
            <a:off x="6071616" y="2148840"/>
            <a:ext cx="612648" cy="530352"/>
          </a:xfrm>
          <a:prstGeom prst="rect">
            <a:avLst/>
          </a:prstGeom>
          <a:noFill/>
          <a:ln/>
        </p:spPr>
        <p:txBody>
          <a:bodyPr wrap="square" lIns="0" tIns="0" rIns="0" bIns="0" rtlCol="0" anchor="ctr"/>
          <a:lstStyle/>
          <a:p>
            <a:pPr algn="ctr" indent="0" marL="0">
              <a:buNone/>
            </a:pPr>
            <a:r>
              <a:rPr lang="en-US" sz="1000" dirty="0">
                <a:solidFill>
                  <a:srgbClr val="5B6470"/>
                </a:solidFill>
                <a:latin typeface="Calibri" pitchFamily="34" charset="0"/>
                <a:ea typeface="Calibri" pitchFamily="34" charset="-122"/>
                <a:cs typeface="Calibri" pitchFamily="34" charset="-120"/>
              </a:rPr>
              <a:t>Media</a:t>
            </a:r>
            <a:endParaRPr lang="en-US" sz="1000" dirty="0"/>
          </a:p>
        </p:txBody>
      </p:sp>
      <p:sp>
        <p:nvSpPr>
          <p:cNvPr id="14" name="Text 12"/>
          <p:cNvSpPr/>
          <p:nvPr/>
        </p:nvSpPr>
        <p:spPr>
          <a:xfrm>
            <a:off x="6940296" y="2148840"/>
            <a:ext cx="749808" cy="530352"/>
          </a:xfrm>
          <a:prstGeom prst="rect">
            <a:avLst/>
          </a:prstGeom>
          <a:noFill/>
          <a:ln/>
        </p:spPr>
        <p:txBody>
          <a:bodyPr wrap="square" lIns="0" tIns="0" rIns="0" bIns="0" rtlCol="0" anchor="ctr"/>
          <a:lstStyle/>
          <a:p>
            <a:pPr algn="ctr" indent="0" marL="0">
              <a:buNone/>
            </a:pPr>
            <a:r>
              <a:rPr lang="en-US" sz="1000" b="1" dirty="0">
                <a:solidFill>
                  <a:srgbClr val="FF5A52"/>
                </a:solidFill>
                <a:latin typeface="Calibri" pitchFamily="34" charset="0"/>
                <a:ea typeface="Calibri" pitchFamily="34" charset="-122"/>
                <a:cs typeface="Calibri" pitchFamily="34" charset="-120"/>
              </a:rPr>
              <a:t>Alto</a:t>
            </a:r>
            <a:endParaRPr lang="en-US" sz="1000" dirty="0"/>
          </a:p>
        </p:txBody>
      </p:sp>
      <p:sp>
        <p:nvSpPr>
          <p:cNvPr id="15" name="Text 13"/>
          <p:cNvSpPr/>
          <p:nvPr/>
        </p:nvSpPr>
        <p:spPr>
          <a:xfrm>
            <a:off x="7946136" y="2148840"/>
            <a:ext cx="3493008" cy="53035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Validar en un equipo del taller antes de comprar</a:t>
            </a:r>
            <a:endParaRPr lang="en-US" sz="950" dirty="0"/>
          </a:p>
        </p:txBody>
      </p:sp>
      <p:sp>
        <p:nvSpPr>
          <p:cNvPr id="16" name="Shape 14"/>
          <p:cNvSpPr/>
          <p:nvPr/>
        </p:nvSpPr>
        <p:spPr>
          <a:xfrm>
            <a:off x="594360" y="2679192"/>
            <a:ext cx="10972800" cy="530352"/>
          </a:xfrm>
          <a:prstGeom prst="rect">
            <a:avLst/>
          </a:prstGeom>
          <a:solidFill>
            <a:srgbClr val="FFFFFF"/>
          </a:solidFill>
          <a:ln w="7620">
            <a:solidFill>
              <a:srgbClr val="D8DADE"/>
            </a:solidFill>
            <a:prstDash val="solid"/>
          </a:ln>
        </p:spPr>
      </p:sp>
      <p:sp>
        <p:nvSpPr>
          <p:cNvPr id="17" name="Text 15"/>
          <p:cNvSpPr/>
          <p:nvPr/>
        </p:nvSpPr>
        <p:spPr>
          <a:xfrm>
            <a:off x="722376" y="2679192"/>
            <a:ext cx="1161288" cy="530352"/>
          </a:xfrm>
          <a:prstGeom prst="rect">
            <a:avLst/>
          </a:prstGeom>
          <a:noFill/>
          <a:ln/>
        </p:spPr>
        <p:txBody>
          <a:bodyPr wrap="square" lIns="0" tIns="0" rIns="0" bIns="0" rtlCol="0" anchor="ctr"/>
          <a:lstStyle/>
          <a:p>
            <a:pPr algn="l" indent="0" marL="0">
              <a:buNone/>
            </a:pPr>
            <a:r>
              <a:rPr lang="en-US" sz="1000" b="1" dirty="0">
                <a:solidFill>
                  <a:srgbClr val="F5C518"/>
                </a:solidFill>
                <a:latin typeface="Calibri" pitchFamily="34" charset="0"/>
                <a:ea typeface="Calibri" pitchFamily="34" charset="-122"/>
                <a:cs typeface="Calibri" pitchFamily="34" charset="-120"/>
              </a:rPr>
              <a:t>Comercial</a:t>
            </a:r>
            <a:endParaRPr lang="en-US" sz="1000" dirty="0"/>
          </a:p>
        </p:txBody>
      </p:sp>
      <p:sp>
        <p:nvSpPr>
          <p:cNvPr id="18" name="Text 16"/>
          <p:cNvSpPr/>
          <p:nvPr/>
        </p:nvSpPr>
        <p:spPr>
          <a:xfrm>
            <a:off x="2139696" y="2679192"/>
            <a:ext cx="3675888" cy="530352"/>
          </a:xfrm>
          <a:prstGeom prst="rect">
            <a:avLst/>
          </a:prstGeom>
          <a:noFill/>
          <a:ln/>
        </p:spPr>
        <p:txBody>
          <a:bodyPr wrap="square" lIns="0" tIns="0" rIns="0" bIns="0" rtlCol="0" anchor="ctr"/>
          <a:lstStyle/>
          <a:p>
            <a:pPr algn="l" indent="0" marL="0">
              <a:buNone/>
            </a:pPr>
            <a:r>
              <a:rPr lang="en-US" sz="1000" dirty="0">
                <a:solidFill>
                  <a:srgbClr val="1A1D23"/>
                </a:solidFill>
                <a:latin typeface="Calibri" pitchFamily="34" charset="0"/>
                <a:ea typeface="Calibri" pitchFamily="34" charset="-122"/>
                <a:cs typeface="Calibri" pitchFamily="34" charset="-120"/>
              </a:rPr>
              <a:t>El layout del cliente no admite contrabalanceado</a:t>
            </a:r>
            <a:endParaRPr lang="en-US" sz="1000" dirty="0"/>
          </a:p>
        </p:txBody>
      </p:sp>
      <p:sp>
        <p:nvSpPr>
          <p:cNvPr id="19" name="Text 17"/>
          <p:cNvSpPr/>
          <p:nvPr/>
        </p:nvSpPr>
        <p:spPr>
          <a:xfrm>
            <a:off x="6071616" y="2679192"/>
            <a:ext cx="612648" cy="530352"/>
          </a:xfrm>
          <a:prstGeom prst="rect">
            <a:avLst/>
          </a:prstGeom>
          <a:noFill/>
          <a:ln/>
        </p:spPr>
        <p:txBody>
          <a:bodyPr wrap="square" lIns="0" tIns="0" rIns="0" bIns="0" rtlCol="0" anchor="ctr"/>
          <a:lstStyle/>
          <a:p>
            <a:pPr algn="ctr" indent="0" marL="0">
              <a:buNone/>
            </a:pPr>
            <a:r>
              <a:rPr lang="en-US" sz="1000" dirty="0">
                <a:solidFill>
                  <a:srgbClr val="5B6470"/>
                </a:solidFill>
                <a:latin typeface="Calibri" pitchFamily="34" charset="0"/>
                <a:ea typeface="Calibri" pitchFamily="34" charset="-122"/>
                <a:cs typeface="Calibri" pitchFamily="34" charset="-120"/>
              </a:rPr>
              <a:t>Alta</a:t>
            </a:r>
            <a:endParaRPr lang="en-US" sz="1000" dirty="0"/>
          </a:p>
        </p:txBody>
      </p:sp>
      <p:sp>
        <p:nvSpPr>
          <p:cNvPr id="20" name="Text 18"/>
          <p:cNvSpPr/>
          <p:nvPr/>
        </p:nvSpPr>
        <p:spPr>
          <a:xfrm>
            <a:off x="6940296" y="2679192"/>
            <a:ext cx="749808" cy="530352"/>
          </a:xfrm>
          <a:prstGeom prst="rect">
            <a:avLst/>
          </a:prstGeom>
          <a:noFill/>
          <a:ln/>
        </p:spPr>
        <p:txBody>
          <a:bodyPr wrap="square" lIns="0" tIns="0" rIns="0" bIns="0" rtlCol="0" anchor="ctr"/>
          <a:lstStyle/>
          <a:p>
            <a:pPr algn="ctr" indent="0" marL="0">
              <a:buNone/>
            </a:pPr>
            <a:r>
              <a:rPr lang="en-US" sz="1000" b="1" dirty="0">
                <a:solidFill>
                  <a:srgbClr val="F5C518"/>
                </a:solidFill>
                <a:latin typeface="Calibri" pitchFamily="34" charset="0"/>
                <a:ea typeface="Calibri" pitchFamily="34" charset="-122"/>
                <a:cs typeface="Calibri" pitchFamily="34" charset="-120"/>
              </a:rPr>
              <a:t>Medio</a:t>
            </a:r>
            <a:endParaRPr lang="en-US" sz="1000" dirty="0"/>
          </a:p>
        </p:txBody>
      </p:sp>
      <p:sp>
        <p:nvSpPr>
          <p:cNvPr id="21" name="Text 19"/>
          <p:cNvSpPr/>
          <p:nvPr/>
        </p:nvSpPr>
        <p:spPr>
          <a:xfrm>
            <a:off x="7946136" y="2679192"/>
            <a:ext cx="3493008" cy="53035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Se resuelve en la visita de levantamiento</a:t>
            </a:r>
            <a:endParaRPr lang="en-US" sz="950" dirty="0"/>
          </a:p>
        </p:txBody>
      </p:sp>
      <p:sp>
        <p:nvSpPr>
          <p:cNvPr id="22" name="Shape 20"/>
          <p:cNvSpPr/>
          <p:nvPr/>
        </p:nvSpPr>
        <p:spPr>
          <a:xfrm>
            <a:off x="594360" y="3209544"/>
            <a:ext cx="10972800" cy="530352"/>
          </a:xfrm>
          <a:prstGeom prst="rect">
            <a:avLst/>
          </a:prstGeom>
          <a:solidFill>
            <a:srgbClr val="FFFFFF"/>
          </a:solidFill>
          <a:ln w="7620">
            <a:solidFill>
              <a:srgbClr val="D8DADE"/>
            </a:solidFill>
            <a:prstDash val="solid"/>
          </a:ln>
        </p:spPr>
      </p:sp>
      <p:sp>
        <p:nvSpPr>
          <p:cNvPr id="23" name="Text 21"/>
          <p:cNvSpPr/>
          <p:nvPr/>
        </p:nvSpPr>
        <p:spPr>
          <a:xfrm>
            <a:off x="722376" y="3209544"/>
            <a:ext cx="1161288" cy="530352"/>
          </a:xfrm>
          <a:prstGeom prst="rect">
            <a:avLst/>
          </a:prstGeom>
          <a:noFill/>
          <a:ln/>
        </p:spPr>
        <p:txBody>
          <a:bodyPr wrap="square" lIns="0" tIns="0" rIns="0" bIns="0" rtlCol="0" anchor="ctr"/>
          <a:lstStyle/>
          <a:p>
            <a:pPr algn="l" indent="0" marL="0">
              <a:buNone/>
            </a:pPr>
            <a:r>
              <a:rPr lang="en-US" sz="1000" b="1" dirty="0">
                <a:solidFill>
                  <a:srgbClr val="FF5A52"/>
                </a:solidFill>
                <a:latin typeface="Calibri" pitchFamily="34" charset="0"/>
                <a:ea typeface="Calibri" pitchFamily="34" charset="-122"/>
                <a:cs typeface="Calibri" pitchFamily="34" charset="-120"/>
              </a:rPr>
              <a:t>Legal</a:t>
            </a:r>
            <a:endParaRPr lang="en-US" sz="1000" dirty="0"/>
          </a:p>
        </p:txBody>
      </p:sp>
      <p:sp>
        <p:nvSpPr>
          <p:cNvPr id="24" name="Text 22"/>
          <p:cNvSpPr/>
          <p:nvPr/>
        </p:nvSpPr>
        <p:spPr>
          <a:xfrm>
            <a:off x="2139696" y="3209544"/>
            <a:ext cx="3675888" cy="530352"/>
          </a:xfrm>
          <a:prstGeom prst="rect">
            <a:avLst/>
          </a:prstGeom>
          <a:noFill/>
          <a:ln/>
        </p:spPr>
        <p:txBody>
          <a:bodyPr wrap="square" lIns="0" tIns="0" rIns="0" bIns="0" rtlCol="0" anchor="ctr"/>
          <a:lstStyle/>
          <a:p>
            <a:pPr algn="l" indent="0" marL="0">
              <a:buNone/>
            </a:pPr>
            <a:r>
              <a:rPr lang="en-US" sz="1000" dirty="0">
                <a:solidFill>
                  <a:srgbClr val="1A1D23"/>
                </a:solidFill>
                <a:latin typeface="Calibri" pitchFamily="34" charset="0"/>
                <a:ea typeface="Calibri" pitchFamily="34" charset="-122"/>
                <a:cs typeface="Calibri" pitchFamily="34" charset="-120"/>
              </a:rPr>
              <a:t>Responsabilidad civil por operación desatendida</a:t>
            </a:r>
            <a:endParaRPr lang="en-US" sz="1000" dirty="0"/>
          </a:p>
        </p:txBody>
      </p:sp>
      <p:sp>
        <p:nvSpPr>
          <p:cNvPr id="25" name="Text 23"/>
          <p:cNvSpPr/>
          <p:nvPr/>
        </p:nvSpPr>
        <p:spPr>
          <a:xfrm>
            <a:off x="6071616" y="3209544"/>
            <a:ext cx="612648" cy="530352"/>
          </a:xfrm>
          <a:prstGeom prst="rect">
            <a:avLst/>
          </a:prstGeom>
          <a:noFill/>
          <a:ln/>
        </p:spPr>
        <p:txBody>
          <a:bodyPr wrap="square" lIns="0" tIns="0" rIns="0" bIns="0" rtlCol="0" anchor="ctr"/>
          <a:lstStyle/>
          <a:p>
            <a:pPr algn="ctr" indent="0" marL="0">
              <a:buNone/>
            </a:pPr>
            <a:r>
              <a:rPr lang="en-US" sz="1000" dirty="0">
                <a:solidFill>
                  <a:srgbClr val="5B6470"/>
                </a:solidFill>
                <a:latin typeface="Calibri" pitchFamily="34" charset="0"/>
                <a:ea typeface="Calibri" pitchFamily="34" charset="-122"/>
                <a:cs typeface="Calibri" pitchFamily="34" charset="-120"/>
              </a:rPr>
              <a:t>Baja</a:t>
            </a:r>
            <a:endParaRPr lang="en-US" sz="1000" dirty="0"/>
          </a:p>
        </p:txBody>
      </p:sp>
      <p:sp>
        <p:nvSpPr>
          <p:cNvPr id="26" name="Text 24"/>
          <p:cNvSpPr/>
          <p:nvPr/>
        </p:nvSpPr>
        <p:spPr>
          <a:xfrm>
            <a:off x="6940296" y="3209544"/>
            <a:ext cx="749808" cy="530352"/>
          </a:xfrm>
          <a:prstGeom prst="rect">
            <a:avLst/>
          </a:prstGeom>
          <a:noFill/>
          <a:ln/>
        </p:spPr>
        <p:txBody>
          <a:bodyPr wrap="square" lIns="0" tIns="0" rIns="0" bIns="0" rtlCol="0" anchor="ctr"/>
          <a:lstStyle/>
          <a:p>
            <a:pPr algn="ctr" indent="0" marL="0">
              <a:buNone/>
            </a:pPr>
            <a:r>
              <a:rPr lang="en-US" sz="1000" b="1" dirty="0">
                <a:solidFill>
                  <a:srgbClr val="FF5A52"/>
                </a:solidFill>
                <a:latin typeface="Calibri" pitchFamily="34" charset="0"/>
                <a:ea typeface="Calibri" pitchFamily="34" charset="-122"/>
                <a:cs typeface="Calibri" pitchFamily="34" charset="-120"/>
              </a:rPr>
              <a:t>Muy alto</a:t>
            </a:r>
            <a:endParaRPr lang="en-US" sz="1000" dirty="0"/>
          </a:p>
        </p:txBody>
      </p:sp>
      <p:sp>
        <p:nvSpPr>
          <p:cNvPr id="27" name="Text 25"/>
          <p:cNvSpPr/>
          <p:nvPr/>
        </p:nvSpPr>
        <p:spPr>
          <a:xfrm>
            <a:off x="7946136" y="3209544"/>
            <a:ext cx="3493008" cy="53035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No vender nivel 3 sin escáneres certificados. Política escrita.</a:t>
            </a:r>
            <a:endParaRPr lang="en-US" sz="950" dirty="0"/>
          </a:p>
        </p:txBody>
      </p:sp>
      <p:sp>
        <p:nvSpPr>
          <p:cNvPr id="28" name="Shape 26"/>
          <p:cNvSpPr/>
          <p:nvPr/>
        </p:nvSpPr>
        <p:spPr>
          <a:xfrm>
            <a:off x="594360" y="3739896"/>
            <a:ext cx="10972800" cy="530352"/>
          </a:xfrm>
          <a:prstGeom prst="rect">
            <a:avLst/>
          </a:prstGeom>
          <a:solidFill>
            <a:srgbClr val="FFFFFF"/>
          </a:solidFill>
          <a:ln w="7620">
            <a:solidFill>
              <a:srgbClr val="D8DADE"/>
            </a:solidFill>
            <a:prstDash val="solid"/>
          </a:ln>
        </p:spPr>
      </p:sp>
      <p:sp>
        <p:nvSpPr>
          <p:cNvPr id="29" name="Text 27"/>
          <p:cNvSpPr/>
          <p:nvPr/>
        </p:nvSpPr>
        <p:spPr>
          <a:xfrm>
            <a:off x="722376" y="3739896"/>
            <a:ext cx="1161288" cy="530352"/>
          </a:xfrm>
          <a:prstGeom prst="rect">
            <a:avLst/>
          </a:prstGeom>
          <a:noFill/>
          <a:ln/>
        </p:spPr>
        <p:txBody>
          <a:bodyPr wrap="square" lIns="0" tIns="0" rIns="0" bIns="0" rtlCol="0" anchor="ctr"/>
          <a:lstStyle/>
          <a:p>
            <a:pPr algn="l" indent="0" marL="0">
              <a:buNone/>
            </a:pPr>
            <a:r>
              <a:rPr lang="en-US" sz="1000" b="1" dirty="0">
                <a:solidFill>
                  <a:srgbClr val="F5C518"/>
                </a:solidFill>
                <a:latin typeface="Calibri" pitchFamily="34" charset="0"/>
                <a:ea typeface="Calibri" pitchFamily="34" charset="-122"/>
                <a:cs typeface="Calibri" pitchFamily="34" charset="-120"/>
              </a:rPr>
              <a:t>Financiero</a:t>
            </a:r>
            <a:endParaRPr lang="en-US" sz="1000" dirty="0"/>
          </a:p>
        </p:txBody>
      </p:sp>
      <p:sp>
        <p:nvSpPr>
          <p:cNvPr id="30" name="Text 28"/>
          <p:cNvSpPr/>
          <p:nvPr/>
        </p:nvSpPr>
        <p:spPr>
          <a:xfrm>
            <a:off x="2139696" y="3739896"/>
            <a:ext cx="3675888" cy="530352"/>
          </a:xfrm>
          <a:prstGeom prst="rect">
            <a:avLst/>
          </a:prstGeom>
          <a:noFill/>
          <a:ln/>
        </p:spPr>
        <p:txBody>
          <a:bodyPr wrap="square" lIns="0" tIns="0" rIns="0" bIns="0" rtlCol="0" anchor="ctr"/>
          <a:lstStyle/>
          <a:p>
            <a:pPr algn="l" indent="0" marL="0">
              <a:buNone/>
            </a:pPr>
            <a:r>
              <a:rPr lang="en-US" sz="1000" dirty="0">
                <a:solidFill>
                  <a:srgbClr val="1A1D23"/>
                </a:solidFill>
                <a:latin typeface="Calibri" pitchFamily="34" charset="0"/>
                <a:ea typeface="Calibri" pitchFamily="34" charset="-122"/>
                <a:cs typeface="Calibri" pitchFamily="34" charset="-120"/>
              </a:rPr>
              <a:t>Volatilidad de precios de componentes</a:t>
            </a:r>
            <a:endParaRPr lang="en-US" sz="1000" dirty="0"/>
          </a:p>
        </p:txBody>
      </p:sp>
      <p:sp>
        <p:nvSpPr>
          <p:cNvPr id="31" name="Text 29"/>
          <p:cNvSpPr/>
          <p:nvPr/>
        </p:nvSpPr>
        <p:spPr>
          <a:xfrm>
            <a:off x="6071616" y="3739896"/>
            <a:ext cx="612648" cy="530352"/>
          </a:xfrm>
          <a:prstGeom prst="rect">
            <a:avLst/>
          </a:prstGeom>
          <a:noFill/>
          <a:ln/>
        </p:spPr>
        <p:txBody>
          <a:bodyPr wrap="square" lIns="0" tIns="0" rIns="0" bIns="0" rtlCol="0" anchor="ctr"/>
          <a:lstStyle/>
          <a:p>
            <a:pPr algn="ctr" indent="0" marL="0">
              <a:buNone/>
            </a:pPr>
            <a:r>
              <a:rPr lang="en-US" sz="1000" dirty="0">
                <a:solidFill>
                  <a:srgbClr val="5B6470"/>
                </a:solidFill>
                <a:latin typeface="Calibri" pitchFamily="34" charset="0"/>
                <a:ea typeface="Calibri" pitchFamily="34" charset="-122"/>
                <a:cs typeface="Calibri" pitchFamily="34" charset="-120"/>
              </a:rPr>
              <a:t>Alta</a:t>
            </a:r>
            <a:endParaRPr lang="en-US" sz="1000" dirty="0"/>
          </a:p>
        </p:txBody>
      </p:sp>
      <p:sp>
        <p:nvSpPr>
          <p:cNvPr id="32" name="Text 30"/>
          <p:cNvSpPr/>
          <p:nvPr/>
        </p:nvSpPr>
        <p:spPr>
          <a:xfrm>
            <a:off x="6940296" y="3739896"/>
            <a:ext cx="749808" cy="530352"/>
          </a:xfrm>
          <a:prstGeom prst="rect">
            <a:avLst/>
          </a:prstGeom>
          <a:noFill/>
          <a:ln/>
        </p:spPr>
        <p:txBody>
          <a:bodyPr wrap="square" lIns="0" tIns="0" rIns="0" bIns="0" rtlCol="0" anchor="ctr"/>
          <a:lstStyle/>
          <a:p>
            <a:pPr algn="ctr" indent="0" marL="0">
              <a:buNone/>
            </a:pPr>
            <a:r>
              <a:rPr lang="en-US" sz="1000" b="1" dirty="0">
                <a:solidFill>
                  <a:srgbClr val="F5C518"/>
                </a:solidFill>
                <a:latin typeface="Calibri" pitchFamily="34" charset="0"/>
                <a:ea typeface="Calibri" pitchFamily="34" charset="-122"/>
                <a:cs typeface="Calibri" pitchFamily="34" charset="-120"/>
              </a:rPr>
              <a:t>Medio</a:t>
            </a:r>
            <a:endParaRPr lang="en-US" sz="1000" dirty="0"/>
          </a:p>
        </p:txBody>
      </p:sp>
      <p:sp>
        <p:nvSpPr>
          <p:cNvPr id="33" name="Text 31"/>
          <p:cNvSpPr/>
          <p:nvPr/>
        </p:nvSpPr>
        <p:spPr>
          <a:xfrm>
            <a:off x="7946136" y="3739896"/>
            <a:ext cx="3493008" cy="53035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Cotizaciones con validez de 30 días y segunda fuente de cómputo</a:t>
            </a:r>
            <a:endParaRPr lang="en-US" sz="950" dirty="0"/>
          </a:p>
        </p:txBody>
      </p:sp>
      <p:sp>
        <p:nvSpPr>
          <p:cNvPr id="34" name="Shape 32"/>
          <p:cNvSpPr/>
          <p:nvPr/>
        </p:nvSpPr>
        <p:spPr>
          <a:xfrm>
            <a:off x="594360" y="4270248"/>
            <a:ext cx="10972800" cy="530352"/>
          </a:xfrm>
          <a:prstGeom prst="rect">
            <a:avLst/>
          </a:prstGeom>
          <a:solidFill>
            <a:srgbClr val="FFFFFF"/>
          </a:solidFill>
          <a:ln w="7620">
            <a:solidFill>
              <a:srgbClr val="D8DADE"/>
            </a:solidFill>
            <a:prstDash val="solid"/>
          </a:ln>
        </p:spPr>
      </p:sp>
      <p:sp>
        <p:nvSpPr>
          <p:cNvPr id="35" name="Text 33"/>
          <p:cNvSpPr/>
          <p:nvPr/>
        </p:nvSpPr>
        <p:spPr>
          <a:xfrm>
            <a:off x="722376" y="4270248"/>
            <a:ext cx="1161288" cy="530352"/>
          </a:xfrm>
          <a:prstGeom prst="rect">
            <a:avLst/>
          </a:prstGeom>
          <a:noFill/>
          <a:ln/>
        </p:spPr>
        <p:txBody>
          <a:bodyPr wrap="square" lIns="0" tIns="0" rIns="0" bIns="0" rtlCol="0" anchor="ctr"/>
          <a:lstStyle/>
          <a:p>
            <a:pPr algn="l" indent="0" marL="0">
              <a:buNone/>
            </a:pPr>
            <a:r>
              <a:rPr lang="en-US" sz="1000" b="1" dirty="0">
                <a:solidFill>
                  <a:srgbClr val="F5C518"/>
                </a:solidFill>
                <a:latin typeface="Calibri" pitchFamily="34" charset="0"/>
                <a:ea typeface="Calibri" pitchFamily="34" charset="-122"/>
                <a:cs typeface="Calibri" pitchFamily="34" charset="-120"/>
              </a:rPr>
              <a:t>Concentración</a:t>
            </a:r>
            <a:endParaRPr lang="en-US" sz="1000" dirty="0"/>
          </a:p>
        </p:txBody>
      </p:sp>
      <p:sp>
        <p:nvSpPr>
          <p:cNvPr id="36" name="Text 34"/>
          <p:cNvSpPr/>
          <p:nvPr/>
        </p:nvSpPr>
        <p:spPr>
          <a:xfrm>
            <a:off x="2139696" y="4270248"/>
            <a:ext cx="3675888" cy="530352"/>
          </a:xfrm>
          <a:prstGeom prst="rect">
            <a:avLst/>
          </a:prstGeom>
          <a:noFill/>
          <a:ln/>
        </p:spPr>
        <p:txBody>
          <a:bodyPr wrap="square" lIns="0" tIns="0" rIns="0" bIns="0" rtlCol="0" anchor="ctr"/>
          <a:lstStyle/>
          <a:p>
            <a:pPr algn="l" indent="0" marL="0">
              <a:buNone/>
            </a:pPr>
            <a:r>
              <a:rPr lang="en-US" sz="1000" dirty="0">
                <a:solidFill>
                  <a:srgbClr val="1A1D23"/>
                </a:solidFill>
                <a:latin typeface="Calibri" pitchFamily="34" charset="0"/>
                <a:ea typeface="Calibri" pitchFamily="34" charset="-122"/>
                <a:cs typeface="Calibri" pitchFamily="34" charset="-120"/>
              </a:rPr>
              <a:t>Depender de un solo cliente para el caso de referencia</a:t>
            </a:r>
            <a:endParaRPr lang="en-US" sz="1000" dirty="0"/>
          </a:p>
        </p:txBody>
      </p:sp>
      <p:sp>
        <p:nvSpPr>
          <p:cNvPr id="37" name="Text 35"/>
          <p:cNvSpPr/>
          <p:nvPr/>
        </p:nvSpPr>
        <p:spPr>
          <a:xfrm>
            <a:off x="6071616" y="4270248"/>
            <a:ext cx="612648" cy="530352"/>
          </a:xfrm>
          <a:prstGeom prst="rect">
            <a:avLst/>
          </a:prstGeom>
          <a:noFill/>
          <a:ln/>
        </p:spPr>
        <p:txBody>
          <a:bodyPr wrap="square" lIns="0" tIns="0" rIns="0" bIns="0" rtlCol="0" anchor="ctr"/>
          <a:lstStyle/>
          <a:p>
            <a:pPr algn="ctr" indent="0" marL="0">
              <a:buNone/>
            </a:pPr>
            <a:r>
              <a:rPr lang="en-US" sz="1000" dirty="0">
                <a:solidFill>
                  <a:srgbClr val="5B6470"/>
                </a:solidFill>
                <a:latin typeface="Calibri" pitchFamily="34" charset="0"/>
                <a:ea typeface="Calibri" pitchFamily="34" charset="-122"/>
                <a:cs typeface="Calibri" pitchFamily="34" charset="-120"/>
              </a:rPr>
              <a:t>Media</a:t>
            </a:r>
            <a:endParaRPr lang="en-US" sz="1000" dirty="0"/>
          </a:p>
        </p:txBody>
      </p:sp>
      <p:sp>
        <p:nvSpPr>
          <p:cNvPr id="38" name="Text 36"/>
          <p:cNvSpPr/>
          <p:nvPr/>
        </p:nvSpPr>
        <p:spPr>
          <a:xfrm>
            <a:off x="6940296" y="4270248"/>
            <a:ext cx="749808" cy="530352"/>
          </a:xfrm>
          <a:prstGeom prst="rect">
            <a:avLst/>
          </a:prstGeom>
          <a:noFill/>
          <a:ln/>
        </p:spPr>
        <p:txBody>
          <a:bodyPr wrap="square" lIns="0" tIns="0" rIns="0" bIns="0" rtlCol="0" anchor="ctr"/>
          <a:lstStyle/>
          <a:p>
            <a:pPr algn="ctr" indent="0" marL="0">
              <a:buNone/>
            </a:pPr>
            <a:r>
              <a:rPr lang="en-US" sz="1000" b="1" dirty="0">
                <a:solidFill>
                  <a:srgbClr val="F5C518"/>
                </a:solidFill>
                <a:latin typeface="Calibri" pitchFamily="34" charset="0"/>
                <a:ea typeface="Calibri" pitchFamily="34" charset="-122"/>
                <a:cs typeface="Calibri" pitchFamily="34" charset="-120"/>
              </a:rPr>
              <a:t>Alto</a:t>
            </a:r>
            <a:endParaRPr lang="en-US" sz="1000" dirty="0"/>
          </a:p>
        </p:txBody>
      </p:sp>
      <p:sp>
        <p:nvSpPr>
          <p:cNvPr id="39" name="Text 37"/>
          <p:cNvSpPr/>
          <p:nvPr/>
        </p:nvSpPr>
        <p:spPr>
          <a:xfrm>
            <a:off x="7946136" y="4270248"/>
            <a:ext cx="3493008" cy="53035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La base instalada de Montasa da alternativas</a:t>
            </a:r>
            <a:endParaRPr lang="en-US" sz="950" dirty="0"/>
          </a:p>
        </p:txBody>
      </p:sp>
      <p:sp>
        <p:nvSpPr>
          <p:cNvPr id="40" name="Shape 38"/>
          <p:cNvSpPr/>
          <p:nvPr/>
        </p:nvSpPr>
        <p:spPr>
          <a:xfrm>
            <a:off x="594360" y="4800600"/>
            <a:ext cx="10972800" cy="530352"/>
          </a:xfrm>
          <a:prstGeom prst="rect">
            <a:avLst/>
          </a:prstGeom>
          <a:solidFill>
            <a:srgbClr val="FFFFFF"/>
          </a:solidFill>
          <a:ln w="7620">
            <a:solidFill>
              <a:srgbClr val="D8DADE"/>
            </a:solidFill>
            <a:prstDash val="solid"/>
          </a:ln>
        </p:spPr>
      </p:sp>
      <p:sp>
        <p:nvSpPr>
          <p:cNvPr id="41" name="Text 39"/>
          <p:cNvSpPr/>
          <p:nvPr/>
        </p:nvSpPr>
        <p:spPr>
          <a:xfrm>
            <a:off x="722376" y="4800600"/>
            <a:ext cx="1161288" cy="530352"/>
          </a:xfrm>
          <a:prstGeom prst="rect">
            <a:avLst/>
          </a:prstGeom>
          <a:noFill/>
          <a:ln/>
        </p:spPr>
        <p:txBody>
          <a:bodyPr wrap="square" lIns="0" tIns="0" rIns="0" bIns="0" rtlCol="0" anchor="ctr"/>
          <a:lstStyle/>
          <a:p>
            <a:pPr algn="l" indent="0" marL="0">
              <a:buNone/>
            </a:pPr>
            <a:r>
              <a:rPr lang="en-US" sz="1000" b="1" dirty="0">
                <a:solidFill>
                  <a:srgbClr val="F5C518"/>
                </a:solidFill>
                <a:latin typeface="Calibri" pitchFamily="34" charset="0"/>
                <a:ea typeface="Calibri" pitchFamily="34" charset="-122"/>
                <a:cs typeface="Calibri" pitchFamily="34" charset="-120"/>
              </a:rPr>
              <a:t>Ejecución</a:t>
            </a:r>
            <a:endParaRPr lang="en-US" sz="1000" dirty="0"/>
          </a:p>
        </p:txBody>
      </p:sp>
      <p:sp>
        <p:nvSpPr>
          <p:cNvPr id="42" name="Text 40"/>
          <p:cNvSpPr/>
          <p:nvPr/>
        </p:nvSpPr>
        <p:spPr>
          <a:xfrm>
            <a:off x="2139696" y="4800600"/>
            <a:ext cx="3675888" cy="530352"/>
          </a:xfrm>
          <a:prstGeom prst="rect">
            <a:avLst/>
          </a:prstGeom>
          <a:noFill/>
          <a:ln/>
        </p:spPr>
        <p:txBody>
          <a:bodyPr wrap="square" lIns="0" tIns="0" rIns="0" bIns="0" rtlCol="0" anchor="ctr"/>
          <a:lstStyle/>
          <a:p>
            <a:pPr algn="l" indent="0" marL="0">
              <a:buNone/>
            </a:pPr>
            <a:r>
              <a:rPr lang="en-US" sz="1000" dirty="0">
                <a:solidFill>
                  <a:srgbClr val="1A1D23"/>
                </a:solidFill>
                <a:latin typeface="Calibri" pitchFamily="34" charset="0"/>
                <a:ea typeface="Calibri" pitchFamily="34" charset="-122"/>
                <a:cs typeface="Calibri" pitchFamily="34" charset="-120"/>
              </a:rPr>
              <a:t>Sobre-prometer plazos de instalación</a:t>
            </a:r>
            <a:endParaRPr lang="en-US" sz="1000" dirty="0"/>
          </a:p>
        </p:txBody>
      </p:sp>
      <p:sp>
        <p:nvSpPr>
          <p:cNvPr id="43" name="Text 41"/>
          <p:cNvSpPr/>
          <p:nvPr/>
        </p:nvSpPr>
        <p:spPr>
          <a:xfrm>
            <a:off x="6071616" y="4800600"/>
            <a:ext cx="612648" cy="530352"/>
          </a:xfrm>
          <a:prstGeom prst="rect">
            <a:avLst/>
          </a:prstGeom>
          <a:noFill/>
          <a:ln/>
        </p:spPr>
        <p:txBody>
          <a:bodyPr wrap="square" lIns="0" tIns="0" rIns="0" bIns="0" rtlCol="0" anchor="ctr"/>
          <a:lstStyle/>
          <a:p>
            <a:pPr algn="ctr" indent="0" marL="0">
              <a:buNone/>
            </a:pPr>
            <a:r>
              <a:rPr lang="en-US" sz="1000" dirty="0">
                <a:solidFill>
                  <a:srgbClr val="5B6470"/>
                </a:solidFill>
                <a:latin typeface="Calibri" pitchFamily="34" charset="0"/>
                <a:ea typeface="Calibri" pitchFamily="34" charset="-122"/>
                <a:cs typeface="Calibri" pitchFamily="34" charset="-120"/>
              </a:rPr>
              <a:t>Alta</a:t>
            </a:r>
            <a:endParaRPr lang="en-US" sz="1000" dirty="0"/>
          </a:p>
        </p:txBody>
      </p:sp>
      <p:sp>
        <p:nvSpPr>
          <p:cNvPr id="44" name="Text 42"/>
          <p:cNvSpPr/>
          <p:nvPr/>
        </p:nvSpPr>
        <p:spPr>
          <a:xfrm>
            <a:off x="6940296" y="4800600"/>
            <a:ext cx="749808" cy="530352"/>
          </a:xfrm>
          <a:prstGeom prst="rect">
            <a:avLst/>
          </a:prstGeom>
          <a:noFill/>
          <a:ln/>
        </p:spPr>
        <p:txBody>
          <a:bodyPr wrap="square" lIns="0" tIns="0" rIns="0" bIns="0" rtlCol="0" anchor="ctr"/>
          <a:lstStyle/>
          <a:p>
            <a:pPr algn="ctr" indent="0" marL="0">
              <a:buNone/>
            </a:pPr>
            <a:r>
              <a:rPr lang="en-US" sz="1000" b="1" dirty="0">
                <a:solidFill>
                  <a:srgbClr val="F5C518"/>
                </a:solidFill>
                <a:latin typeface="Calibri" pitchFamily="34" charset="0"/>
                <a:ea typeface="Calibri" pitchFamily="34" charset="-122"/>
                <a:cs typeface="Calibri" pitchFamily="34" charset="-120"/>
              </a:rPr>
              <a:t>Medio</a:t>
            </a:r>
            <a:endParaRPr lang="en-US" sz="1000" dirty="0"/>
          </a:p>
        </p:txBody>
      </p:sp>
      <p:sp>
        <p:nvSpPr>
          <p:cNvPr id="45" name="Text 43"/>
          <p:cNvSpPr/>
          <p:nvPr/>
        </p:nvSpPr>
        <p:spPr>
          <a:xfrm>
            <a:off x="7946136" y="4800600"/>
            <a:ext cx="3493008" cy="53035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La primera instalación se cotiza al triple del tiempo estimado</a:t>
            </a:r>
            <a:endParaRPr lang="en-US" sz="950" dirty="0"/>
          </a:p>
        </p:txBody>
      </p:sp>
      <p:sp>
        <p:nvSpPr>
          <p:cNvPr id="46" name="Shape 44"/>
          <p:cNvSpPr/>
          <p:nvPr/>
        </p:nvSpPr>
        <p:spPr>
          <a:xfrm>
            <a:off x="594360" y="5330952"/>
            <a:ext cx="10972800" cy="530352"/>
          </a:xfrm>
          <a:prstGeom prst="rect">
            <a:avLst/>
          </a:prstGeom>
          <a:solidFill>
            <a:srgbClr val="FFFFFF"/>
          </a:solidFill>
          <a:ln w="7620">
            <a:solidFill>
              <a:srgbClr val="D8DADE"/>
            </a:solidFill>
            <a:prstDash val="solid"/>
          </a:ln>
        </p:spPr>
      </p:sp>
      <p:sp>
        <p:nvSpPr>
          <p:cNvPr id="47" name="Text 45"/>
          <p:cNvSpPr/>
          <p:nvPr/>
        </p:nvSpPr>
        <p:spPr>
          <a:xfrm>
            <a:off x="722376" y="5330952"/>
            <a:ext cx="1161288" cy="530352"/>
          </a:xfrm>
          <a:prstGeom prst="rect">
            <a:avLst/>
          </a:prstGeom>
          <a:noFill/>
          <a:ln/>
        </p:spPr>
        <p:txBody>
          <a:bodyPr wrap="square" lIns="0" tIns="0" rIns="0" bIns="0" rtlCol="0" anchor="ctr"/>
          <a:lstStyle/>
          <a:p>
            <a:pPr algn="l" indent="0" marL="0">
              <a:buNone/>
            </a:pPr>
            <a:r>
              <a:rPr lang="en-US" sz="1000" b="1" dirty="0">
                <a:solidFill>
                  <a:srgbClr val="37C3FF"/>
                </a:solidFill>
                <a:latin typeface="Calibri" pitchFamily="34" charset="0"/>
                <a:ea typeface="Calibri" pitchFamily="34" charset="-122"/>
                <a:cs typeface="Calibri" pitchFamily="34" charset="-120"/>
              </a:rPr>
              <a:t>Competitivo</a:t>
            </a:r>
            <a:endParaRPr lang="en-US" sz="1000" dirty="0"/>
          </a:p>
        </p:txBody>
      </p:sp>
      <p:sp>
        <p:nvSpPr>
          <p:cNvPr id="48" name="Text 46"/>
          <p:cNvSpPr/>
          <p:nvPr/>
        </p:nvSpPr>
        <p:spPr>
          <a:xfrm>
            <a:off x="2139696" y="5330952"/>
            <a:ext cx="3675888" cy="530352"/>
          </a:xfrm>
          <a:prstGeom prst="rect">
            <a:avLst/>
          </a:prstGeom>
          <a:noFill/>
          <a:ln/>
        </p:spPr>
        <p:txBody>
          <a:bodyPr wrap="square" lIns="0" tIns="0" rIns="0" bIns="0" rtlCol="0" anchor="ctr"/>
          <a:lstStyle/>
          <a:p>
            <a:pPr algn="l" indent="0" marL="0">
              <a:buNone/>
            </a:pPr>
            <a:r>
              <a:rPr lang="en-US" sz="1000" dirty="0">
                <a:solidFill>
                  <a:srgbClr val="1A1D23"/>
                </a:solidFill>
                <a:latin typeface="Calibri" pitchFamily="34" charset="0"/>
                <a:ea typeface="Calibri" pitchFamily="34" charset="-122"/>
                <a:cs typeface="Calibri" pitchFamily="34" charset="-120"/>
              </a:rPr>
              <a:t>Que el fabricante lance un retrofit oficial</a:t>
            </a:r>
            <a:endParaRPr lang="en-US" sz="1000" dirty="0"/>
          </a:p>
        </p:txBody>
      </p:sp>
      <p:sp>
        <p:nvSpPr>
          <p:cNvPr id="49" name="Text 47"/>
          <p:cNvSpPr/>
          <p:nvPr/>
        </p:nvSpPr>
        <p:spPr>
          <a:xfrm>
            <a:off x="6071616" y="5330952"/>
            <a:ext cx="612648" cy="530352"/>
          </a:xfrm>
          <a:prstGeom prst="rect">
            <a:avLst/>
          </a:prstGeom>
          <a:noFill/>
          <a:ln/>
        </p:spPr>
        <p:txBody>
          <a:bodyPr wrap="square" lIns="0" tIns="0" rIns="0" bIns="0" rtlCol="0" anchor="ctr"/>
          <a:lstStyle/>
          <a:p>
            <a:pPr algn="ctr" indent="0" marL="0">
              <a:buNone/>
            </a:pPr>
            <a:r>
              <a:rPr lang="en-US" sz="1000" dirty="0">
                <a:solidFill>
                  <a:srgbClr val="5B6470"/>
                </a:solidFill>
                <a:latin typeface="Calibri" pitchFamily="34" charset="0"/>
                <a:ea typeface="Calibri" pitchFamily="34" charset="-122"/>
                <a:cs typeface="Calibri" pitchFamily="34" charset="-120"/>
              </a:rPr>
              <a:t>Baja</a:t>
            </a:r>
            <a:endParaRPr lang="en-US" sz="1000" dirty="0"/>
          </a:p>
        </p:txBody>
      </p:sp>
      <p:sp>
        <p:nvSpPr>
          <p:cNvPr id="50" name="Text 48"/>
          <p:cNvSpPr/>
          <p:nvPr/>
        </p:nvSpPr>
        <p:spPr>
          <a:xfrm>
            <a:off x="6940296" y="5330952"/>
            <a:ext cx="749808" cy="530352"/>
          </a:xfrm>
          <a:prstGeom prst="rect">
            <a:avLst/>
          </a:prstGeom>
          <a:noFill/>
          <a:ln/>
        </p:spPr>
        <p:txBody>
          <a:bodyPr wrap="square" lIns="0" tIns="0" rIns="0" bIns="0" rtlCol="0" anchor="ctr"/>
          <a:lstStyle/>
          <a:p>
            <a:pPr algn="ctr" indent="0" marL="0">
              <a:buNone/>
            </a:pPr>
            <a:r>
              <a:rPr lang="en-US" sz="1000" b="1" dirty="0">
                <a:solidFill>
                  <a:srgbClr val="37C3FF"/>
                </a:solidFill>
                <a:latin typeface="Calibri" pitchFamily="34" charset="0"/>
                <a:ea typeface="Calibri" pitchFamily="34" charset="-122"/>
                <a:cs typeface="Calibri" pitchFamily="34" charset="-120"/>
              </a:rPr>
              <a:t>Alto</a:t>
            </a:r>
            <a:endParaRPr lang="en-US" sz="1000" dirty="0"/>
          </a:p>
        </p:txBody>
      </p:sp>
      <p:sp>
        <p:nvSpPr>
          <p:cNvPr id="51" name="Text 49"/>
          <p:cNvSpPr/>
          <p:nvPr/>
        </p:nvSpPr>
        <p:spPr>
          <a:xfrm>
            <a:off x="7946136" y="5330952"/>
            <a:ext cx="3493008" cy="53035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Velocidad, y la relación de Montasa con Baoli</a:t>
            </a:r>
            <a:endParaRPr lang="en-US" sz="950" dirty="0"/>
          </a:p>
        </p:txBody>
      </p:sp>
      <p:sp>
        <p:nvSpPr>
          <p:cNvPr id="52" name="Shape 50"/>
          <p:cNvSpPr/>
          <p:nvPr/>
        </p:nvSpPr>
        <p:spPr>
          <a:xfrm>
            <a:off x="594360" y="5861304"/>
            <a:ext cx="10972800" cy="530352"/>
          </a:xfrm>
          <a:prstGeom prst="rect">
            <a:avLst/>
          </a:prstGeom>
          <a:solidFill>
            <a:srgbClr val="FFFFFF"/>
          </a:solidFill>
          <a:ln w="7620">
            <a:solidFill>
              <a:srgbClr val="D8DADE"/>
            </a:solidFill>
            <a:prstDash val="solid"/>
          </a:ln>
        </p:spPr>
      </p:sp>
      <p:sp>
        <p:nvSpPr>
          <p:cNvPr id="53" name="Text 51"/>
          <p:cNvSpPr/>
          <p:nvPr/>
        </p:nvSpPr>
        <p:spPr>
          <a:xfrm>
            <a:off x="722376" y="5861304"/>
            <a:ext cx="1161288" cy="530352"/>
          </a:xfrm>
          <a:prstGeom prst="rect">
            <a:avLst/>
          </a:prstGeom>
          <a:noFill/>
          <a:ln/>
        </p:spPr>
        <p:txBody>
          <a:bodyPr wrap="square" lIns="0" tIns="0" rIns="0" bIns="0" rtlCol="0" anchor="ctr"/>
          <a:lstStyle/>
          <a:p>
            <a:pPr algn="l" indent="0" marL="0">
              <a:buNone/>
            </a:pPr>
            <a:r>
              <a:rPr lang="en-US" sz="1000" b="1" dirty="0">
                <a:solidFill>
                  <a:srgbClr val="FF5A52"/>
                </a:solidFill>
                <a:latin typeface="Calibri" pitchFamily="34" charset="0"/>
                <a:ea typeface="Calibri" pitchFamily="34" charset="-122"/>
                <a:cs typeface="Calibri" pitchFamily="34" charset="-120"/>
              </a:rPr>
              <a:t>Organizacional</a:t>
            </a:r>
            <a:endParaRPr lang="en-US" sz="1000" dirty="0"/>
          </a:p>
        </p:txBody>
      </p:sp>
      <p:sp>
        <p:nvSpPr>
          <p:cNvPr id="54" name="Text 52"/>
          <p:cNvSpPr/>
          <p:nvPr/>
        </p:nvSpPr>
        <p:spPr>
          <a:xfrm>
            <a:off x="2139696" y="5861304"/>
            <a:ext cx="3675888" cy="530352"/>
          </a:xfrm>
          <a:prstGeom prst="rect">
            <a:avLst/>
          </a:prstGeom>
          <a:noFill/>
          <a:ln/>
        </p:spPr>
        <p:txBody>
          <a:bodyPr wrap="square" lIns="0" tIns="0" rIns="0" bIns="0" rtlCol="0" anchor="ctr"/>
          <a:lstStyle/>
          <a:p>
            <a:pPr algn="l" indent="0" marL="0">
              <a:buNone/>
            </a:pPr>
            <a:r>
              <a:rPr lang="en-US" sz="1000" dirty="0">
                <a:solidFill>
                  <a:srgbClr val="1A1D23"/>
                </a:solidFill>
                <a:latin typeface="Calibri" pitchFamily="34" charset="0"/>
                <a:ea typeface="Calibri" pitchFamily="34" charset="-122"/>
                <a:cs typeface="Calibri" pitchFamily="34" charset="-120"/>
              </a:rPr>
              <a:t>Equipo pequeño, dependencia de una persona</a:t>
            </a:r>
            <a:endParaRPr lang="en-US" sz="1000" dirty="0"/>
          </a:p>
        </p:txBody>
      </p:sp>
      <p:sp>
        <p:nvSpPr>
          <p:cNvPr id="55" name="Text 53"/>
          <p:cNvSpPr/>
          <p:nvPr/>
        </p:nvSpPr>
        <p:spPr>
          <a:xfrm>
            <a:off x="6071616" y="5861304"/>
            <a:ext cx="612648" cy="530352"/>
          </a:xfrm>
          <a:prstGeom prst="rect">
            <a:avLst/>
          </a:prstGeom>
          <a:noFill/>
          <a:ln/>
        </p:spPr>
        <p:txBody>
          <a:bodyPr wrap="square" lIns="0" tIns="0" rIns="0" bIns="0" rtlCol="0" anchor="ctr"/>
          <a:lstStyle/>
          <a:p>
            <a:pPr algn="ctr" indent="0" marL="0">
              <a:buNone/>
            </a:pPr>
            <a:r>
              <a:rPr lang="en-US" sz="1000" dirty="0">
                <a:solidFill>
                  <a:srgbClr val="5B6470"/>
                </a:solidFill>
                <a:latin typeface="Calibri" pitchFamily="34" charset="0"/>
                <a:ea typeface="Calibri" pitchFamily="34" charset="-122"/>
                <a:cs typeface="Calibri" pitchFamily="34" charset="-120"/>
              </a:rPr>
              <a:t>Alta</a:t>
            </a:r>
            <a:endParaRPr lang="en-US" sz="1000" dirty="0"/>
          </a:p>
        </p:txBody>
      </p:sp>
      <p:sp>
        <p:nvSpPr>
          <p:cNvPr id="56" name="Text 54"/>
          <p:cNvSpPr/>
          <p:nvPr/>
        </p:nvSpPr>
        <p:spPr>
          <a:xfrm>
            <a:off x="6940296" y="5861304"/>
            <a:ext cx="749808" cy="530352"/>
          </a:xfrm>
          <a:prstGeom prst="rect">
            <a:avLst/>
          </a:prstGeom>
          <a:noFill/>
          <a:ln/>
        </p:spPr>
        <p:txBody>
          <a:bodyPr wrap="square" lIns="0" tIns="0" rIns="0" bIns="0" rtlCol="0" anchor="ctr"/>
          <a:lstStyle/>
          <a:p>
            <a:pPr algn="ctr" indent="0" marL="0">
              <a:buNone/>
            </a:pPr>
            <a:r>
              <a:rPr lang="en-US" sz="1000" b="1" dirty="0">
                <a:solidFill>
                  <a:srgbClr val="FF5A52"/>
                </a:solidFill>
                <a:latin typeface="Calibri" pitchFamily="34" charset="0"/>
                <a:ea typeface="Calibri" pitchFamily="34" charset="-122"/>
                <a:cs typeface="Calibri" pitchFamily="34" charset="-120"/>
              </a:rPr>
              <a:t>Alto</a:t>
            </a:r>
            <a:endParaRPr lang="en-US" sz="1000" dirty="0"/>
          </a:p>
        </p:txBody>
      </p:sp>
      <p:sp>
        <p:nvSpPr>
          <p:cNvPr id="57" name="Text 55"/>
          <p:cNvSpPr/>
          <p:nvPr/>
        </p:nvSpPr>
        <p:spPr>
          <a:xfrm>
            <a:off x="7946136" y="5861304"/>
            <a:ext cx="3493008" cy="530352"/>
          </a:xfrm>
          <a:prstGeom prst="rect">
            <a:avLst/>
          </a:prstGeom>
          <a:noFill/>
          <a:ln/>
        </p:spPr>
        <p:txBody>
          <a:bodyPr wrap="square" lIns="0" tIns="0" rIns="0" bIns="0" rtlCol="0" anchor="ctr"/>
          <a:lstStyle/>
          <a:p>
            <a:pPr algn="l" indent="0" marL="0">
              <a:buNone/>
            </a:pPr>
            <a:r>
              <a:rPr lang="en-US" sz="950" dirty="0">
                <a:solidFill>
                  <a:srgbClr val="5B6470"/>
                </a:solidFill>
                <a:latin typeface="Calibri" pitchFamily="34" charset="0"/>
                <a:ea typeface="Calibri" pitchFamily="34" charset="-122"/>
                <a:cs typeface="Calibri" pitchFamily="34" charset="-120"/>
              </a:rPr>
              <a:t>Documentar desde el día uno y repartir el conocimiento</a:t>
            </a:r>
            <a:endParaRPr lang="en-US" sz="950" dirty="0"/>
          </a:p>
        </p:txBody>
      </p:sp>
      <p:sp>
        <p:nvSpPr>
          <p:cNvPr id="58" name="Text 56"/>
          <p:cNvSpPr/>
          <p:nvPr/>
        </p:nvSpPr>
        <p:spPr>
          <a:xfrm>
            <a:off x="594360" y="6446520"/>
            <a:ext cx="10972800" cy="320040"/>
          </a:xfrm>
          <a:prstGeom prst="rect">
            <a:avLst/>
          </a:prstGeom>
          <a:noFill/>
          <a:ln/>
        </p:spPr>
        <p:txBody>
          <a:bodyPr wrap="square" lIns="0" tIns="0" rIns="0" bIns="0" rtlCol="0" anchor="ctr"/>
          <a:lstStyle/>
          <a:p>
            <a:pPr indent="0" marL="0">
              <a:buNone/>
            </a:pPr>
            <a:r>
              <a:rPr lang="en-US" sz="1150" b="1" dirty="0">
                <a:solidFill>
                  <a:srgbClr val="1A1D23"/>
                </a:solidFill>
                <a:latin typeface="Calibri" pitchFamily="34" charset="0"/>
                <a:ea typeface="Calibri" pitchFamily="34" charset="-122"/>
                <a:cs typeface="Calibri" pitchFamily="34" charset="-120"/>
              </a:rPr>
              <a:t>Ningún riesgo de la lista requiere desembolso adicional para mitigarse. El más caro se resuelve con dos horas de taller.</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Los tres riesgos que de verdad pueden matar esto</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Y qué se hace con cada uno, en concreto</a:t>
            </a:r>
            <a:endParaRPr lang="en-US" sz="1350" dirty="0"/>
          </a:p>
        </p:txBody>
      </p:sp>
      <p:sp>
        <p:nvSpPr>
          <p:cNvPr id="4" name="Shape 2"/>
          <p:cNvSpPr/>
          <p:nvPr/>
        </p:nvSpPr>
        <p:spPr>
          <a:xfrm>
            <a:off x="594360" y="1828800"/>
            <a:ext cx="10972800" cy="1353312"/>
          </a:xfrm>
          <a:prstGeom prst="roundRect">
            <a:avLst>
              <a:gd name="adj" fmla="val 6081"/>
            </a:avLst>
          </a:prstGeom>
          <a:solidFill>
            <a:srgbClr val="20242B"/>
          </a:solidFill>
          <a:ln/>
          <a:effectLst>
            <a:outerShdw sx="100000" sy="100000" kx="0" ky="0" algn="bl" rotWithShape="0" blurRad="152400" dist="38100" dir="5400000">
              <a:srgbClr val="000000">
                <a:alpha val="28000"/>
              </a:srgbClr>
            </a:outerShdw>
          </a:effectLst>
        </p:spPr>
      </p:sp>
      <p:sp>
        <p:nvSpPr>
          <p:cNvPr id="5" name="Shape 3"/>
          <p:cNvSpPr/>
          <p:nvPr/>
        </p:nvSpPr>
        <p:spPr>
          <a:xfrm>
            <a:off x="594360" y="1828800"/>
            <a:ext cx="64008" cy="1353312"/>
          </a:xfrm>
          <a:prstGeom prst="rect">
            <a:avLst/>
          </a:prstGeom>
          <a:solidFill>
            <a:srgbClr val="FF5A52"/>
          </a:solidFill>
          <a:ln/>
        </p:spPr>
      </p:sp>
      <p:sp>
        <p:nvSpPr>
          <p:cNvPr id="6" name="Text 4"/>
          <p:cNvSpPr/>
          <p:nvPr/>
        </p:nvSpPr>
        <p:spPr>
          <a:xfrm>
            <a:off x="914400" y="1956816"/>
            <a:ext cx="2743200" cy="365760"/>
          </a:xfrm>
          <a:prstGeom prst="rect">
            <a:avLst/>
          </a:prstGeom>
          <a:noFill/>
          <a:ln/>
        </p:spPr>
        <p:txBody>
          <a:bodyPr wrap="square" lIns="0" tIns="0" rIns="0" bIns="0" rtlCol="0" anchor="ctr"/>
          <a:lstStyle/>
          <a:p>
            <a:pPr indent="0" marL="0">
              <a:buNone/>
            </a:pPr>
            <a:r>
              <a:rPr lang="en-US" sz="1500" b="1" dirty="0">
                <a:solidFill>
                  <a:srgbClr val="FF5A52"/>
                </a:solidFill>
                <a:latin typeface="Cambria" pitchFamily="34" charset="0"/>
                <a:ea typeface="Cambria" pitchFamily="34" charset="-122"/>
                <a:cs typeface="Cambria" pitchFamily="34" charset="-120"/>
              </a:rPr>
              <a:t>El Baoli no habla</a:t>
            </a:r>
            <a:endParaRPr lang="en-US" sz="1500" dirty="0"/>
          </a:p>
        </p:txBody>
      </p:sp>
      <p:sp>
        <p:nvSpPr>
          <p:cNvPr id="7" name="Text 5"/>
          <p:cNvSpPr/>
          <p:nvPr/>
        </p:nvSpPr>
        <p:spPr>
          <a:xfrm>
            <a:off x="914400" y="2359152"/>
            <a:ext cx="2834640" cy="731520"/>
          </a:xfrm>
          <a:prstGeom prst="rect">
            <a:avLst/>
          </a:prstGeom>
          <a:noFill/>
          <a:ln/>
        </p:spPr>
        <p:txBody>
          <a:bodyPr wrap="square" lIns="0" tIns="0" rIns="0" bIns="0" rtlCol="0" anchor="t"/>
          <a:lstStyle/>
          <a:p>
            <a:pPr indent="0" marL="0">
              <a:buNone/>
            </a:pPr>
            <a:r>
              <a:rPr lang="en-US" sz="950" dirty="0">
                <a:solidFill>
                  <a:srgbClr val="8B949E"/>
                </a:solidFill>
                <a:latin typeface="Calibri" pitchFamily="34" charset="0"/>
                <a:ea typeface="Calibri" pitchFamily="34" charset="-122"/>
                <a:cs typeface="Calibri" pitchFamily="34" charset="-120"/>
              </a:rPr>
              <a:t>Si el controlador Curtis o ZAPI no expone el bus, hay que poner actuadores mecánicos sobre los pedales y la dirección.</a:t>
            </a:r>
            <a:endParaRPr lang="en-US" sz="950" dirty="0"/>
          </a:p>
        </p:txBody>
      </p:sp>
      <p:sp>
        <p:nvSpPr>
          <p:cNvPr id="8" name="Text 6"/>
          <p:cNvSpPr/>
          <p:nvPr/>
        </p:nvSpPr>
        <p:spPr>
          <a:xfrm>
            <a:off x="3977640" y="1975104"/>
            <a:ext cx="3291840" cy="228600"/>
          </a:xfrm>
          <a:prstGeom prst="rect">
            <a:avLst/>
          </a:prstGeom>
          <a:noFill/>
          <a:ln/>
        </p:spPr>
        <p:txBody>
          <a:bodyPr wrap="square" lIns="0" tIns="0" rIns="0" bIns="0" rtlCol="0" anchor="ctr"/>
          <a:lstStyle/>
          <a:p>
            <a:pPr indent="0" marL="0">
              <a:buNone/>
            </a:pPr>
            <a:r>
              <a:rPr lang="en-US" sz="850" b="1" spc="140" kern="0" dirty="0">
                <a:solidFill>
                  <a:srgbClr val="8B949E"/>
                </a:solidFill>
                <a:latin typeface="Calibri" pitchFamily="34" charset="0"/>
                <a:ea typeface="Calibri" pitchFamily="34" charset="-122"/>
                <a:cs typeface="Calibri" pitchFamily="34" charset="-120"/>
              </a:rPr>
              <a:t>SI PASA</a:t>
            </a:r>
            <a:endParaRPr lang="en-US" sz="850" dirty="0"/>
          </a:p>
        </p:txBody>
      </p:sp>
      <p:sp>
        <p:nvSpPr>
          <p:cNvPr id="9" name="Text 7"/>
          <p:cNvSpPr/>
          <p:nvPr/>
        </p:nvSpPr>
        <p:spPr>
          <a:xfrm>
            <a:off x="3977640" y="2240280"/>
            <a:ext cx="3291840" cy="822960"/>
          </a:xfrm>
          <a:prstGeom prst="rect">
            <a:avLst/>
          </a:prstGeom>
          <a:noFill/>
          <a:ln/>
        </p:spPr>
        <p:txBody>
          <a:bodyPr wrap="square" lIns="0" tIns="0" rIns="0" bIns="0" rtlCol="0" anchor="t"/>
          <a:lstStyle/>
          <a:p>
            <a:pPr indent="0" marL="0">
              <a:buNone/>
            </a:pPr>
            <a:r>
              <a:rPr lang="en-US" sz="1050" dirty="0">
                <a:solidFill>
                  <a:srgbClr val="ECEBE6"/>
                </a:solidFill>
                <a:latin typeface="Calibri" pitchFamily="34" charset="0"/>
                <a:ea typeface="Calibri" pitchFamily="34" charset="-122"/>
                <a:cs typeface="Calibri" pitchFamily="34" charset="-120"/>
              </a:rPr>
              <a:t>Cuesta $3,400 más por unidad y unas 8 semanas de ingeniería adicional.</a:t>
            </a:r>
            <a:endParaRPr lang="en-US" sz="1050" dirty="0"/>
          </a:p>
        </p:txBody>
      </p:sp>
      <p:sp>
        <p:nvSpPr>
          <p:cNvPr id="10" name="Text 8"/>
          <p:cNvSpPr/>
          <p:nvPr/>
        </p:nvSpPr>
        <p:spPr>
          <a:xfrm>
            <a:off x="7498080" y="1975104"/>
            <a:ext cx="3749040" cy="228600"/>
          </a:xfrm>
          <a:prstGeom prst="rect">
            <a:avLst/>
          </a:prstGeom>
          <a:noFill/>
          <a:ln/>
        </p:spPr>
        <p:txBody>
          <a:bodyPr wrap="square" lIns="0" tIns="0" rIns="0" bIns="0" rtlCol="0" anchor="ctr"/>
          <a:lstStyle/>
          <a:p>
            <a:pPr indent="0" marL="0">
              <a:buNone/>
            </a:pPr>
            <a:r>
              <a:rPr lang="en-US" sz="850" b="1" spc="140" kern="0" dirty="0">
                <a:solidFill>
                  <a:srgbClr val="39D98A"/>
                </a:solidFill>
                <a:latin typeface="Calibri" pitchFamily="34" charset="0"/>
                <a:ea typeface="Calibri" pitchFamily="34" charset="-122"/>
                <a:cs typeface="Calibri" pitchFamily="34" charset="-120"/>
              </a:rPr>
              <a:t>QUÉ SE HACE</a:t>
            </a:r>
            <a:endParaRPr lang="en-US" sz="850" dirty="0"/>
          </a:p>
        </p:txBody>
      </p:sp>
      <p:sp>
        <p:nvSpPr>
          <p:cNvPr id="11" name="Text 9"/>
          <p:cNvSpPr/>
          <p:nvPr/>
        </p:nvSpPr>
        <p:spPr>
          <a:xfrm>
            <a:off x="7498080" y="2240280"/>
            <a:ext cx="3749040" cy="822960"/>
          </a:xfrm>
          <a:prstGeom prst="rect">
            <a:avLst/>
          </a:prstGeom>
          <a:noFill/>
          <a:ln/>
        </p:spPr>
        <p:txBody>
          <a:bodyPr wrap="square" lIns="0" tIns="0" rIns="0" bIns="0" rtlCol="0" anchor="t"/>
          <a:lstStyle/>
          <a:p>
            <a:pPr indent="0" marL="0">
              <a:buNone/>
            </a:pPr>
            <a:r>
              <a:rPr lang="en-US" sz="1050" dirty="0">
                <a:solidFill>
                  <a:srgbClr val="ECEBE6"/>
                </a:solidFill>
                <a:latin typeface="Calibri" pitchFamily="34" charset="0"/>
                <a:ea typeface="Calibri" pitchFamily="34" charset="-122"/>
                <a:cs typeface="Calibri" pitchFamily="34" charset="-120"/>
              </a:rPr>
              <a:t>Se valida esta semana, gratis, en un equipo del taller. Antes de comprar un solo componente.</a:t>
            </a:r>
            <a:endParaRPr lang="en-US" sz="1050" dirty="0"/>
          </a:p>
        </p:txBody>
      </p:sp>
      <p:sp>
        <p:nvSpPr>
          <p:cNvPr id="12" name="Shape 10"/>
          <p:cNvSpPr/>
          <p:nvPr/>
        </p:nvSpPr>
        <p:spPr>
          <a:xfrm>
            <a:off x="594360" y="3346704"/>
            <a:ext cx="10972800" cy="1353312"/>
          </a:xfrm>
          <a:prstGeom prst="roundRect">
            <a:avLst>
              <a:gd name="adj" fmla="val 6081"/>
            </a:avLst>
          </a:prstGeom>
          <a:solidFill>
            <a:srgbClr val="20242B"/>
          </a:solidFill>
          <a:ln/>
          <a:effectLst>
            <a:outerShdw sx="100000" sy="100000" kx="0" ky="0" algn="bl" rotWithShape="0" blurRad="152400" dist="38100" dir="5400000">
              <a:srgbClr val="000000">
                <a:alpha val="28000"/>
              </a:srgbClr>
            </a:outerShdw>
          </a:effectLst>
        </p:spPr>
      </p:sp>
      <p:sp>
        <p:nvSpPr>
          <p:cNvPr id="13" name="Shape 11"/>
          <p:cNvSpPr/>
          <p:nvPr/>
        </p:nvSpPr>
        <p:spPr>
          <a:xfrm>
            <a:off x="594360" y="3346704"/>
            <a:ext cx="64008" cy="1353312"/>
          </a:xfrm>
          <a:prstGeom prst="rect">
            <a:avLst/>
          </a:prstGeom>
          <a:solidFill>
            <a:srgbClr val="F5C518"/>
          </a:solidFill>
          <a:ln/>
        </p:spPr>
      </p:sp>
      <p:sp>
        <p:nvSpPr>
          <p:cNvPr id="14" name="Text 12"/>
          <p:cNvSpPr/>
          <p:nvPr/>
        </p:nvSpPr>
        <p:spPr>
          <a:xfrm>
            <a:off x="914400" y="3474720"/>
            <a:ext cx="2743200" cy="365760"/>
          </a:xfrm>
          <a:prstGeom prst="rect">
            <a:avLst/>
          </a:prstGeom>
          <a:noFill/>
          <a:ln/>
        </p:spPr>
        <p:txBody>
          <a:bodyPr wrap="square" lIns="0" tIns="0" rIns="0" bIns="0" rtlCol="0" anchor="ctr"/>
          <a:lstStyle/>
          <a:p>
            <a:pPr indent="0" marL="0">
              <a:buNone/>
            </a:pPr>
            <a:r>
              <a:rPr lang="en-US" sz="1500" b="1" dirty="0">
                <a:solidFill>
                  <a:srgbClr val="F5C518"/>
                </a:solidFill>
                <a:latin typeface="Cambria" pitchFamily="34" charset="0"/>
                <a:ea typeface="Cambria" pitchFamily="34" charset="-122"/>
                <a:cs typeface="Cambria" pitchFamily="34" charset="-120"/>
              </a:rPr>
              <a:t>El cliente equivocado</a:t>
            </a:r>
            <a:endParaRPr lang="en-US" sz="1500" dirty="0"/>
          </a:p>
        </p:txBody>
      </p:sp>
      <p:sp>
        <p:nvSpPr>
          <p:cNvPr id="15" name="Text 13"/>
          <p:cNvSpPr/>
          <p:nvPr/>
        </p:nvSpPr>
        <p:spPr>
          <a:xfrm>
            <a:off x="914400" y="3877056"/>
            <a:ext cx="2834640" cy="731520"/>
          </a:xfrm>
          <a:prstGeom prst="rect">
            <a:avLst/>
          </a:prstGeom>
          <a:noFill/>
          <a:ln/>
        </p:spPr>
        <p:txBody>
          <a:bodyPr wrap="square" lIns="0" tIns="0" rIns="0" bIns="0" rtlCol="0" anchor="t"/>
          <a:lstStyle/>
          <a:p>
            <a:pPr indent="0" marL="0">
              <a:buNone/>
            </a:pPr>
            <a:r>
              <a:rPr lang="en-US" sz="950" dirty="0">
                <a:solidFill>
                  <a:srgbClr val="8B949E"/>
                </a:solidFill>
                <a:latin typeface="Calibri" pitchFamily="34" charset="0"/>
                <a:ea typeface="Calibri" pitchFamily="34" charset="-122"/>
                <a:cs typeface="Calibri" pitchFamily="34" charset="-120"/>
              </a:rPr>
              <a:t>Si el cliente opera reach trucks y no contrabalanceados, el kit hay que diseñarlo para otra máquina.</a:t>
            </a:r>
            <a:endParaRPr lang="en-US" sz="950" dirty="0"/>
          </a:p>
        </p:txBody>
      </p:sp>
      <p:sp>
        <p:nvSpPr>
          <p:cNvPr id="16" name="Text 14"/>
          <p:cNvSpPr/>
          <p:nvPr/>
        </p:nvSpPr>
        <p:spPr>
          <a:xfrm>
            <a:off x="3977640" y="3493008"/>
            <a:ext cx="3291840" cy="228600"/>
          </a:xfrm>
          <a:prstGeom prst="rect">
            <a:avLst/>
          </a:prstGeom>
          <a:noFill/>
          <a:ln/>
        </p:spPr>
        <p:txBody>
          <a:bodyPr wrap="square" lIns="0" tIns="0" rIns="0" bIns="0" rtlCol="0" anchor="ctr"/>
          <a:lstStyle/>
          <a:p>
            <a:pPr indent="0" marL="0">
              <a:buNone/>
            </a:pPr>
            <a:r>
              <a:rPr lang="en-US" sz="850" b="1" spc="140" kern="0" dirty="0">
                <a:solidFill>
                  <a:srgbClr val="8B949E"/>
                </a:solidFill>
                <a:latin typeface="Calibri" pitchFamily="34" charset="0"/>
                <a:ea typeface="Calibri" pitchFamily="34" charset="-122"/>
                <a:cs typeface="Calibri" pitchFamily="34" charset="-120"/>
              </a:rPr>
              <a:t>SI PASA</a:t>
            </a:r>
            <a:endParaRPr lang="en-US" sz="850" dirty="0"/>
          </a:p>
        </p:txBody>
      </p:sp>
      <p:sp>
        <p:nvSpPr>
          <p:cNvPr id="17" name="Text 15"/>
          <p:cNvSpPr/>
          <p:nvPr/>
        </p:nvSpPr>
        <p:spPr>
          <a:xfrm>
            <a:off x="3977640" y="3758184"/>
            <a:ext cx="3291840" cy="822960"/>
          </a:xfrm>
          <a:prstGeom prst="rect">
            <a:avLst/>
          </a:prstGeom>
          <a:noFill/>
          <a:ln/>
        </p:spPr>
        <p:txBody>
          <a:bodyPr wrap="square" lIns="0" tIns="0" rIns="0" bIns="0" rtlCol="0" anchor="t"/>
          <a:lstStyle/>
          <a:p>
            <a:pPr indent="0" marL="0">
              <a:buNone/>
            </a:pPr>
            <a:r>
              <a:rPr lang="en-US" sz="1050" dirty="0">
                <a:solidFill>
                  <a:srgbClr val="ECEBE6"/>
                </a:solidFill>
                <a:latin typeface="Calibri" pitchFamily="34" charset="0"/>
                <a:ea typeface="Calibri" pitchFamily="34" charset="-122"/>
                <a:cs typeface="Calibri" pitchFamily="34" charset="-120"/>
              </a:rPr>
              <a:t>No mata el producto, pero mueve el calendario unos dos meses.</a:t>
            </a:r>
            <a:endParaRPr lang="en-US" sz="1050" dirty="0"/>
          </a:p>
        </p:txBody>
      </p:sp>
      <p:sp>
        <p:nvSpPr>
          <p:cNvPr id="18" name="Text 16"/>
          <p:cNvSpPr/>
          <p:nvPr/>
        </p:nvSpPr>
        <p:spPr>
          <a:xfrm>
            <a:off x="7498080" y="3493008"/>
            <a:ext cx="3749040" cy="228600"/>
          </a:xfrm>
          <a:prstGeom prst="rect">
            <a:avLst/>
          </a:prstGeom>
          <a:noFill/>
          <a:ln/>
        </p:spPr>
        <p:txBody>
          <a:bodyPr wrap="square" lIns="0" tIns="0" rIns="0" bIns="0" rtlCol="0" anchor="ctr"/>
          <a:lstStyle/>
          <a:p>
            <a:pPr indent="0" marL="0">
              <a:buNone/>
            </a:pPr>
            <a:r>
              <a:rPr lang="en-US" sz="850" b="1" spc="140" kern="0" dirty="0">
                <a:solidFill>
                  <a:srgbClr val="39D98A"/>
                </a:solidFill>
                <a:latin typeface="Calibri" pitchFamily="34" charset="0"/>
                <a:ea typeface="Calibri" pitchFamily="34" charset="-122"/>
                <a:cs typeface="Calibri" pitchFamily="34" charset="-120"/>
              </a:rPr>
              <a:t>QUÉ SE HACE</a:t>
            </a:r>
            <a:endParaRPr lang="en-US" sz="850" dirty="0"/>
          </a:p>
        </p:txBody>
      </p:sp>
      <p:sp>
        <p:nvSpPr>
          <p:cNvPr id="19" name="Text 17"/>
          <p:cNvSpPr/>
          <p:nvPr/>
        </p:nvSpPr>
        <p:spPr>
          <a:xfrm>
            <a:off x="7498080" y="3758184"/>
            <a:ext cx="3749040" cy="822960"/>
          </a:xfrm>
          <a:prstGeom prst="rect">
            <a:avLst/>
          </a:prstGeom>
          <a:noFill/>
          <a:ln/>
        </p:spPr>
        <p:txBody>
          <a:bodyPr wrap="square" lIns="0" tIns="0" rIns="0" bIns="0" rtlCol="0" anchor="t"/>
          <a:lstStyle/>
          <a:p>
            <a:pPr indent="0" marL="0">
              <a:buNone/>
            </a:pPr>
            <a:r>
              <a:rPr lang="en-US" sz="1050" dirty="0">
                <a:solidFill>
                  <a:srgbClr val="ECEBE6"/>
                </a:solidFill>
                <a:latin typeface="Calibri" pitchFamily="34" charset="0"/>
                <a:ea typeface="Calibri" pitchFamily="34" charset="-122"/>
                <a:cs typeface="Calibri" pitchFamily="34" charset="-120"/>
              </a:rPr>
              <a:t>Se resuelve en la visita de levantamiento, antes de comprometer diseño.</a:t>
            </a:r>
            <a:endParaRPr lang="en-US" sz="1050" dirty="0"/>
          </a:p>
        </p:txBody>
      </p:sp>
      <p:sp>
        <p:nvSpPr>
          <p:cNvPr id="20" name="Shape 18"/>
          <p:cNvSpPr/>
          <p:nvPr/>
        </p:nvSpPr>
        <p:spPr>
          <a:xfrm>
            <a:off x="594360" y="4864608"/>
            <a:ext cx="10972800" cy="1353312"/>
          </a:xfrm>
          <a:prstGeom prst="roundRect">
            <a:avLst>
              <a:gd name="adj" fmla="val 6081"/>
            </a:avLst>
          </a:prstGeom>
          <a:solidFill>
            <a:srgbClr val="20242B"/>
          </a:solidFill>
          <a:ln/>
          <a:effectLst>
            <a:outerShdw sx="100000" sy="100000" kx="0" ky="0" algn="bl" rotWithShape="0" blurRad="152400" dist="38100" dir="5400000">
              <a:srgbClr val="000000">
                <a:alpha val="28000"/>
              </a:srgbClr>
            </a:outerShdw>
          </a:effectLst>
        </p:spPr>
      </p:sp>
      <p:sp>
        <p:nvSpPr>
          <p:cNvPr id="21" name="Shape 19"/>
          <p:cNvSpPr/>
          <p:nvPr/>
        </p:nvSpPr>
        <p:spPr>
          <a:xfrm>
            <a:off x="594360" y="4864608"/>
            <a:ext cx="64008" cy="1353312"/>
          </a:xfrm>
          <a:prstGeom prst="rect">
            <a:avLst/>
          </a:prstGeom>
          <a:solidFill>
            <a:srgbClr val="FF5A52"/>
          </a:solidFill>
          <a:ln/>
        </p:spPr>
      </p:sp>
      <p:sp>
        <p:nvSpPr>
          <p:cNvPr id="22" name="Text 20"/>
          <p:cNvSpPr/>
          <p:nvPr/>
        </p:nvSpPr>
        <p:spPr>
          <a:xfrm>
            <a:off x="914400" y="4992624"/>
            <a:ext cx="2743200" cy="365760"/>
          </a:xfrm>
          <a:prstGeom prst="rect">
            <a:avLst/>
          </a:prstGeom>
          <a:noFill/>
          <a:ln/>
        </p:spPr>
        <p:txBody>
          <a:bodyPr wrap="square" lIns="0" tIns="0" rIns="0" bIns="0" rtlCol="0" anchor="ctr"/>
          <a:lstStyle/>
          <a:p>
            <a:pPr indent="0" marL="0">
              <a:buNone/>
            </a:pPr>
            <a:r>
              <a:rPr lang="en-US" sz="1500" b="1" dirty="0">
                <a:solidFill>
                  <a:srgbClr val="FF5A52"/>
                </a:solidFill>
                <a:latin typeface="Cambria" pitchFamily="34" charset="0"/>
                <a:ea typeface="Cambria" pitchFamily="34" charset="-122"/>
                <a:cs typeface="Cambria" pitchFamily="34" charset="-120"/>
              </a:rPr>
              <a:t>La primera instalación</a:t>
            </a:r>
            <a:endParaRPr lang="en-US" sz="1500" dirty="0"/>
          </a:p>
        </p:txBody>
      </p:sp>
      <p:sp>
        <p:nvSpPr>
          <p:cNvPr id="23" name="Text 21"/>
          <p:cNvSpPr/>
          <p:nvPr/>
        </p:nvSpPr>
        <p:spPr>
          <a:xfrm>
            <a:off x="914400" y="5394960"/>
            <a:ext cx="2834640" cy="731520"/>
          </a:xfrm>
          <a:prstGeom prst="rect">
            <a:avLst/>
          </a:prstGeom>
          <a:noFill/>
          <a:ln/>
        </p:spPr>
        <p:txBody>
          <a:bodyPr wrap="square" lIns="0" tIns="0" rIns="0" bIns="0" rtlCol="0" anchor="t"/>
          <a:lstStyle/>
          <a:p>
            <a:pPr indent="0" marL="0">
              <a:buNone/>
            </a:pPr>
            <a:r>
              <a:rPr lang="en-US" sz="950" dirty="0">
                <a:solidFill>
                  <a:srgbClr val="8B949E"/>
                </a:solidFill>
                <a:latin typeface="Calibri" pitchFamily="34" charset="0"/>
                <a:ea typeface="Calibri" pitchFamily="34" charset="-122"/>
                <a:cs typeface="Calibri" pitchFamily="34" charset="-120"/>
              </a:rPr>
              <a:t>Todo proyecto primerizo tarda el triple de lo estimado. Si le prometemos al cliente una fecha optimista, quemamos la referencia.</a:t>
            </a:r>
            <a:endParaRPr lang="en-US" sz="950" dirty="0"/>
          </a:p>
        </p:txBody>
      </p:sp>
      <p:sp>
        <p:nvSpPr>
          <p:cNvPr id="24" name="Text 22"/>
          <p:cNvSpPr/>
          <p:nvPr/>
        </p:nvSpPr>
        <p:spPr>
          <a:xfrm>
            <a:off x="3977640" y="5010912"/>
            <a:ext cx="3291840" cy="228600"/>
          </a:xfrm>
          <a:prstGeom prst="rect">
            <a:avLst/>
          </a:prstGeom>
          <a:noFill/>
          <a:ln/>
        </p:spPr>
        <p:txBody>
          <a:bodyPr wrap="square" lIns="0" tIns="0" rIns="0" bIns="0" rtlCol="0" anchor="ctr"/>
          <a:lstStyle/>
          <a:p>
            <a:pPr indent="0" marL="0">
              <a:buNone/>
            </a:pPr>
            <a:r>
              <a:rPr lang="en-US" sz="850" b="1" spc="140" kern="0" dirty="0">
                <a:solidFill>
                  <a:srgbClr val="8B949E"/>
                </a:solidFill>
                <a:latin typeface="Calibri" pitchFamily="34" charset="0"/>
                <a:ea typeface="Calibri" pitchFamily="34" charset="-122"/>
                <a:cs typeface="Calibri" pitchFamily="34" charset="-120"/>
              </a:rPr>
              <a:t>SI PASA</a:t>
            </a:r>
            <a:endParaRPr lang="en-US" sz="850" dirty="0"/>
          </a:p>
        </p:txBody>
      </p:sp>
      <p:sp>
        <p:nvSpPr>
          <p:cNvPr id="25" name="Text 23"/>
          <p:cNvSpPr/>
          <p:nvPr/>
        </p:nvSpPr>
        <p:spPr>
          <a:xfrm>
            <a:off x="3977640" y="5276088"/>
            <a:ext cx="3291840" cy="822960"/>
          </a:xfrm>
          <a:prstGeom prst="rect">
            <a:avLst/>
          </a:prstGeom>
          <a:noFill/>
          <a:ln/>
        </p:spPr>
        <p:txBody>
          <a:bodyPr wrap="square" lIns="0" tIns="0" rIns="0" bIns="0" rtlCol="0" anchor="t"/>
          <a:lstStyle/>
          <a:p>
            <a:pPr indent="0" marL="0">
              <a:buNone/>
            </a:pPr>
            <a:r>
              <a:rPr lang="en-US" sz="1050" dirty="0">
                <a:solidFill>
                  <a:srgbClr val="ECEBE6"/>
                </a:solidFill>
                <a:latin typeface="Calibri" pitchFamily="34" charset="0"/>
                <a:ea typeface="Calibri" pitchFamily="34" charset="-122"/>
                <a:cs typeface="Calibri" pitchFamily="34" charset="-120"/>
              </a:rPr>
              <a:t>El daño no es el costo: es perder el caso de éxito que justifica todo lo demás.</a:t>
            </a:r>
            <a:endParaRPr lang="en-US" sz="1050" dirty="0"/>
          </a:p>
        </p:txBody>
      </p:sp>
      <p:sp>
        <p:nvSpPr>
          <p:cNvPr id="26" name="Text 24"/>
          <p:cNvSpPr/>
          <p:nvPr/>
        </p:nvSpPr>
        <p:spPr>
          <a:xfrm>
            <a:off x="7498080" y="5010912"/>
            <a:ext cx="3749040" cy="228600"/>
          </a:xfrm>
          <a:prstGeom prst="rect">
            <a:avLst/>
          </a:prstGeom>
          <a:noFill/>
          <a:ln/>
        </p:spPr>
        <p:txBody>
          <a:bodyPr wrap="square" lIns="0" tIns="0" rIns="0" bIns="0" rtlCol="0" anchor="ctr"/>
          <a:lstStyle/>
          <a:p>
            <a:pPr indent="0" marL="0">
              <a:buNone/>
            </a:pPr>
            <a:r>
              <a:rPr lang="en-US" sz="850" b="1" spc="140" kern="0" dirty="0">
                <a:solidFill>
                  <a:srgbClr val="39D98A"/>
                </a:solidFill>
                <a:latin typeface="Calibri" pitchFamily="34" charset="0"/>
                <a:ea typeface="Calibri" pitchFamily="34" charset="-122"/>
                <a:cs typeface="Calibri" pitchFamily="34" charset="-120"/>
              </a:rPr>
              <a:t>QUÉ SE HACE</a:t>
            </a:r>
            <a:endParaRPr lang="en-US" sz="850" dirty="0"/>
          </a:p>
        </p:txBody>
      </p:sp>
      <p:sp>
        <p:nvSpPr>
          <p:cNvPr id="27" name="Text 25"/>
          <p:cNvSpPr/>
          <p:nvPr/>
        </p:nvSpPr>
        <p:spPr>
          <a:xfrm>
            <a:off x="7498080" y="5276088"/>
            <a:ext cx="3749040" cy="822960"/>
          </a:xfrm>
          <a:prstGeom prst="rect">
            <a:avLst/>
          </a:prstGeom>
          <a:noFill/>
          <a:ln/>
        </p:spPr>
        <p:txBody>
          <a:bodyPr wrap="square" lIns="0" tIns="0" rIns="0" bIns="0" rtlCol="0" anchor="t"/>
          <a:lstStyle/>
          <a:p>
            <a:pPr indent="0" marL="0">
              <a:buNone/>
            </a:pPr>
            <a:r>
              <a:rPr lang="en-US" sz="1050" dirty="0">
                <a:solidFill>
                  <a:srgbClr val="ECEBE6"/>
                </a:solidFill>
                <a:latin typeface="Calibri" pitchFamily="34" charset="0"/>
                <a:ea typeface="Calibri" pitchFamily="34" charset="-122"/>
                <a:cs typeface="Calibri" pitchFamily="34" charset="-120"/>
              </a:rPr>
              <a:t>Cotizar plazos al triple y comunicar la Fase Watch como el entregable, no la autonomía.</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Calendario y puertas de decisión</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Tres puntos donde se puede parar sin haber perdido lo invertido</a:t>
            </a:r>
            <a:endParaRPr lang="en-US" sz="1350" dirty="0"/>
          </a:p>
        </p:txBody>
      </p:sp>
      <p:sp>
        <p:nvSpPr>
          <p:cNvPr id="4" name="Shape 2"/>
          <p:cNvSpPr/>
          <p:nvPr/>
        </p:nvSpPr>
        <p:spPr>
          <a:xfrm>
            <a:off x="594360" y="1837944"/>
            <a:ext cx="54864" cy="566928"/>
          </a:xfrm>
          <a:prstGeom prst="rect">
            <a:avLst/>
          </a:prstGeom>
          <a:solidFill>
            <a:srgbClr val="FF5A52"/>
          </a:solidFill>
          <a:ln/>
        </p:spPr>
      </p:sp>
      <p:sp>
        <p:nvSpPr>
          <p:cNvPr id="5" name="Text 3"/>
          <p:cNvSpPr/>
          <p:nvPr/>
        </p:nvSpPr>
        <p:spPr>
          <a:xfrm>
            <a:off x="804672" y="1819656"/>
            <a:ext cx="1051560" cy="310896"/>
          </a:xfrm>
          <a:prstGeom prst="rect">
            <a:avLst/>
          </a:prstGeom>
          <a:noFill/>
          <a:ln/>
        </p:spPr>
        <p:txBody>
          <a:bodyPr wrap="square" lIns="0" tIns="0" rIns="0" bIns="0" rtlCol="0" anchor="ctr"/>
          <a:lstStyle/>
          <a:p>
            <a:pPr indent="0" marL="0">
              <a:buNone/>
            </a:pPr>
            <a:r>
              <a:rPr lang="en-US" sz="1200" b="1" dirty="0">
                <a:solidFill>
                  <a:srgbClr val="FF5A52"/>
                </a:solidFill>
                <a:latin typeface="Calibri" pitchFamily="34" charset="0"/>
                <a:ea typeface="Calibri" pitchFamily="34" charset="-122"/>
                <a:cs typeface="Calibri" pitchFamily="34" charset="-120"/>
              </a:rPr>
              <a:t>Mes 0</a:t>
            </a:r>
            <a:endParaRPr lang="en-US" sz="1200" dirty="0"/>
          </a:p>
        </p:txBody>
      </p:sp>
      <p:sp>
        <p:nvSpPr>
          <p:cNvPr id="6" name="Text 4"/>
          <p:cNvSpPr/>
          <p:nvPr/>
        </p:nvSpPr>
        <p:spPr>
          <a:xfrm>
            <a:off x="1920240" y="1819656"/>
            <a:ext cx="2743200" cy="310896"/>
          </a:xfrm>
          <a:prstGeom prst="rect">
            <a:avLst/>
          </a:prstGeom>
          <a:noFill/>
          <a:ln/>
        </p:spPr>
        <p:txBody>
          <a:bodyPr wrap="square" lIns="0" tIns="0" rIns="0" bIns="0" rtlCol="0" anchor="ctr"/>
          <a:lstStyle/>
          <a:p>
            <a:pPr indent="0" marL="0">
              <a:buNone/>
            </a:pPr>
            <a:r>
              <a:rPr lang="en-US" sz="1250" b="1" dirty="0">
                <a:solidFill>
                  <a:srgbClr val="1A1D23"/>
                </a:solidFill>
                <a:latin typeface="Calibri" pitchFamily="34" charset="0"/>
                <a:ea typeface="Calibri" pitchFamily="34" charset="-122"/>
                <a:cs typeface="Calibri" pitchFamily="34" charset="-120"/>
              </a:rPr>
              <a:t>Validación en taller</a:t>
            </a:r>
            <a:endParaRPr lang="en-US" sz="1250" dirty="0"/>
          </a:p>
        </p:txBody>
      </p:sp>
      <p:sp>
        <p:nvSpPr>
          <p:cNvPr id="7" name="Text 5"/>
          <p:cNvSpPr/>
          <p:nvPr/>
        </p:nvSpPr>
        <p:spPr>
          <a:xfrm>
            <a:off x="4754880" y="1837944"/>
            <a:ext cx="3657600" cy="54864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Se prueba el bus CAN en un Baoli. Sin costo.</a:t>
            </a:r>
            <a:endParaRPr lang="en-US" sz="1000" dirty="0"/>
          </a:p>
        </p:txBody>
      </p:sp>
      <p:sp>
        <p:nvSpPr>
          <p:cNvPr id="8" name="Text 6"/>
          <p:cNvSpPr/>
          <p:nvPr/>
        </p:nvSpPr>
        <p:spPr>
          <a:xfrm>
            <a:off x="8549640" y="1837944"/>
            <a:ext cx="3017520" cy="548640"/>
          </a:xfrm>
          <a:prstGeom prst="rect">
            <a:avLst/>
          </a:prstGeom>
          <a:noFill/>
          <a:ln/>
        </p:spPr>
        <p:txBody>
          <a:bodyPr wrap="square" lIns="0" tIns="0" rIns="0" bIns="0" rtlCol="0" anchor="t"/>
          <a:lstStyle/>
          <a:p>
            <a:pPr indent="0" marL="0">
              <a:buNone/>
            </a:pPr>
            <a:r>
              <a:rPr lang="en-US" sz="950" b="1" dirty="0">
                <a:solidFill>
                  <a:srgbClr val="FF5A52"/>
                </a:solidFill>
                <a:latin typeface="Calibri" pitchFamily="34" charset="0"/>
                <a:ea typeface="Calibri" pitchFamily="34" charset="-122"/>
                <a:cs typeface="Calibri" pitchFamily="34" charset="-120"/>
              </a:rPr>
              <a:t>PUERTA 1 · si no hay bus, se recotiza antes de comprar</a:t>
            </a:r>
            <a:endParaRPr lang="en-US" sz="950" dirty="0"/>
          </a:p>
        </p:txBody>
      </p:sp>
      <p:sp>
        <p:nvSpPr>
          <p:cNvPr id="9" name="Shape 7"/>
          <p:cNvSpPr/>
          <p:nvPr/>
        </p:nvSpPr>
        <p:spPr>
          <a:xfrm>
            <a:off x="594360" y="2624328"/>
            <a:ext cx="54864" cy="566928"/>
          </a:xfrm>
          <a:prstGeom prst="rect">
            <a:avLst/>
          </a:prstGeom>
          <a:solidFill>
            <a:srgbClr val="37C3FF"/>
          </a:solidFill>
          <a:ln/>
        </p:spPr>
      </p:sp>
      <p:sp>
        <p:nvSpPr>
          <p:cNvPr id="10" name="Text 8"/>
          <p:cNvSpPr/>
          <p:nvPr/>
        </p:nvSpPr>
        <p:spPr>
          <a:xfrm>
            <a:off x="804672" y="2606040"/>
            <a:ext cx="1051560" cy="310896"/>
          </a:xfrm>
          <a:prstGeom prst="rect">
            <a:avLst/>
          </a:prstGeom>
          <a:noFill/>
          <a:ln/>
        </p:spPr>
        <p:txBody>
          <a:bodyPr wrap="square" lIns="0" tIns="0" rIns="0" bIns="0" rtlCol="0" anchor="ctr"/>
          <a:lstStyle/>
          <a:p>
            <a:pPr indent="0" marL="0">
              <a:buNone/>
            </a:pPr>
            <a:r>
              <a:rPr lang="en-US" sz="1200" b="1" dirty="0">
                <a:solidFill>
                  <a:srgbClr val="37C3FF"/>
                </a:solidFill>
                <a:latin typeface="Calibri" pitchFamily="34" charset="0"/>
                <a:ea typeface="Calibri" pitchFamily="34" charset="-122"/>
                <a:cs typeface="Calibri" pitchFamily="34" charset="-120"/>
              </a:rPr>
              <a:t>Mes 1–3</a:t>
            </a:r>
            <a:endParaRPr lang="en-US" sz="1200" dirty="0"/>
          </a:p>
        </p:txBody>
      </p:sp>
      <p:sp>
        <p:nvSpPr>
          <p:cNvPr id="11" name="Text 9"/>
          <p:cNvSpPr/>
          <p:nvPr/>
        </p:nvSpPr>
        <p:spPr>
          <a:xfrm>
            <a:off x="1920240" y="2606040"/>
            <a:ext cx="2743200" cy="310896"/>
          </a:xfrm>
          <a:prstGeom prst="rect">
            <a:avLst/>
          </a:prstGeom>
          <a:noFill/>
          <a:ln/>
        </p:spPr>
        <p:txBody>
          <a:bodyPr wrap="square" lIns="0" tIns="0" rIns="0" bIns="0" rtlCol="0" anchor="ctr"/>
          <a:lstStyle/>
          <a:p>
            <a:pPr indent="0" marL="0">
              <a:buNone/>
            </a:pPr>
            <a:r>
              <a:rPr lang="en-US" sz="1250" b="1" dirty="0">
                <a:solidFill>
                  <a:srgbClr val="1A1D23"/>
                </a:solidFill>
                <a:latin typeface="Calibri" pitchFamily="34" charset="0"/>
                <a:ea typeface="Calibri" pitchFamily="34" charset="-122"/>
                <a:cs typeface="Calibri" pitchFamily="34" charset="-120"/>
              </a:rPr>
              <a:t>Fase 0 · Validación</a:t>
            </a:r>
            <a:endParaRPr lang="en-US" sz="1250" dirty="0"/>
          </a:p>
        </p:txBody>
      </p:sp>
      <p:sp>
        <p:nvSpPr>
          <p:cNvPr id="12" name="Text 10"/>
          <p:cNvSpPr/>
          <p:nvPr/>
        </p:nvSpPr>
        <p:spPr>
          <a:xfrm>
            <a:off x="4754880" y="2624328"/>
            <a:ext cx="3657600" cy="54864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Se compra el hardware y se monta el primer kit sobre un demo.</a:t>
            </a:r>
            <a:endParaRPr lang="en-US" sz="1000" dirty="0"/>
          </a:p>
        </p:txBody>
      </p:sp>
      <p:sp>
        <p:nvSpPr>
          <p:cNvPr id="13" name="Shape 11"/>
          <p:cNvSpPr/>
          <p:nvPr/>
        </p:nvSpPr>
        <p:spPr>
          <a:xfrm>
            <a:off x="594360" y="3410712"/>
            <a:ext cx="54864" cy="566928"/>
          </a:xfrm>
          <a:prstGeom prst="rect">
            <a:avLst/>
          </a:prstGeom>
          <a:solidFill>
            <a:srgbClr val="FF5A52"/>
          </a:solidFill>
          <a:ln/>
        </p:spPr>
      </p:sp>
      <p:sp>
        <p:nvSpPr>
          <p:cNvPr id="14" name="Text 12"/>
          <p:cNvSpPr/>
          <p:nvPr/>
        </p:nvSpPr>
        <p:spPr>
          <a:xfrm>
            <a:off x="804672" y="3392424"/>
            <a:ext cx="1051560" cy="310896"/>
          </a:xfrm>
          <a:prstGeom prst="rect">
            <a:avLst/>
          </a:prstGeom>
          <a:noFill/>
          <a:ln/>
        </p:spPr>
        <p:txBody>
          <a:bodyPr wrap="square" lIns="0" tIns="0" rIns="0" bIns="0" rtlCol="0" anchor="ctr"/>
          <a:lstStyle/>
          <a:p>
            <a:pPr indent="0" marL="0">
              <a:buNone/>
            </a:pPr>
            <a:r>
              <a:rPr lang="en-US" sz="1200" b="1" dirty="0">
                <a:solidFill>
                  <a:srgbClr val="FF5A52"/>
                </a:solidFill>
                <a:latin typeface="Calibri" pitchFamily="34" charset="0"/>
                <a:ea typeface="Calibri" pitchFamily="34" charset="-122"/>
                <a:cs typeface="Calibri" pitchFamily="34" charset="-120"/>
              </a:rPr>
              <a:t>Mes 3</a:t>
            </a:r>
            <a:endParaRPr lang="en-US" sz="1200" dirty="0"/>
          </a:p>
        </p:txBody>
      </p:sp>
      <p:sp>
        <p:nvSpPr>
          <p:cNvPr id="15" name="Text 13"/>
          <p:cNvSpPr/>
          <p:nvPr/>
        </p:nvSpPr>
        <p:spPr>
          <a:xfrm>
            <a:off x="1920240" y="3392424"/>
            <a:ext cx="2743200" cy="310896"/>
          </a:xfrm>
          <a:prstGeom prst="rect">
            <a:avLst/>
          </a:prstGeom>
          <a:noFill/>
          <a:ln/>
        </p:spPr>
        <p:txBody>
          <a:bodyPr wrap="square" lIns="0" tIns="0" rIns="0" bIns="0" rtlCol="0" anchor="ctr"/>
          <a:lstStyle/>
          <a:p>
            <a:pPr indent="0" marL="0">
              <a:buNone/>
            </a:pPr>
            <a:r>
              <a:rPr lang="en-US" sz="1250" b="1" dirty="0">
                <a:solidFill>
                  <a:srgbClr val="1A1D23"/>
                </a:solidFill>
                <a:latin typeface="Calibri" pitchFamily="34" charset="0"/>
                <a:ea typeface="Calibri" pitchFamily="34" charset="-122"/>
                <a:cs typeface="Calibri" pitchFamily="34" charset="-120"/>
              </a:rPr>
              <a:t>Prueba de aceptación</a:t>
            </a:r>
            <a:endParaRPr lang="en-US" sz="1250" dirty="0"/>
          </a:p>
        </p:txBody>
      </p:sp>
      <p:sp>
        <p:nvSpPr>
          <p:cNvPr id="16" name="Text 14"/>
          <p:cNvSpPr/>
          <p:nvPr/>
        </p:nvSpPr>
        <p:spPr>
          <a:xfrm>
            <a:off x="4754880" y="3410712"/>
            <a:ext cx="3657600" cy="54864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El kit debe ubicarse en el pasillo y leer una ubicación de rack a 6 m.</a:t>
            </a:r>
            <a:endParaRPr lang="en-US" sz="1000" dirty="0"/>
          </a:p>
        </p:txBody>
      </p:sp>
      <p:sp>
        <p:nvSpPr>
          <p:cNvPr id="17" name="Text 15"/>
          <p:cNvSpPr/>
          <p:nvPr/>
        </p:nvSpPr>
        <p:spPr>
          <a:xfrm>
            <a:off x="8549640" y="3410712"/>
            <a:ext cx="3017520" cy="548640"/>
          </a:xfrm>
          <a:prstGeom prst="rect">
            <a:avLst/>
          </a:prstGeom>
          <a:noFill/>
          <a:ln/>
        </p:spPr>
        <p:txBody>
          <a:bodyPr wrap="square" lIns="0" tIns="0" rIns="0" bIns="0" rtlCol="0" anchor="t"/>
          <a:lstStyle/>
          <a:p>
            <a:pPr indent="0" marL="0">
              <a:buNone/>
            </a:pPr>
            <a:r>
              <a:rPr lang="en-US" sz="950" b="1" dirty="0">
                <a:solidFill>
                  <a:srgbClr val="FF5A52"/>
                </a:solidFill>
                <a:latin typeface="Calibri" pitchFamily="34" charset="0"/>
                <a:ea typeface="Calibri" pitchFamily="34" charset="-122"/>
                <a:cs typeface="Calibri" pitchFamily="34" charset="-120"/>
              </a:rPr>
              <a:t>PUERTA 2 · si no lo logra, se para aquí</a:t>
            </a:r>
            <a:endParaRPr lang="en-US" sz="950" dirty="0"/>
          </a:p>
        </p:txBody>
      </p:sp>
      <p:sp>
        <p:nvSpPr>
          <p:cNvPr id="18" name="Shape 16"/>
          <p:cNvSpPr/>
          <p:nvPr/>
        </p:nvSpPr>
        <p:spPr>
          <a:xfrm>
            <a:off x="594360" y="4197096"/>
            <a:ext cx="54864" cy="566928"/>
          </a:xfrm>
          <a:prstGeom prst="rect">
            <a:avLst/>
          </a:prstGeom>
          <a:solidFill>
            <a:srgbClr val="F5C518"/>
          </a:solidFill>
          <a:ln/>
        </p:spPr>
      </p:sp>
      <p:sp>
        <p:nvSpPr>
          <p:cNvPr id="19" name="Text 17"/>
          <p:cNvSpPr/>
          <p:nvPr/>
        </p:nvSpPr>
        <p:spPr>
          <a:xfrm>
            <a:off x="804672" y="4178808"/>
            <a:ext cx="1051560" cy="310896"/>
          </a:xfrm>
          <a:prstGeom prst="rect">
            <a:avLst/>
          </a:prstGeom>
          <a:noFill/>
          <a:ln/>
        </p:spPr>
        <p:txBody>
          <a:bodyPr wrap="square" lIns="0" tIns="0" rIns="0" bIns="0" rtlCol="0" anchor="ctr"/>
          <a:lstStyle/>
          <a:p>
            <a:pPr indent="0" marL="0">
              <a:buNone/>
            </a:pPr>
            <a:r>
              <a:rPr lang="en-US" sz="1200" b="1" dirty="0">
                <a:solidFill>
                  <a:srgbClr val="F5C518"/>
                </a:solidFill>
                <a:latin typeface="Calibri" pitchFamily="34" charset="0"/>
                <a:ea typeface="Calibri" pitchFamily="34" charset="-122"/>
                <a:cs typeface="Calibri" pitchFamily="34" charset="-120"/>
              </a:rPr>
              <a:t>Mes 4–6</a:t>
            </a:r>
            <a:endParaRPr lang="en-US" sz="1200" dirty="0"/>
          </a:p>
        </p:txBody>
      </p:sp>
      <p:sp>
        <p:nvSpPr>
          <p:cNvPr id="20" name="Text 18"/>
          <p:cNvSpPr/>
          <p:nvPr/>
        </p:nvSpPr>
        <p:spPr>
          <a:xfrm>
            <a:off x="1920240" y="4178808"/>
            <a:ext cx="2743200" cy="310896"/>
          </a:xfrm>
          <a:prstGeom prst="rect">
            <a:avLst/>
          </a:prstGeom>
          <a:noFill/>
          <a:ln/>
        </p:spPr>
        <p:txBody>
          <a:bodyPr wrap="square" lIns="0" tIns="0" rIns="0" bIns="0" rtlCol="0" anchor="ctr"/>
          <a:lstStyle/>
          <a:p>
            <a:pPr indent="0" marL="0">
              <a:buNone/>
            </a:pPr>
            <a:r>
              <a:rPr lang="en-US" sz="1250" b="1" dirty="0">
                <a:solidFill>
                  <a:srgbClr val="1A1D23"/>
                </a:solidFill>
                <a:latin typeface="Calibri" pitchFamily="34" charset="0"/>
                <a:ea typeface="Calibri" pitchFamily="34" charset="-122"/>
                <a:cs typeface="Calibri" pitchFamily="34" charset="-120"/>
              </a:rPr>
              <a:t>Fase 1 · Producto</a:t>
            </a:r>
            <a:endParaRPr lang="en-US" sz="1250" dirty="0"/>
          </a:p>
        </p:txBody>
      </p:sp>
      <p:sp>
        <p:nvSpPr>
          <p:cNvPr id="21" name="Text 19"/>
          <p:cNvSpPr/>
          <p:nvPr/>
        </p:nvSpPr>
        <p:spPr>
          <a:xfrm>
            <a:off x="4754880" y="4197096"/>
            <a:ext cx="3657600" cy="54864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Con la prueba pasada, se pide el resto y se arma el kit vendible.</a:t>
            </a:r>
            <a:endParaRPr lang="en-US" sz="1000" dirty="0"/>
          </a:p>
        </p:txBody>
      </p:sp>
      <p:sp>
        <p:nvSpPr>
          <p:cNvPr id="22" name="Text 20"/>
          <p:cNvSpPr/>
          <p:nvPr/>
        </p:nvSpPr>
        <p:spPr>
          <a:xfrm>
            <a:off x="8549640" y="4197096"/>
            <a:ext cx="3017520" cy="548640"/>
          </a:xfrm>
          <a:prstGeom prst="rect">
            <a:avLst/>
          </a:prstGeom>
          <a:noFill/>
          <a:ln/>
        </p:spPr>
        <p:txBody>
          <a:bodyPr wrap="square" lIns="0" tIns="0" rIns="0" bIns="0" rtlCol="0" anchor="t"/>
          <a:lstStyle/>
          <a:p>
            <a:pPr indent="0" marL="0">
              <a:buNone/>
            </a:pPr>
            <a:r>
              <a:rPr lang="en-US" sz="950" b="1" dirty="0">
                <a:solidFill>
                  <a:srgbClr val="F5C518"/>
                </a:solidFill>
                <a:latin typeface="Calibri" pitchFamily="34" charset="0"/>
                <a:ea typeface="Calibri" pitchFamily="34" charset="-122"/>
                <a:cs typeface="Calibri" pitchFamily="34" charset="-120"/>
              </a:rPr>
              <a:t>PUERTA 3 · sólo si la Puerta 2 salió limpia</a:t>
            </a:r>
            <a:endParaRPr lang="en-US" sz="950" dirty="0"/>
          </a:p>
        </p:txBody>
      </p:sp>
      <p:sp>
        <p:nvSpPr>
          <p:cNvPr id="23" name="Shape 21"/>
          <p:cNvSpPr/>
          <p:nvPr/>
        </p:nvSpPr>
        <p:spPr>
          <a:xfrm>
            <a:off x="594360" y="4983480"/>
            <a:ext cx="54864" cy="566928"/>
          </a:xfrm>
          <a:prstGeom prst="rect">
            <a:avLst/>
          </a:prstGeom>
          <a:solidFill>
            <a:srgbClr val="F5C518"/>
          </a:solidFill>
          <a:ln/>
        </p:spPr>
      </p:sp>
      <p:sp>
        <p:nvSpPr>
          <p:cNvPr id="24" name="Text 22"/>
          <p:cNvSpPr/>
          <p:nvPr/>
        </p:nvSpPr>
        <p:spPr>
          <a:xfrm>
            <a:off x="804672" y="4965192"/>
            <a:ext cx="1051560" cy="310896"/>
          </a:xfrm>
          <a:prstGeom prst="rect">
            <a:avLst/>
          </a:prstGeom>
          <a:noFill/>
          <a:ln/>
        </p:spPr>
        <p:txBody>
          <a:bodyPr wrap="square" lIns="0" tIns="0" rIns="0" bIns="0" rtlCol="0" anchor="ctr"/>
          <a:lstStyle/>
          <a:p>
            <a:pPr indent="0" marL="0">
              <a:buNone/>
            </a:pPr>
            <a:r>
              <a:rPr lang="en-US" sz="1200" b="1" dirty="0">
                <a:solidFill>
                  <a:srgbClr val="F5C518"/>
                </a:solidFill>
                <a:latin typeface="Calibri" pitchFamily="34" charset="0"/>
                <a:ea typeface="Calibri" pitchFamily="34" charset="-122"/>
                <a:cs typeface="Calibri" pitchFamily="34" charset="-120"/>
              </a:rPr>
              <a:t>Mes 6–8</a:t>
            </a:r>
            <a:endParaRPr lang="en-US" sz="1200" dirty="0"/>
          </a:p>
        </p:txBody>
      </p:sp>
      <p:sp>
        <p:nvSpPr>
          <p:cNvPr id="25" name="Text 23"/>
          <p:cNvSpPr/>
          <p:nvPr/>
        </p:nvSpPr>
        <p:spPr>
          <a:xfrm>
            <a:off x="1920240" y="4965192"/>
            <a:ext cx="2743200" cy="310896"/>
          </a:xfrm>
          <a:prstGeom prst="rect">
            <a:avLst/>
          </a:prstGeom>
          <a:noFill/>
          <a:ln/>
        </p:spPr>
        <p:txBody>
          <a:bodyPr wrap="square" lIns="0" tIns="0" rIns="0" bIns="0" rtlCol="0" anchor="ctr"/>
          <a:lstStyle/>
          <a:p>
            <a:pPr indent="0" marL="0">
              <a:buNone/>
            </a:pPr>
            <a:r>
              <a:rPr lang="en-US" sz="1250" b="1" dirty="0">
                <a:solidFill>
                  <a:srgbClr val="1A1D23"/>
                </a:solidFill>
                <a:latin typeface="Calibri" pitchFamily="34" charset="0"/>
                <a:ea typeface="Calibri" pitchFamily="34" charset="-122"/>
                <a:cs typeface="Calibri" pitchFamily="34" charset="-120"/>
              </a:rPr>
              <a:t>Piloto en el cliente</a:t>
            </a:r>
            <a:endParaRPr lang="en-US" sz="1250" dirty="0"/>
          </a:p>
        </p:txBody>
      </p:sp>
      <p:sp>
        <p:nvSpPr>
          <p:cNvPr id="26" name="Text 24"/>
          <p:cNvSpPr/>
          <p:nvPr/>
        </p:nvSpPr>
        <p:spPr>
          <a:xfrm>
            <a:off x="4754880" y="4983480"/>
            <a:ext cx="3657600" cy="54864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Instalación de 3 unidades más la infraestructura del sitio.</a:t>
            </a:r>
            <a:endParaRPr lang="en-US" sz="1000" dirty="0"/>
          </a:p>
        </p:txBody>
      </p:sp>
      <p:sp>
        <p:nvSpPr>
          <p:cNvPr id="27" name="Shape 25"/>
          <p:cNvSpPr/>
          <p:nvPr/>
        </p:nvSpPr>
        <p:spPr>
          <a:xfrm>
            <a:off x="594360" y="5769864"/>
            <a:ext cx="54864" cy="566928"/>
          </a:xfrm>
          <a:prstGeom prst="rect">
            <a:avLst/>
          </a:prstGeom>
          <a:solidFill>
            <a:srgbClr val="39D98A"/>
          </a:solidFill>
          <a:ln/>
        </p:spPr>
      </p:sp>
      <p:sp>
        <p:nvSpPr>
          <p:cNvPr id="28" name="Text 26"/>
          <p:cNvSpPr/>
          <p:nvPr/>
        </p:nvSpPr>
        <p:spPr>
          <a:xfrm>
            <a:off x="804672" y="5751576"/>
            <a:ext cx="1051560" cy="310896"/>
          </a:xfrm>
          <a:prstGeom prst="rect">
            <a:avLst/>
          </a:prstGeom>
          <a:noFill/>
          <a:ln/>
        </p:spPr>
        <p:txBody>
          <a:bodyPr wrap="square" lIns="0" tIns="0" rIns="0" bIns="0" rtlCol="0" anchor="ctr"/>
          <a:lstStyle/>
          <a:p>
            <a:pPr indent="0" marL="0">
              <a:buNone/>
            </a:pPr>
            <a:r>
              <a:rPr lang="en-US" sz="1200" b="1" dirty="0">
                <a:solidFill>
                  <a:srgbClr val="39D98A"/>
                </a:solidFill>
                <a:latin typeface="Calibri" pitchFamily="34" charset="0"/>
                <a:ea typeface="Calibri" pitchFamily="34" charset="-122"/>
                <a:cs typeface="Calibri" pitchFamily="34" charset="-120"/>
              </a:rPr>
              <a:t>Mes 8–12</a:t>
            </a:r>
            <a:endParaRPr lang="en-US" sz="1200" dirty="0"/>
          </a:p>
        </p:txBody>
      </p:sp>
      <p:sp>
        <p:nvSpPr>
          <p:cNvPr id="29" name="Text 27"/>
          <p:cNvSpPr/>
          <p:nvPr/>
        </p:nvSpPr>
        <p:spPr>
          <a:xfrm>
            <a:off x="1920240" y="5751576"/>
            <a:ext cx="2743200" cy="310896"/>
          </a:xfrm>
          <a:prstGeom prst="rect">
            <a:avLst/>
          </a:prstGeom>
          <a:noFill/>
          <a:ln/>
        </p:spPr>
        <p:txBody>
          <a:bodyPr wrap="square" lIns="0" tIns="0" rIns="0" bIns="0" rtlCol="0" anchor="ctr"/>
          <a:lstStyle/>
          <a:p>
            <a:pPr indent="0" marL="0">
              <a:buNone/>
            </a:pPr>
            <a:r>
              <a:rPr lang="en-US" sz="1250" b="1" dirty="0">
                <a:solidFill>
                  <a:srgbClr val="1A1D23"/>
                </a:solidFill>
                <a:latin typeface="Calibri" pitchFamily="34" charset="0"/>
                <a:ea typeface="Calibri" pitchFamily="34" charset="-122"/>
                <a:cs typeface="Calibri" pitchFamily="34" charset="-120"/>
              </a:rPr>
              <a:t>Fase Watch en operación</a:t>
            </a:r>
            <a:endParaRPr lang="en-US" sz="1250" dirty="0"/>
          </a:p>
        </p:txBody>
      </p:sp>
      <p:sp>
        <p:nvSpPr>
          <p:cNvPr id="30" name="Text 28"/>
          <p:cNvSpPr/>
          <p:nvPr/>
        </p:nvSpPr>
        <p:spPr>
          <a:xfrm>
            <a:off x="4754880" y="5769864"/>
            <a:ext cx="3657600" cy="54864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Datos reales de ciclos, conflictos y exactitud de inventario.</a:t>
            </a:r>
            <a:endParaRPr lang="en-US" sz="1000" dirty="0"/>
          </a:p>
        </p:txBody>
      </p:sp>
      <p:sp>
        <p:nvSpPr>
          <p:cNvPr id="31" name="Text 29"/>
          <p:cNvSpPr/>
          <p:nvPr/>
        </p:nvSpPr>
        <p:spPr>
          <a:xfrm>
            <a:off x="594360" y="6446520"/>
            <a:ext cx="10972800" cy="320040"/>
          </a:xfrm>
          <a:prstGeom prst="rect">
            <a:avLst/>
          </a:prstGeom>
          <a:noFill/>
          <a:ln/>
        </p:spPr>
        <p:txBody>
          <a:bodyPr wrap="square" lIns="0" tIns="0" rIns="0" bIns="0" rtlCol="0" anchor="ctr"/>
          <a:lstStyle/>
          <a:p>
            <a:pPr indent="0" marL="0">
              <a:buNone/>
            </a:pPr>
            <a:r>
              <a:rPr lang="en-US" sz="1200" b="1" dirty="0">
                <a:solidFill>
                  <a:srgbClr val="1A1D23"/>
                </a:solidFill>
                <a:latin typeface="Calibri" pitchFamily="34" charset="0"/>
                <a:ea typeface="Calibri" pitchFamily="34" charset="-122"/>
                <a:cs typeface="Calibri" pitchFamily="34" charset="-120"/>
              </a:rPr>
              <a:t>El desembolso grande sólo ocurre después de la Puerta 2, que cuesta $3,000. Hasta ahí, lo arriesgado es tiempo.</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Lo que necesito de vos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Cuatro cosas, y sólo una involucra dinero</a:t>
            </a:r>
            <a:endParaRPr lang="en-US" sz="1350" dirty="0"/>
          </a:p>
        </p:txBody>
      </p:sp>
      <p:sp>
        <p:nvSpPr>
          <p:cNvPr id="4" name="Shape 2"/>
          <p:cNvSpPr/>
          <p:nvPr/>
        </p:nvSpPr>
        <p:spPr>
          <a:xfrm>
            <a:off x="594360" y="1874520"/>
            <a:ext cx="10972800" cy="868680"/>
          </a:xfrm>
          <a:prstGeom prst="roundRect">
            <a:avLst>
              <a:gd name="adj" fmla="val 9474"/>
            </a:avLst>
          </a:prstGeom>
          <a:solidFill>
            <a:srgbClr val="20242B"/>
          </a:solidFill>
          <a:ln/>
          <a:effectLst>
            <a:outerShdw sx="100000" sy="100000" kx="0" ky="0" algn="bl" rotWithShape="0" blurRad="152400" dist="38100" dir="5400000">
              <a:srgbClr val="000000">
                <a:alpha val="28000"/>
              </a:srgbClr>
            </a:outerShdw>
          </a:effectLst>
        </p:spPr>
      </p:sp>
      <p:sp>
        <p:nvSpPr>
          <p:cNvPr id="5" name="Shape 3"/>
          <p:cNvSpPr/>
          <p:nvPr/>
        </p:nvSpPr>
        <p:spPr>
          <a:xfrm>
            <a:off x="914400" y="2121408"/>
            <a:ext cx="384048" cy="384048"/>
          </a:xfrm>
          <a:prstGeom prst="ellipse">
            <a:avLst/>
          </a:prstGeom>
          <a:solidFill>
            <a:srgbClr val="37C3FF"/>
          </a:solidFill>
          <a:ln/>
        </p:spPr>
      </p:sp>
      <p:sp>
        <p:nvSpPr>
          <p:cNvPr id="6" name="Text 4"/>
          <p:cNvSpPr/>
          <p:nvPr/>
        </p:nvSpPr>
        <p:spPr>
          <a:xfrm>
            <a:off x="914400" y="2121408"/>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2020824"/>
            <a:ext cx="393192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$3,000 en materiales</a:t>
            </a:r>
            <a:endParaRPr lang="en-US" sz="1500" dirty="0"/>
          </a:p>
        </p:txBody>
      </p:sp>
      <p:sp>
        <p:nvSpPr>
          <p:cNvPr id="8" name="Text 6"/>
          <p:cNvSpPr/>
          <p:nvPr/>
        </p:nvSpPr>
        <p:spPr>
          <a:xfrm>
            <a:off x="5486400" y="2039112"/>
            <a:ext cx="5760720" cy="548640"/>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Fase 0 · Validación. El primer kit, con LiDAR 3D de verdad.</a:t>
            </a:r>
            <a:endParaRPr lang="en-US" sz="1100" dirty="0"/>
          </a:p>
        </p:txBody>
      </p:sp>
      <p:sp>
        <p:nvSpPr>
          <p:cNvPr id="9" name="Shape 7"/>
          <p:cNvSpPr/>
          <p:nvPr/>
        </p:nvSpPr>
        <p:spPr>
          <a:xfrm>
            <a:off x="594360" y="2898648"/>
            <a:ext cx="10972800" cy="868680"/>
          </a:xfrm>
          <a:prstGeom prst="roundRect">
            <a:avLst>
              <a:gd name="adj" fmla="val 9474"/>
            </a:avLst>
          </a:prstGeom>
          <a:solidFill>
            <a:srgbClr val="20242B"/>
          </a:solidFill>
          <a:ln/>
          <a:effectLst>
            <a:outerShdw sx="100000" sy="100000" kx="0" ky="0" algn="bl" rotWithShape="0" blurRad="152400" dist="38100" dir="5400000">
              <a:srgbClr val="000000">
                <a:alpha val="28000"/>
              </a:srgbClr>
            </a:outerShdw>
          </a:effectLst>
        </p:spPr>
      </p:sp>
      <p:sp>
        <p:nvSpPr>
          <p:cNvPr id="10" name="Shape 8"/>
          <p:cNvSpPr/>
          <p:nvPr/>
        </p:nvSpPr>
        <p:spPr>
          <a:xfrm>
            <a:off x="914400" y="3145536"/>
            <a:ext cx="384048" cy="384048"/>
          </a:xfrm>
          <a:prstGeom prst="ellipse">
            <a:avLst/>
          </a:prstGeom>
          <a:solidFill>
            <a:srgbClr val="F5C518"/>
          </a:solidFill>
          <a:ln/>
        </p:spPr>
      </p:sp>
      <p:sp>
        <p:nvSpPr>
          <p:cNvPr id="11" name="Text 9"/>
          <p:cNvSpPr/>
          <p:nvPr/>
        </p:nvSpPr>
        <p:spPr>
          <a:xfrm>
            <a:off x="914400" y="3145536"/>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81328" y="3044952"/>
            <a:ext cx="393192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Un montacargas de demo</a:t>
            </a:r>
            <a:endParaRPr lang="en-US" sz="1500" dirty="0"/>
          </a:p>
        </p:txBody>
      </p:sp>
      <p:sp>
        <p:nvSpPr>
          <p:cNvPr id="13" name="Text 11"/>
          <p:cNvSpPr/>
          <p:nvPr/>
        </p:nvSpPr>
        <p:spPr>
          <a:xfrm>
            <a:off x="5486400" y="3063240"/>
            <a:ext cx="5760720" cy="548640"/>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Prestado por unos 4 meses. Sin costo en efectivo, pero sale de rotación.</a:t>
            </a:r>
            <a:endParaRPr lang="en-US" sz="1100" dirty="0"/>
          </a:p>
        </p:txBody>
      </p:sp>
      <p:sp>
        <p:nvSpPr>
          <p:cNvPr id="14" name="Shape 12"/>
          <p:cNvSpPr/>
          <p:nvPr/>
        </p:nvSpPr>
        <p:spPr>
          <a:xfrm>
            <a:off x="594360" y="3922776"/>
            <a:ext cx="10972800" cy="868680"/>
          </a:xfrm>
          <a:prstGeom prst="roundRect">
            <a:avLst>
              <a:gd name="adj" fmla="val 9474"/>
            </a:avLst>
          </a:prstGeom>
          <a:solidFill>
            <a:srgbClr val="20242B"/>
          </a:solidFill>
          <a:ln/>
          <a:effectLst>
            <a:outerShdw sx="100000" sy="100000" kx="0" ky="0" algn="bl" rotWithShape="0" blurRad="152400" dist="38100" dir="5400000">
              <a:srgbClr val="000000">
                <a:alpha val="28000"/>
              </a:srgbClr>
            </a:outerShdw>
          </a:effectLst>
        </p:spPr>
      </p:sp>
      <p:sp>
        <p:nvSpPr>
          <p:cNvPr id="15" name="Shape 13"/>
          <p:cNvSpPr/>
          <p:nvPr/>
        </p:nvSpPr>
        <p:spPr>
          <a:xfrm>
            <a:off x="914400" y="4169664"/>
            <a:ext cx="384048" cy="384048"/>
          </a:xfrm>
          <a:prstGeom prst="ellipse">
            <a:avLst/>
          </a:prstGeom>
          <a:solidFill>
            <a:srgbClr val="39D98A"/>
          </a:solidFill>
          <a:ln/>
        </p:spPr>
      </p:sp>
      <p:sp>
        <p:nvSpPr>
          <p:cNvPr id="16" name="Text 14"/>
          <p:cNvSpPr/>
          <p:nvPr/>
        </p:nvSpPr>
        <p:spPr>
          <a:xfrm>
            <a:off x="914400" y="4169664"/>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81328" y="4069080"/>
            <a:ext cx="393192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Visto bueno estratégico</a:t>
            </a:r>
            <a:endParaRPr lang="en-US" sz="1500" dirty="0"/>
          </a:p>
        </p:txBody>
      </p:sp>
      <p:sp>
        <p:nvSpPr>
          <p:cNvPr id="18" name="Text 16"/>
          <p:cNvSpPr/>
          <p:nvPr/>
        </p:nvSpPr>
        <p:spPr>
          <a:xfrm>
            <a:off x="5486400" y="4087368"/>
            <a:ext cx="5760720" cy="548640"/>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Que TaTa siga como línea de producto de Montasa y no como proyecto suelto.</a:t>
            </a:r>
            <a:endParaRPr lang="en-US" sz="1100" dirty="0"/>
          </a:p>
        </p:txBody>
      </p:sp>
      <p:sp>
        <p:nvSpPr>
          <p:cNvPr id="19" name="Shape 17"/>
          <p:cNvSpPr/>
          <p:nvPr/>
        </p:nvSpPr>
        <p:spPr>
          <a:xfrm>
            <a:off x="594360" y="4946904"/>
            <a:ext cx="10972800" cy="868680"/>
          </a:xfrm>
          <a:prstGeom prst="roundRect">
            <a:avLst>
              <a:gd name="adj" fmla="val 9474"/>
            </a:avLst>
          </a:prstGeom>
          <a:solidFill>
            <a:srgbClr val="20242B"/>
          </a:solidFill>
          <a:ln/>
          <a:effectLst>
            <a:outerShdw sx="100000" sy="100000" kx="0" ky="0" algn="bl" rotWithShape="0" blurRad="152400" dist="38100" dir="5400000">
              <a:srgbClr val="000000">
                <a:alpha val="28000"/>
              </a:srgbClr>
            </a:outerShdw>
          </a:effectLst>
        </p:spPr>
      </p:sp>
      <p:sp>
        <p:nvSpPr>
          <p:cNvPr id="20" name="Shape 18"/>
          <p:cNvSpPr/>
          <p:nvPr/>
        </p:nvSpPr>
        <p:spPr>
          <a:xfrm>
            <a:off x="914400" y="5193792"/>
            <a:ext cx="384048" cy="384048"/>
          </a:xfrm>
          <a:prstGeom prst="ellipse">
            <a:avLst/>
          </a:prstGeom>
          <a:solidFill>
            <a:srgbClr val="F5C518"/>
          </a:solidFill>
          <a:ln/>
        </p:spPr>
      </p:sp>
      <p:sp>
        <p:nvSpPr>
          <p:cNvPr id="21" name="Text 19"/>
          <p:cNvSpPr/>
          <p:nvPr/>
        </p:nvSpPr>
        <p:spPr>
          <a:xfrm>
            <a:off x="914400" y="5193792"/>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81328" y="5093208"/>
            <a:ext cx="393192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Autorización de las puertas</a:t>
            </a:r>
            <a:endParaRPr lang="en-US" sz="1500" dirty="0"/>
          </a:p>
        </p:txBody>
      </p:sp>
      <p:sp>
        <p:nvSpPr>
          <p:cNvPr id="23" name="Text 21"/>
          <p:cNvSpPr/>
          <p:nvPr/>
        </p:nvSpPr>
        <p:spPr>
          <a:xfrm>
            <a:off x="5486400" y="5111496"/>
            <a:ext cx="5760720" cy="548640"/>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Que las tres decisiones de paro queden acordadas por escrito desde hoy.</a:t>
            </a:r>
            <a:endParaRPr lang="en-US" sz="1100" dirty="0"/>
          </a:p>
        </p:txBody>
      </p:sp>
      <p:sp>
        <p:nvSpPr>
          <p:cNvPr id="24" name="Shape 22"/>
          <p:cNvSpPr/>
          <p:nvPr/>
        </p:nvSpPr>
        <p:spPr>
          <a:xfrm>
            <a:off x="594360" y="6035040"/>
            <a:ext cx="10972800" cy="685800"/>
          </a:xfrm>
          <a:prstGeom prst="roundRect">
            <a:avLst>
              <a:gd name="adj" fmla="val 12000"/>
            </a:avLst>
          </a:prstGeom>
          <a:solidFill>
            <a:srgbClr val="20242B"/>
          </a:solidFill>
          <a:ln/>
          <a:effectLst>
            <a:outerShdw sx="100000" sy="100000" kx="0" ky="0" algn="bl" rotWithShape="0" blurRad="152400" dist="38100" dir="5400000">
              <a:srgbClr val="000000">
                <a:alpha val="28000"/>
              </a:srgbClr>
            </a:outerShdw>
          </a:effectLst>
        </p:spPr>
      </p:sp>
      <p:sp>
        <p:nvSpPr>
          <p:cNvPr id="25" name="Text 23"/>
          <p:cNvSpPr/>
          <p:nvPr/>
        </p:nvSpPr>
        <p:spPr>
          <a:xfrm>
            <a:off x="960120" y="6035040"/>
            <a:ext cx="10241280" cy="685800"/>
          </a:xfrm>
          <a:prstGeom prst="rect">
            <a:avLst/>
          </a:prstGeom>
          <a:noFill/>
          <a:ln/>
        </p:spPr>
        <p:txBody>
          <a:bodyPr wrap="square" lIns="0" tIns="0" rIns="0" bIns="0" rtlCol="0" anchor="ctr"/>
          <a:lstStyle/>
          <a:p>
            <a:pPr indent="0" marL="0">
              <a:buNone/>
            </a:pPr>
            <a:r>
              <a:rPr lang="en-US" sz="1300" b="1" dirty="0">
                <a:solidFill>
                  <a:srgbClr val="F5C518"/>
                </a:solidFill>
                <a:latin typeface="Calibri" pitchFamily="34" charset="0"/>
                <a:ea typeface="Calibri" pitchFamily="34" charset="-122"/>
                <a:cs typeface="Calibri" pitchFamily="34" charset="-120"/>
              </a:rPr>
              <a:t>Si el prototipo no pasa la Puerta 2, la pérdida máxima es $3,000. Eso es lo que cuesta saber si esto funciona.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Anexo · Supuestos y fuentes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Lo que hay que revalidar antes de convertir esto en un compromiso</a:t>
            </a:r>
            <a:endParaRPr lang="en-US" sz="1350" dirty="0"/>
          </a:p>
        </p:txBody>
      </p:sp>
      <p:sp>
        <p:nvSpPr>
          <p:cNvPr id="4" name="Shape 2"/>
          <p:cNvSpPr/>
          <p:nvPr/>
        </p:nvSpPr>
        <p:spPr>
          <a:xfrm>
            <a:off x="594360" y="1856232"/>
            <a:ext cx="45720" cy="502920"/>
          </a:xfrm>
          <a:prstGeom prst="rect">
            <a:avLst/>
          </a:prstGeom>
          <a:solidFill>
            <a:srgbClr val="8B949E"/>
          </a:solidFill>
          <a:ln/>
        </p:spPr>
      </p:sp>
      <p:sp>
        <p:nvSpPr>
          <p:cNvPr id="5" name="Text 3"/>
          <p:cNvSpPr/>
          <p:nvPr/>
        </p:nvSpPr>
        <p:spPr>
          <a:xfrm>
            <a:off x="841248" y="1801368"/>
            <a:ext cx="2651760" cy="310896"/>
          </a:xfrm>
          <a:prstGeom prst="rect">
            <a:avLst/>
          </a:prstGeom>
          <a:noFill/>
          <a:ln/>
        </p:spPr>
        <p:txBody>
          <a:bodyPr wrap="square" lIns="0" tIns="0" rIns="0" bIns="0" rtlCol="0" anchor="ctr"/>
          <a:lstStyle/>
          <a:p>
            <a:pPr indent="0" marL="0">
              <a:buNone/>
            </a:pPr>
            <a:r>
              <a:rPr lang="en-US" sz="1200" b="1" dirty="0">
                <a:solidFill>
                  <a:srgbClr val="1A1D23"/>
                </a:solidFill>
                <a:latin typeface="Calibri" pitchFamily="34" charset="0"/>
                <a:ea typeface="Calibri" pitchFamily="34" charset="-122"/>
                <a:cs typeface="Calibri" pitchFamily="34" charset="-120"/>
              </a:rPr>
              <a:t>Precios de hardware</a:t>
            </a:r>
            <a:endParaRPr lang="en-US" sz="1200" dirty="0"/>
          </a:p>
        </p:txBody>
      </p:sp>
      <p:sp>
        <p:nvSpPr>
          <p:cNvPr id="6" name="Text 4"/>
          <p:cNvSpPr/>
          <p:nvPr/>
        </p:nvSpPr>
        <p:spPr>
          <a:xfrm>
            <a:off x="3566160" y="1819656"/>
            <a:ext cx="7955280" cy="603504"/>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Precios de lista públicos consultados en agosto 2026, sin descuento por volumen. NVIDIA subió el módulo de cómputo 67% en julio 2026: es el renglón más volátil.</a:t>
            </a:r>
            <a:endParaRPr lang="en-US" sz="1050" dirty="0"/>
          </a:p>
        </p:txBody>
      </p:sp>
      <p:sp>
        <p:nvSpPr>
          <p:cNvPr id="7" name="Shape 5"/>
          <p:cNvSpPr/>
          <p:nvPr/>
        </p:nvSpPr>
        <p:spPr>
          <a:xfrm>
            <a:off x="594360" y="2615184"/>
            <a:ext cx="45720" cy="502920"/>
          </a:xfrm>
          <a:prstGeom prst="rect">
            <a:avLst/>
          </a:prstGeom>
          <a:solidFill>
            <a:srgbClr val="8B949E"/>
          </a:solidFill>
          <a:ln/>
        </p:spPr>
      </p:sp>
      <p:sp>
        <p:nvSpPr>
          <p:cNvPr id="8" name="Text 6"/>
          <p:cNvSpPr/>
          <p:nvPr/>
        </p:nvSpPr>
        <p:spPr>
          <a:xfrm>
            <a:off x="841248" y="2560320"/>
            <a:ext cx="2651760" cy="310896"/>
          </a:xfrm>
          <a:prstGeom prst="rect">
            <a:avLst/>
          </a:prstGeom>
          <a:noFill/>
          <a:ln/>
        </p:spPr>
        <p:txBody>
          <a:bodyPr wrap="square" lIns="0" tIns="0" rIns="0" bIns="0" rtlCol="0" anchor="ctr"/>
          <a:lstStyle/>
          <a:p>
            <a:pPr indent="0" marL="0">
              <a:buNone/>
            </a:pPr>
            <a:r>
              <a:rPr lang="en-US" sz="1200" b="1" dirty="0">
                <a:solidFill>
                  <a:srgbClr val="1A1D23"/>
                </a:solidFill>
                <a:latin typeface="Calibri" pitchFamily="34" charset="0"/>
                <a:ea typeface="Calibri" pitchFamily="34" charset="-122"/>
                <a:cs typeface="Calibri" pitchFamily="34" charset="-120"/>
              </a:rPr>
              <a:t>Flete e importación</a:t>
            </a:r>
            <a:endParaRPr lang="en-US" sz="1200" dirty="0"/>
          </a:p>
        </p:txBody>
      </p:sp>
      <p:sp>
        <p:nvSpPr>
          <p:cNvPr id="9" name="Text 7"/>
          <p:cNvSpPr/>
          <p:nvPr/>
        </p:nvSpPr>
        <p:spPr>
          <a:xfrm>
            <a:off x="3566160" y="2578608"/>
            <a:ext cx="7955280" cy="603504"/>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Estimado en 20% del valor del hardware. Debe confirmarse con el agente aduanal de Montasa.</a:t>
            </a:r>
            <a:endParaRPr lang="en-US" sz="1050" dirty="0"/>
          </a:p>
        </p:txBody>
      </p:sp>
      <p:sp>
        <p:nvSpPr>
          <p:cNvPr id="10" name="Shape 8"/>
          <p:cNvSpPr/>
          <p:nvPr/>
        </p:nvSpPr>
        <p:spPr>
          <a:xfrm>
            <a:off x="594360" y="3374136"/>
            <a:ext cx="45720" cy="502920"/>
          </a:xfrm>
          <a:prstGeom prst="rect">
            <a:avLst/>
          </a:prstGeom>
          <a:solidFill>
            <a:srgbClr val="8B949E"/>
          </a:solidFill>
          <a:ln/>
        </p:spPr>
      </p:sp>
      <p:sp>
        <p:nvSpPr>
          <p:cNvPr id="11" name="Text 9"/>
          <p:cNvSpPr/>
          <p:nvPr/>
        </p:nvSpPr>
        <p:spPr>
          <a:xfrm>
            <a:off x="841248" y="3319272"/>
            <a:ext cx="2651760" cy="310896"/>
          </a:xfrm>
          <a:prstGeom prst="rect">
            <a:avLst/>
          </a:prstGeom>
          <a:noFill/>
          <a:ln/>
        </p:spPr>
        <p:txBody>
          <a:bodyPr wrap="square" lIns="0" tIns="0" rIns="0" bIns="0" rtlCol="0" anchor="ctr"/>
          <a:lstStyle/>
          <a:p>
            <a:pPr indent="0" marL="0">
              <a:buNone/>
            </a:pPr>
            <a:r>
              <a:rPr lang="en-US" sz="1200" b="1" dirty="0">
                <a:solidFill>
                  <a:srgbClr val="1A1D23"/>
                </a:solidFill>
                <a:latin typeface="Calibri" pitchFamily="34" charset="0"/>
                <a:ea typeface="Calibri" pitchFamily="34" charset="-122"/>
                <a:cs typeface="Calibri" pitchFamily="34" charset="-120"/>
              </a:rPr>
              <a:t>Horas de ingeniería</a:t>
            </a:r>
            <a:endParaRPr lang="en-US" sz="1200" dirty="0"/>
          </a:p>
        </p:txBody>
      </p:sp>
      <p:sp>
        <p:nvSpPr>
          <p:cNvPr id="12" name="Text 10"/>
          <p:cNvSpPr/>
          <p:nvPr/>
        </p:nvSpPr>
        <p:spPr>
          <a:xfrm>
            <a:off x="3566160" y="3337560"/>
            <a:ext cx="7955280" cy="603504"/>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No están incluidas en ninguno de los tres montos. Son horas del equipo.</a:t>
            </a:r>
            <a:endParaRPr lang="en-US" sz="1050" dirty="0"/>
          </a:p>
        </p:txBody>
      </p:sp>
      <p:sp>
        <p:nvSpPr>
          <p:cNvPr id="13" name="Shape 11"/>
          <p:cNvSpPr/>
          <p:nvPr/>
        </p:nvSpPr>
        <p:spPr>
          <a:xfrm>
            <a:off x="594360" y="4133088"/>
            <a:ext cx="45720" cy="502920"/>
          </a:xfrm>
          <a:prstGeom prst="rect">
            <a:avLst/>
          </a:prstGeom>
          <a:solidFill>
            <a:srgbClr val="8B949E"/>
          </a:solidFill>
          <a:ln/>
        </p:spPr>
      </p:sp>
      <p:sp>
        <p:nvSpPr>
          <p:cNvPr id="14" name="Text 12"/>
          <p:cNvSpPr/>
          <p:nvPr/>
        </p:nvSpPr>
        <p:spPr>
          <a:xfrm>
            <a:off x="841248" y="4078224"/>
            <a:ext cx="2651760" cy="310896"/>
          </a:xfrm>
          <a:prstGeom prst="rect">
            <a:avLst/>
          </a:prstGeom>
          <a:noFill/>
          <a:ln/>
        </p:spPr>
        <p:txBody>
          <a:bodyPr wrap="square" lIns="0" tIns="0" rIns="0" bIns="0" rtlCol="0" anchor="ctr"/>
          <a:lstStyle/>
          <a:p>
            <a:pPr indent="0" marL="0">
              <a:buNone/>
            </a:pPr>
            <a:r>
              <a:rPr lang="en-US" sz="1200" b="1" dirty="0">
                <a:solidFill>
                  <a:srgbClr val="1A1D23"/>
                </a:solidFill>
                <a:latin typeface="Calibri" pitchFamily="34" charset="0"/>
                <a:ea typeface="Calibri" pitchFamily="34" charset="-122"/>
                <a:cs typeface="Calibri" pitchFamily="34" charset="-120"/>
              </a:rPr>
              <a:t>Precios de venta</a:t>
            </a:r>
            <a:endParaRPr lang="en-US" sz="1200" dirty="0"/>
          </a:p>
        </p:txBody>
      </p:sp>
      <p:sp>
        <p:nvSpPr>
          <p:cNvPr id="15" name="Text 13"/>
          <p:cNvSpPr/>
          <p:nvPr/>
        </p:nvSpPr>
        <p:spPr>
          <a:xfrm>
            <a:off x="3566160" y="4096512"/>
            <a:ext cx="7955280" cy="603504"/>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Los escenarios del piloto son ilustrativos. No se ha comunicado ningún precio al cliente.</a:t>
            </a:r>
            <a:endParaRPr lang="en-US" sz="1050" dirty="0"/>
          </a:p>
        </p:txBody>
      </p:sp>
      <p:sp>
        <p:nvSpPr>
          <p:cNvPr id="16" name="Shape 14"/>
          <p:cNvSpPr/>
          <p:nvPr/>
        </p:nvSpPr>
        <p:spPr>
          <a:xfrm>
            <a:off x="594360" y="4892040"/>
            <a:ext cx="45720" cy="502920"/>
          </a:xfrm>
          <a:prstGeom prst="rect">
            <a:avLst/>
          </a:prstGeom>
          <a:solidFill>
            <a:srgbClr val="8B949E"/>
          </a:solidFill>
          <a:ln/>
        </p:spPr>
      </p:sp>
      <p:sp>
        <p:nvSpPr>
          <p:cNvPr id="17" name="Text 15"/>
          <p:cNvSpPr/>
          <p:nvPr/>
        </p:nvSpPr>
        <p:spPr>
          <a:xfrm>
            <a:off x="841248" y="4837176"/>
            <a:ext cx="2651760" cy="310896"/>
          </a:xfrm>
          <a:prstGeom prst="rect">
            <a:avLst/>
          </a:prstGeom>
          <a:noFill/>
          <a:ln/>
        </p:spPr>
        <p:txBody>
          <a:bodyPr wrap="square" lIns="0" tIns="0" rIns="0" bIns="0" rtlCol="0" anchor="ctr"/>
          <a:lstStyle/>
          <a:p>
            <a:pPr indent="0" marL="0">
              <a:buNone/>
            </a:pPr>
            <a:r>
              <a:rPr lang="en-US" sz="1200" b="1" dirty="0">
                <a:solidFill>
                  <a:srgbClr val="1A1D23"/>
                </a:solidFill>
                <a:latin typeface="Calibri" pitchFamily="34" charset="0"/>
                <a:ea typeface="Calibri" pitchFamily="34" charset="-122"/>
                <a:cs typeface="Calibri" pitchFamily="34" charset="-120"/>
              </a:rPr>
              <a:t>Comparables de mercado</a:t>
            </a:r>
            <a:endParaRPr lang="en-US" sz="1200" dirty="0"/>
          </a:p>
        </p:txBody>
      </p:sp>
      <p:sp>
        <p:nvSpPr>
          <p:cNvPr id="18" name="Text 16"/>
          <p:cNvSpPr/>
          <p:nvPr/>
        </p:nvSpPr>
        <p:spPr>
          <a:xfrm>
            <a:off x="3566160" y="4855464"/>
            <a:ext cx="7955280" cy="603504"/>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Rangos de montacargas autónomos de fábrica y de mantenimiento anual tomados de publicaciones del sector, agosto 2026.</a:t>
            </a:r>
            <a:endParaRPr lang="en-US" sz="1050" dirty="0"/>
          </a:p>
        </p:txBody>
      </p:sp>
      <p:sp>
        <p:nvSpPr>
          <p:cNvPr id="19" name="Shape 17"/>
          <p:cNvSpPr/>
          <p:nvPr/>
        </p:nvSpPr>
        <p:spPr>
          <a:xfrm>
            <a:off x="594360" y="5650992"/>
            <a:ext cx="45720" cy="502920"/>
          </a:xfrm>
          <a:prstGeom prst="rect">
            <a:avLst/>
          </a:prstGeom>
          <a:solidFill>
            <a:srgbClr val="8B949E"/>
          </a:solidFill>
          <a:ln/>
        </p:spPr>
      </p:sp>
      <p:sp>
        <p:nvSpPr>
          <p:cNvPr id="20" name="Text 18"/>
          <p:cNvSpPr/>
          <p:nvPr/>
        </p:nvSpPr>
        <p:spPr>
          <a:xfrm>
            <a:off x="841248" y="5596128"/>
            <a:ext cx="2651760" cy="310896"/>
          </a:xfrm>
          <a:prstGeom prst="rect">
            <a:avLst/>
          </a:prstGeom>
          <a:noFill/>
          <a:ln/>
        </p:spPr>
        <p:txBody>
          <a:bodyPr wrap="square" lIns="0" tIns="0" rIns="0" bIns="0" rtlCol="0" anchor="ctr"/>
          <a:lstStyle/>
          <a:p>
            <a:pPr indent="0" marL="0">
              <a:buNone/>
            </a:pPr>
            <a:r>
              <a:rPr lang="en-US" sz="1200" b="1" dirty="0">
                <a:solidFill>
                  <a:srgbClr val="1A1D23"/>
                </a:solidFill>
                <a:latin typeface="Calibri" pitchFamily="34" charset="0"/>
                <a:ea typeface="Calibri" pitchFamily="34" charset="-122"/>
                <a:cs typeface="Calibri" pitchFamily="34" charset="-120"/>
              </a:rPr>
              <a:t>Geometría del almacén</a:t>
            </a:r>
            <a:endParaRPr lang="en-US" sz="1200" dirty="0"/>
          </a:p>
        </p:txBody>
      </p:sp>
      <p:sp>
        <p:nvSpPr>
          <p:cNvPr id="21" name="Text 19"/>
          <p:cNvSpPr/>
          <p:nvPr/>
        </p:nvSpPr>
        <p:spPr>
          <a:xfrm>
            <a:off x="3566160" y="5614416"/>
            <a:ext cx="7955280" cy="603504"/>
          </a:xfrm>
          <a:prstGeom prst="rect">
            <a:avLst/>
          </a:prstGeom>
          <a:noFill/>
          <a:ln/>
        </p:spPr>
        <p:txBody>
          <a:bodyPr wrap="square" lIns="0" tIns="0" rIns="0" bIns="0" rtlCol="0" anchor="t"/>
          <a:lstStyle/>
          <a:p>
            <a:pPr indent="0" marL="0">
              <a:buNone/>
            </a:pPr>
            <a:r>
              <a:rPr lang="en-US" sz="1050" dirty="0">
                <a:solidFill>
                  <a:srgbClr val="5B6470"/>
                </a:solidFill>
                <a:latin typeface="Calibri" pitchFamily="34" charset="0"/>
                <a:ea typeface="Calibri" pitchFamily="34" charset="-122"/>
                <a:cs typeface="Calibri" pitchFamily="34" charset="-120"/>
              </a:rPr>
              <a:t>Medida sobre el archivo DWG del cliente, confirmado en metros. Pendiente de verificar con cinta en sitio.</a:t>
            </a:r>
            <a:endParaRPr lang="en-US" sz="1050" dirty="0"/>
          </a:p>
        </p:txBody>
      </p:sp>
      <p:sp>
        <p:nvSpPr>
          <p:cNvPr id="22" name="Text 20"/>
          <p:cNvSpPr/>
          <p:nvPr/>
        </p:nvSpPr>
        <p:spPr>
          <a:xfrm>
            <a:off x="594360" y="6355080"/>
            <a:ext cx="10972800" cy="365760"/>
          </a:xfrm>
          <a:prstGeom prst="rect">
            <a:avLst/>
          </a:prstGeom>
          <a:noFill/>
          <a:ln/>
        </p:spPr>
        <p:txBody>
          <a:bodyPr wrap="square" lIns="0" tIns="0" rIns="0" bIns="0"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El detalle línea por línea está en TaTa_Kit_BOM.xlsx, con proveedor y alternativa más barata para cada componente.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TaTa · Tecnología Avanzada de Transporte Autónomo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 Caso de negocio interno — aprobación de prototipo</dc:title>
  <dc:subject>PptxGenJS Presentation</dc:subject>
  <dc:creator>TaTa</dc:creator>
  <cp:lastModifiedBy>TaTa</cp:lastModifiedBy>
  <cp:revision>1</cp:revision>
  <dcterms:created xsi:type="dcterms:W3CDTF">2026-08-20T15:13:38Z</dcterms:created>
  <dcterms:modified xsi:type="dcterms:W3CDTF">2026-08-20T15:13:38Z</dcterms:modified>
</cp:coreProperties>
</file>