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mis papas. Tono tranquilo y concreto. La idea que se lleven: esto es trabajo real de ingenieria, con una empresa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que mas les importa a ellos. Dejar claro: no esta parado por vagancia ni por no saber. Esta esperando una maquina, y ya movio la 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contesta directo la angustia de "conseguia trabajo". La respuesta: esto ES el camino al trabajo, y a uno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slide delicado. Puente, no reclamo: valida lo mio sin acusar. La analogia del mecanico aterriza en esta familia. Pedir confianza, no razon.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tranquilo. No prometer fechas. El mensaje: trabajo real, respaldado, con red, en progreso.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914400" y="2880360"/>
            <a:ext cx="1463040" cy="45720"/>
          </a:xfrm>
          <a:prstGeom prst="rect">
            <a:avLst/>
          </a:prstGeom>
          <a:solidFill>
            <a:srgbClr val="E0A82E"/>
          </a:solidFill>
          <a:ln/>
        </p:spPr>
      </p:sp>
      <p:sp>
        <p:nvSpPr>
          <p:cNvPr id="3" name="Text 1"/>
          <p:cNvSpPr/>
          <p:nvPr/>
        </p:nvSpPr>
        <p:spPr>
          <a:xfrm>
            <a:off x="868680" y="1554480"/>
            <a:ext cx="10058400" cy="2011680"/>
          </a:xfrm>
          <a:prstGeom prst="rect">
            <a:avLst/>
          </a:prstGeom>
          <a:noFill/>
          <a:ln/>
        </p:spPr>
        <p:txBody>
          <a:bodyPr wrap="square" lIns="0" tIns="0" rIns="0" bIns="0" rtlCol="0" anchor="ctr"/>
          <a:lstStyle/>
          <a:p>
            <a:pPr indent="0" marL="0">
              <a:lnSpc>
                <a:spcPts val="5400"/>
              </a:lnSpc>
              <a:buNone/>
            </a:pPr>
            <a:r>
              <a:rPr lang="en-US" sz="4800" b="1" dirty="0">
                <a:solidFill>
                  <a:srgbClr val="ECEBE6"/>
                </a:solidFill>
                <a:latin typeface="Cambria" pitchFamily="34" charset="0"/>
                <a:ea typeface="Cambria" pitchFamily="34" charset="-122"/>
                <a:cs typeface="Cambria" pitchFamily="34" charset="-120"/>
              </a:rPr>
              <a:t>En qué estoy</a:t>
            </a:r>
            <a:endParaRPr lang="en-US" sz="4800" dirty="0"/>
          </a:p>
          <a:p>
            <a:pPr indent="0" marL="0">
              <a:lnSpc>
                <a:spcPts val="5400"/>
              </a:lnSpc>
              <a:buNone/>
            </a:pPr>
            <a:r>
              <a:rPr lang="en-US" sz="4800" b="1" dirty="0">
                <a:solidFill>
                  <a:srgbClr val="ECEBE6"/>
                </a:solidFill>
                <a:latin typeface="Cambria" pitchFamily="34" charset="0"/>
                <a:ea typeface="Cambria" pitchFamily="34" charset="-122"/>
                <a:cs typeface="Cambria" pitchFamily="34" charset="-120"/>
              </a:rPr>
              <a:t>trabajando</a:t>
            </a:r>
            <a:endParaRPr lang="en-US" sz="4800" dirty="0"/>
          </a:p>
        </p:txBody>
      </p:sp>
      <p:sp>
        <p:nvSpPr>
          <p:cNvPr id="4" name="Text 2"/>
          <p:cNvSpPr/>
          <p:nvPr/>
        </p:nvSpPr>
        <p:spPr>
          <a:xfrm>
            <a:off x="914400" y="3154680"/>
            <a:ext cx="10058400" cy="457200"/>
          </a:xfrm>
          <a:prstGeom prst="rect">
            <a:avLst/>
          </a:prstGeom>
          <a:noFill/>
          <a:ln/>
        </p:spPr>
        <p:txBody>
          <a:bodyPr wrap="square" lIns="0" tIns="0" rIns="0" bIns="0" rtlCol="0" anchor="ctr"/>
          <a:lstStyle/>
          <a:p>
            <a:pPr indent="0" marL="0">
              <a:buNone/>
            </a:pPr>
            <a:r>
              <a:rPr lang="en-US" sz="1800" dirty="0">
                <a:solidFill>
                  <a:srgbClr val="E0A82E"/>
                </a:solidFill>
                <a:latin typeface="Calibri" pitchFamily="34" charset="0"/>
                <a:ea typeface="Calibri" pitchFamily="34" charset="-122"/>
                <a:cs typeface="Calibri" pitchFamily="34" charset="-120"/>
              </a:rPr>
              <a:t>Un proyecto de ingeniería dentro de Montasa</a:t>
            </a:r>
            <a:endParaRPr lang="en-US" sz="1800" dirty="0"/>
          </a:p>
        </p:txBody>
      </p:sp>
      <p:sp>
        <p:nvSpPr>
          <p:cNvPr id="5" name="Text 3"/>
          <p:cNvSpPr/>
          <p:nvPr/>
        </p:nvSpPr>
        <p:spPr>
          <a:xfrm>
            <a:off x="914400" y="3840480"/>
            <a:ext cx="9601200" cy="731520"/>
          </a:xfrm>
          <a:prstGeom prst="rect">
            <a:avLst/>
          </a:prstGeom>
          <a:noFill/>
          <a:ln/>
        </p:spPr>
        <p:txBody>
          <a:bodyPr wrap="square" lIns="0" tIns="0" rIns="0" bIns="0" rtlCol="0" anchor="ctr"/>
          <a:lstStyle/>
          <a:p>
            <a:pPr indent="0" marL="0">
              <a:buNone/>
            </a:pPr>
            <a:r>
              <a:rPr lang="en-US" sz="1500" dirty="0">
                <a:solidFill>
                  <a:srgbClr val="8B949E"/>
                </a:solidFill>
                <a:latin typeface="Calibri" pitchFamily="34" charset="0"/>
                <a:ea typeface="Calibri" pitchFamily="34" charset="-122"/>
                <a:cs typeface="Calibri" pitchFamily="34" charset="-120"/>
              </a:rPr>
              <a:t>Hacer que los montacargas de un almacén se manejen solos — sin comprar máquinas nuevas.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A1D23"/>
                </a:solidFill>
                <a:latin typeface="Cambria" pitchFamily="34" charset="0"/>
                <a:ea typeface="Cambria" pitchFamily="34" charset="-122"/>
                <a:cs typeface="Cambria" pitchFamily="34" charset="-120"/>
              </a:rPr>
              <a:t>Qué es, en una frase</a:t>
            </a:r>
            <a:endParaRPr lang="en-US" sz="3200" dirty="0"/>
          </a:p>
        </p:txBody>
      </p:sp>
      <p:sp>
        <p:nvSpPr>
          <p:cNvPr id="3" name="Shape 1"/>
          <p:cNvSpPr/>
          <p:nvPr/>
        </p:nvSpPr>
        <p:spPr>
          <a:xfrm>
            <a:off x="640080" y="1828800"/>
            <a:ext cx="10881360" cy="1737360"/>
          </a:xfrm>
          <a:prstGeom prst="roundRect">
            <a:avLst>
              <a:gd name="adj" fmla="val 5263"/>
            </a:avLst>
          </a:prstGeom>
          <a:solidFill>
            <a:srgbClr val="FFFFFF"/>
          </a:solidFill>
          <a:ln/>
          <a:effectLst>
            <a:outerShdw sx="100000" sy="100000" kx="0" ky="0" algn="bl" rotWithShape="0" blurRad="127000" dist="25400" dir="5400000">
              <a:srgbClr val="000000">
                <a:alpha val="18000"/>
              </a:srgbClr>
            </a:outerShdw>
          </a:effectLst>
        </p:spPr>
      </p:sp>
      <p:sp>
        <p:nvSpPr>
          <p:cNvPr id="4" name="Text 2"/>
          <p:cNvSpPr/>
          <p:nvPr/>
        </p:nvSpPr>
        <p:spPr>
          <a:xfrm>
            <a:off x="1005840" y="1828800"/>
            <a:ext cx="10149840" cy="1737360"/>
          </a:xfrm>
          <a:prstGeom prst="rect">
            <a:avLst/>
          </a:prstGeom>
          <a:noFill/>
          <a:ln/>
        </p:spPr>
        <p:txBody>
          <a:bodyPr wrap="square" lIns="0" tIns="0" rIns="0" bIns="0" rtlCol="0" anchor="ctr"/>
          <a:lstStyle/>
          <a:p>
            <a:pPr indent="0" marL="0">
              <a:lnSpc>
                <a:spcPts val="2800"/>
              </a:lnSpc>
              <a:buNone/>
            </a:pPr>
            <a:r>
              <a:rPr lang="en-US" sz="1900" dirty="0">
                <a:solidFill>
                  <a:srgbClr val="1A1D23"/>
                </a:solidFill>
                <a:latin typeface="Calibri" pitchFamily="34" charset="0"/>
                <a:ea typeface="Calibri" pitchFamily="34" charset="-122"/>
                <a:cs typeface="Calibri" pitchFamily="34" charset="-120"/>
              </a:rPr>
              <a:t>Agarro un montacargas que un almacén ya usa todos los días, y le instalo un kit que lo vuelve capaz de moverse y acomodar la carga solo — por etapas, empezando por lo simple.</a:t>
            </a:r>
            <a:endParaRPr lang="en-US" sz="1900" dirty="0"/>
          </a:p>
        </p:txBody>
      </p:sp>
      <p:sp>
        <p:nvSpPr>
          <p:cNvPr id="5" name="Shape 3"/>
          <p:cNvSpPr/>
          <p:nvPr/>
        </p:nvSpPr>
        <p:spPr>
          <a:xfrm>
            <a:off x="640080" y="3931920"/>
            <a:ext cx="5257800" cy="1554480"/>
          </a:xfrm>
          <a:prstGeom prst="roundRect">
            <a:avLst>
              <a:gd name="adj" fmla="val 5882"/>
            </a:avLst>
          </a:prstGeom>
          <a:solidFill>
            <a:srgbClr val="FFFFFF"/>
          </a:solidFill>
          <a:ln/>
          <a:effectLst>
            <a:outerShdw sx="100000" sy="100000" kx="0" ky="0" algn="bl" rotWithShape="0" blurRad="127000" dist="25400" dir="5400000">
              <a:srgbClr val="000000">
                <a:alpha val="18000"/>
              </a:srgbClr>
            </a:outerShdw>
          </a:effectLst>
        </p:spPr>
      </p:sp>
      <p:sp>
        <p:nvSpPr>
          <p:cNvPr id="6" name="Shape 4"/>
          <p:cNvSpPr/>
          <p:nvPr/>
        </p:nvSpPr>
        <p:spPr>
          <a:xfrm>
            <a:off x="640080" y="3931920"/>
            <a:ext cx="5257800" cy="91440"/>
          </a:xfrm>
          <a:prstGeom prst="rect">
            <a:avLst/>
          </a:prstGeom>
          <a:solidFill>
            <a:srgbClr val="2FA866"/>
          </a:solidFill>
          <a:ln/>
        </p:spPr>
      </p:sp>
      <p:sp>
        <p:nvSpPr>
          <p:cNvPr id="7" name="Text 5"/>
          <p:cNvSpPr/>
          <p:nvPr/>
        </p:nvSpPr>
        <p:spPr>
          <a:xfrm>
            <a:off x="1005840" y="4206240"/>
            <a:ext cx="4572000" cy="457200"/>
          </a:xfrm>
          <a:prstGeom prst="rect">
            <a:avLst/>
          </a:prstGeom>
          <a:noFill/>
          <a:ln/>
        </p:spPr>
        <p:txBody>
          <a:bodyPr wrap="square" lIns="0" tIns="0" rIns="0" bIns="0" rtlCol="0" anchor="ctr"/>
          <a:lstStyle/>
          <a:p>
            <a:pPr indent="0" marL="0">
              <a:buNone/>
            </a:pPr>
            <a:r>
              <a:rPr lang="en-US" sz="1700" b="1" dirty="0">
                <a:solidFill>
                  <a:srgbClr val="1A1D23"/>
                </a:solidFill>
                <a:latin typeface="Cambria" pitchFamily="34" charset="0"/>
                <a:ea typeface="Cambria" pitchFamily="34" charset="-122"/>
                <a:cs typeface="Cambria" pitchFamily="34" charset="-120"/>
              </a:rPr>
              <a:t>No es comprar un robot</a:t>
            </a:r>
            <a:endParaRPr lang="en-US" sz="1700" dirty="0"/>
          </a:p>
        </p:txBody>
      </p:sp>
      <p:sp>
        <p:nvSpPr>
          <p:cNvPr id="8" name="Text 6"/>
          <p:cNvSpPr/>
          <p:nvPr/>
        </p:nvSpPr>
        <p:spPr>
          <a:xfrm>
            <a:off x="1005840" y="4754880"/>
            <a:ext cx="4572000" cy="64008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Se adapta la máquina que ya tienen. Es mucho más barato.</a:t>
            </a:r>
            <a:endParaRPr lang="en-US" sz="1350" dirty="0"/>
          </a:p>
        </p:txBody>
      </p:sp>
      <p:sp>
        <p:nvSpPr>
          <p:cNvPr id="9" name="Shape 7"/>
          <p:cNvSpPr/>
          <p:nvPr/>
        </p:nvSpPr>
        <p:spPr>
          <a:xfrm>
            <a:off x="6263640" y="3931920"/>
            <a:ext cx="5257800" cy="1554480"/>
          </a:xfrm>
          <a:prstGeom prst="roundRect">
            <a:avLst>
              <a:gd name="adj" fmla="val 5882"/>
            </a:avLst>
          </a:prstGeom>
          <a:solidFill>
            <a:srgbClr val="FFFFFF"/>
          </a:solidFill>
          <a:ln/>
          <a:effectLst>
            <a:outerShdw sx="100000" sy="100000" kx="0" ky="0" algn="bl" rotWithShape="0" blurRad="127000" dist="25400" dir="5400000">
              <a:srgbClr val="000000">
                <a:alpha val="18000"/>
              </a:srgbClr>
            </a:outerShdw>
          </a:effectLst>
        </p:spPr>
      </p:sp>
      <p:sp>
        <p:nvSpPr>
          <p:cNvPr id="10" name="Shape 8"/>
          <p:cNvSpPr/>
          <p:nvPr/>
        </p:nvSpPr>
        <p:spPr>
          <a:xfrm>
            <a:off x="6263640" y="3931920"/>
            <a:ext cx="5257800" cy="91440"/>
          </a:xfrm>
          <a:prstGeom prst="rect">
            <a:avLst/>
          </a:prstGeom>
          <a:solidFill>
            <a:srgbClr val="2E6FB0"/>
          </a:solidFill>
          <a:ln/>
        </p:spPr>
      </p:sp>
      <p:sp>
        <p:nvSpPr>
          <p:cNvPr id="11" name="Text 9"/>
          <p:cNvSpPr/>
          <p:nvPr/>
        </p:nvSpPr>
        <p:spPr>
          <a:xfrm>
            <a:off x="6629400" y="4206240"/>
            <a:ext cx="4572000" cy="457200"/>
          </a:xfrm>
          <a:prstGeom prst="rect">
            <a:avLst/>
          </a:prstGeom>
          <a:noFill/>
          <a:ln/>
        </p:spPr>
        <p:txBody>
          <a:bodyPr wrap="square" lIns="0" tIns="0" rIns="0" bIns="0" rtlCol="0" anchor="ctr"/>
          <a:lstStyle/>
          <a:p>
            <a:pPr indent="0" marL="0">
              <a:buNone/>
            </a:pPr>
            <a:r>
              <a:rPr lang="en-US" sz="1700" b="1" dirty="0">
                <a:solidFill>
                  <a:srgbClr val="1A1D23"/>
                </a:solidFill>
                <a:latin typeface="Cambria" pitchFamily="34" charset="0"/>
                <a:ea typeface="Cambria" pitchFamily="34" charset="-122"/>
                <a:cs typeface="Cambria" pitchFamily="34" charset="-120"/>
              </a:rPr>
              <a:t>Es dentro de Montasa</a:t>
            </a:r>
            <a:endParaRPr lang="en-US" sz="1700" dirty="0"/>
          </a:p>
        </p:txBody>
      </p:sp>
      <p:sp>
        <p:nvSpPr>
          <p:cNvPr id="12" name="Text 10"/>
          <p:cNvSpPr/>
          <p:nvPr/>
        </p:nvSpPr>
        <p:spPr>
          <a:xfrm>
            <a:off x="6629400" y="4754880"/>
            <a:ext cx="4572000" cy="64008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La empresa donde trabaja la familia. No es un invento suelto.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ECEBE6"/>
                </a:solidFill>
                <a:latin typeface="Cambria" pitchFamily="34" charset="0"/>
                <a:ea typeface="Cambria" pitchFamily="34" charset="-122"/>
                <a:cs typeface="Cambria" pitchFamily="34" charset="-120"/>
              </a:rPr>
              <a:t>Por qué es ingeniería de verdad</a:t>
            </a:r>
            <a:endParaRPr lang="en-US" sz="3200" dirty="0"/>
          </a:p>
        </p:txBody>
      </p:sp>
      <p:sp>
        <p:nvSpPr>
          <p:cNvPr id="3" name="Text 1"/>
          <p:cNvSpPr/>
          <p:nvPr/>
        </p:nvSpPr>
        <p:spPr>
          <a:xfrm>
            <a:off x="640080" y="1234440"/>
            <a:ext cx="10881360" cy="411480"/>
          </a:xfrm>
          <a:prstGeom prst="rect">
            <a:avLst/>
          </a:prstGeom>
          <a:noFill/>
          <a:ln/>
        </p:spPr>
        <p:txBody>
          <a:bodyPr wrap="square" lIns="0" tIns="0" rIns="0" bIns="0" rtlCol="0" anchor="ctr"/>
          <a:lstStyle/>
          <a:p>
            <a:pPr indent="0" marL="0">
              <a:buNone/>
            </a:pPr>
            <a:r>
              <a:rPr lang="en-US" sz="1500" dirty="0">
                <a:solidFill>
                  <a:srgbClr val="8B949E"/>
                </a:solidFill>
                <a:latin typeface="Calibri" pitchFamily="34" charset="0"/>
                <a:ea typeface="Calibri" pitchFamily="34" charset="-122"/>
                <a:cs typeface="Calibri" pitchFamily="34" charset="-120"/>
              </a:rPr>
              <a:t>Y no algo que se baja de internet</a:t>
            </a:r>
            <a:endParaRPr lang="en-US" sz="1500" dirty="0"/>
          </a:p>
        </p:txBody>
      </p:sp>
      <p:sp>
        <p:nvSpPr>
          <p:cNvPr id="4" name="Shape 2"/>
          <p:cNvSpPr/>
          <p:nvPr/>
        </p:nvSpPr>
        <p:spPr>
          <a:xfrm>
            <a:off x="640080" y="1874520"/>
            <a:ext cx="10881360" cy="1234440"/>
          </a:xfrm>
          <a:prstGeom prst="roundRect">
            <a:avLst>
              <a:gd name="adj" fmla="val 7407"/>
            </a:avLst>
          </a:prstGeom>
          <a:solidFill>
            <a:srgbClr val="20242B"/>
          </a:solidFill>
          <a:ln/>
          <a:effectLst>
            <a:outerShdw sx="100000" sy="100000" kx="0" ky="0" algn="bl" rotWithShape="0" blurRad="127000" dist="25400" dir="5400000">
              <a:srgbClr val="000000">
                <a:alpha val="18000"/>
              </a:srgbClr>
            </a:outerShdw>
          </a:effectLst>
        </p:spPr>
      </p:sp>
      <p:sp>
        <p:nvSpPr>
          <p:cNvPr id="5" name="Text 3"/>
          <p:cNvSpPr/>
          <p:nvPr/>
        </p:nvSpPr>
        <p:spPr>
          <a:xfrm>
            <a:off x="1005840" y="2057400"/>
            <a:ext cx="10149840" cy="457200"/>
          </a:xfrm>
          <a:prstGeom prst="rect">
            <a:avLst/>
          </a:prstGeom>
          <a:noFill/>
          <a:ln/>
        </p:spPr>
        <p:txBody>
          <a:bodyPr wrap="square" lIns="0" tIns="0" rIns="0" bIns="0" rtlCol="0" anchor="ctr"/>
          <a:lstStyle/>
          <a:p>
            <a:pPr indent="0" marL="0">
              <a:buNone/>
            </a:pPr>
            <a:r>
              <a:rPr lang="en-US" sz="1600" b="1" dirty="0">
                <a:solidFill>
                  <a:srgbClr val="E0A82E"/>
                </a:solidFill>
                <a:latin typeface="Cambria" pitchFamily="34" charset="0"/>
                <a:ea typeface="Cambria" pitchFamily="34" charset="-122"/>
                <a:cs typeface="Cambria" pitchFamily="34" charset="-120"/>
              </a:rPr>
              <a:t>Hay que “hablarle” a la máquina</a:t>
            </a:r>
            <a:endParaRPr lang="en-US" sz="1600" dirty="0"/>
          </a:p>
        </p:txBody>
      </p:sp>
      <p:sp>
        <p:nvSpPr>
          <p:cNvPr id="6" name="Text 4"/>
          <p:cNvSpPr/>
          <p:nvPr/>
        </p:nvSpPr>
        <p:spPr>
          <a:xfrm>
            <a:off x="1005840" y="2496312"/>
            <a:ext cx="10149840" cy="54864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El montacargas tiene una computadora interna cerrada. Tuve que descubrir, midiendo con instrumentos, cómo darle órdenes. Nadie lo había hecho en estos equipos.</a:t>
            </a:r>
            <a:endParaRPr lang="en-US" sz="1300" dirty="0"/>
          </a:p>
        </p:txBody>
      </p:sp>
      <p:sp>
        <p:nvSpPr>
          <p:cNvPr id="7" name="Shape 5"/>
          <p:cNvSpPr/>
          <p:nvPr/>
        </p:nvSpPr>
        <p:spPr>
          <a:xfrm>
            <a:off x="640080" y="3291840"/>
            <a:ext cx="10881360" cy="1234440"/>
          </a:xfrm>
          <a:prstGeom prst="roundRect">
            <a:avLst>
              <a:gd name="adj" fmla="val 7407"/>
            </a:avLst>
          </a:prstGeom>
          <a:solidFill>
            <a:srgbClr val="20242B"/>
          </a:solidFill>
          <a:ln/>
          <a:effectLst>
            <a:outerShdw sx="100000" sy="100000" kx="0" ky="0" algn="bl" rotWithShape="0" blurRad="127000" dist="25400" dir="5400000">
              <a:srgbClr val="000000">
                <a:alpha val="18000"/>
              </a:srgbClr>
            </a:outerShdw>
          </a:effectLst>
        </p:spPr>
      </p:sp>
      <p:sp>
        <p:nvSpPr>
          <p:cNvPr id="8" name="Text 6"/>
          <p:cNvSpPr/>
          <p:nvPr/>
        </p:nvSpPr>
        <p:spPr>
          <a:xfrm>
            <a:off x="1005840" y="3474720"/>
            <a:ext cx="10149840" cy="457200"/>
          </a:xfrm>
          <a:prstGeom prst="rect">
            <a:avLst/>
          </a:prstGeom>
          <a:noFill/>
          <a:ln/>
        </p:spPr>
        <p:txBody>
          <a:bodyPr wrap="square" lIns="0" tIns="0" rIns="0" bIns="0" rtlCol="0" anchor="ctr"/>
          <a:lstStyle/>
          <a:p>
            <a:pPr indent="0" marL="0">
              <a:buNone/>
            </a:pPr>
            <a:r>
              <a:rPr lang="en-US" sz="1600" b="1" dirty="0">
                <a:solidFill>
                  <a:srgbClr val="E0A82E"/>
                </a:solidFill>
                <a:latin typeface="Cambria" pitchFamily="34" charset="0"/>
                <a:ea typeface="Cambria" pitchFamily="34" charset="-122"/>
                <a:cs typeface="Cambria" pitchFamily="34" charset="-120"/>
              </a:rPr>
              <a:t>Cada cable es un misterio</a:t>
            </a:r>
            <a:endParaRPr lang="en-US" sz="1600" dirty="0"/>
          </a:p>
        </p:txBody>
      </p:sp>
      <p:sp>
        <p:nvSpPr>
          <p:cNvPr id="9" name="Text 7"/>
          <p:cNvSpPr/>
          <p:nvPr/>
        </p:nvSpPr>
        <p:spPr>
          <a:xfrm>
            <a:off x="1005840" y="3913632"/>
            <a:ext cx="10149840" cy="54864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Averiguar qué hace cada señal eléctrica es el trabajo lento y caro. Una vez resuelto, sirve para todas las máquinas iguales.</a:t>
            </a:r>
            <a:endParaRPr lang="en-US" sz="1300" dirty="0"/>
          </a:p>
        </p:txBody>
      </p:sp>
      <p:sp>
        <p:nvSpPr>
          <p:cNvPr id="10" name="Shape 8"/>
          <p:cNvSpPr/>
          <p:nvPr/>
        </p:nvSpPr>
        <p:spPr>
          <a:xfrm>
            <a:off x="640080" y="4709160"/>
            <a:ext cx="10881360" cy="1234440"/>
          </a:xfrm>
          <a:prstGeom prst="roundRect">
            <a:avLst>
              <a:gd name="adj" fmla="val 7407"/>
            </a:avLst>
          </a:prstGeom>
          <a:solidFill>
            <a:srgbClr val="20242B"/>
          </a:solidFill>
          <a:ln/>
          <a:effectLst>
            <a:outerShdw sx="100000" sy="100000" kx="0" ky="0" algn="bl" rotWithShape="0" blurRad="127000" dist="25400" dir="5400000">
              <a:srgbClr val="000000">
                <a:alpha val="18000"/>
              </a:srgbClr>
            </a:outerShdw>
          </a:effectLst>
        </p:spPr>
      </p:sp>
      <p:sp>
        <p:nvSpPr>
          <p:cNvPr id="11" name="Text 9"/>
          <p:cNvSpPr/>
          <p:nvPr/>
        </p:nvSpPr>
        <p:spPr>
          <a:xfrm>
            <a:off x="1005840" y="4892040"/>
            <a:ext cx="10149840" cy="457200"/>
          </a:xfrm>
          <a:prstGeom prst="rect">
            <a:avLst/>
          </a:prstGeom>
          <a:noFill/>
          <a:ln/>
        </p:spPr>
        <p:txBody>
          <a:bodyPr wrap="square" lIns="0" tIns="0" rIns="0" bIns="0" rtlCol="0" anchor="ctr"/>
          <a:lstStyle/>
          <a:p>
            <a:pPr indent="0" marL="0">
              <a:buNone/>
            </a:pPr>
            <a:r>
              <a:rPr lang="en-US" sz="1600" b="1" dirty="0">
                <a:solidFill>
                  <a:srgbClr val="E0A82E"/>
                </a:solidFill>
                <a:latin typeface="Cambria" pitchFamily="34" charset="0"/>
                <a:ea typeface="Cambria" pitchFamily="34" charset="-122"/>
                <a:cs typeface="Cambria" pitchFamily="34" charset="-120"/>
              </a:rPr>
              <a:t>La seguridad es seria</a:t>
            </a:r>
            <a:endParaRPr lang="en-US" sz="1600" dirty="0"/>
          </a:p>
        </p:txBody>
      </p:sp>
      <p:sp>
        <p:nvSpPr>
          <p:cNvPr id="12" name="Text 10"/>
          <p:cNvSpPr/>
          <p:nvPr/>
        </p:nvSpPr>
        <p:spPr>
          <a:xfrm>
            <a:off x="1005840" y="5330952"/>
            <a:ext cx="10149840" cy="54864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Mover una máquina de 2 toneladas sola exige hacerlo bien. Trabajo con la máquina frenada, con un botón de paro en la mano, paso por paso.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A1D23"/>
                </a:solidFill>
                <a:latin typeface="Cambria" pitchFamily="34" charset="0"/>
                <a:ea typeface="Cambria" pitchFamily="34" charset="-122"/>
                <a:cs typeface="Cambria" pitchFamily="34" charset="-120"/>
              </a:rPr>
              <a:t>Lo que ya logré</a:t>
            </a:r>
            <a:endParaRPr lang="en-US" sz="3200" dirty="0"/>
          </a:p>
        </p:txBody>
      </p:sp>
      <p:sp>
        <p:nvSpPr>
          <p:cNvPr id="3" name="Text 1"/>
          <p:cNvSpPr/>
          <p:nvPr/>
        </p:nvSpPr>
        <p:spPr>
          <a:xfrm>
            <a:off x="640080" y="1234440"/>
            <a:ext cx="10881360" cy="411480"/>
          </a:xfrm>
          <a:prstGeom prst="rect">
            <a:avLst/>
          </a:prstGeom>
          <a:noFill/>
          <a:ln/>
        </p:spPr>
        <p:txBody>
          <a:bodyPr wrap="square" lIns="0" tIns="0" rIns="0" bIns="0" rtlCol="0" anchor="ctr"/>
          <a:lstStyle/>
          <a:p>
            <a:pPr indent="0" marL="0">
              <a:buNone/>
            </a:pPr>
            <a:r>
              <a:rPr lang="en-US" sz="1500" dirty="0">
                <a:solidFill>
                  <a:srgbClr val="5B6470"/>
                </a:solidFill>
                <a:latin typeface="Calibri" pitchFamily="34" charset="0"/>
                <a:ea typeface="Calibri" pitchFamily="34" charset="-122"/>
                <a:cs typeface="Calibri" pitchFamily="34" charset="-120"/>
              </a:rPr>
              <a:t>Sin gastar dinero de la empresa</a:t>
            </a:r>
            <a:endParaRPr lang="en-US" sz="1500" dirty="0"/>
          </a:p>
        </p:txBody>
      </p:sp>
      <p:sp>
        <p:nvSpPr>
          <p:cNvPr id="4" name="Shape 2"/>
          <p:cNvSpPr/>
          <p:nvPr/>
        </p:nvSpPr>
        <p:spPr>
          <a:xfrm>
            <a:off x="640080" y="1828800"/>
            <a:ext cx="5257800" cy="1600200"/>
          </a:xfrm>
          <a:prstGeom prst="roundRect">
            <a:avLst>
              <a:gd name="adj" fmla="val 5714"/>
            </a:avLst>
          </a:prstGeom>
          <a:solidFill>
            <a:srgbClr val="FFFFFF"/>
          </a:solidFill>
          <a:ln/>
          <a:effectLst>
            <a:outerShdw sx="100000" sy="100000" kx="0" ky="0" algn="bl" rotWithShape="0" blurRad="127000" dist="25400" dir="5400000">
              <a:srgbClr val="000000">
                <a:alpha val="18000"/>
              </a:srgbClr>
            </a:outerShdw>
          </a:effectLst>
        </p:spPr>
      </p:sp>
      <p:sp>
        <p:nvSpPr>
          <p:cNvPr id="5" name="Shape 3"/>
          <p:cNvSpPr/>
          <p:nvPr/>
        </p:nvSpPr>
        <p:spPr>
          <a:xfrm>
            <a:off x="960120" y="2121408"/>
            <a:ext cx="365760" cy="365760"/>
          </a:xfrm>
          <a:prstGeom prst="ellipse">
            <a:avLst/>
          </a:prstGeom>
          <a:solidFill>
            <a:srgbClr val="2FA866"/>
          </a:solidFill>
          <a:ln/>
        </p:spPr>
      </p:sp>
      <p:sp>
        <p:nvSpPr>
          <p:cNvPr id="6" name="Text 4"/>
          <p:cNvSpPr/>
          <p:nvPr/>
        </p:nvSpPr>
        <p:spPr>
          <a:xfrm>
            <a:off x="960120" y="212140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508760" y="2084832"/>
            <a:ext cx="4206240" cy="457200"/>
          </a:xfrm>
          <a:prstGeom prst="rect">
            <a:avLst/>
          </a:prstGeom>
          <a:noFill/>
          <a:ln/>
        </p:spPr>
        <p:txBody>
          <a:bodyPr wrap="square" lIns="0" tIns="0" rIns="0" bIns="0" rtlCol="0" anchor="ctr"/>
          <a:lstStyle/>
          <a:p>
            <a:pPr indent="0" marL="0">
              <a:buNone/>
            </a:pPr>
            <a:r>
              <a:rPr lang="en-US" sz="1500" b="1" dirty="0">
                <a:solidFill>
                  <a:srgbClr val="1A1D23"/>
                </a:solidFill>
                <a:latin typeface="Cambria" pitchFamily="34" charset="0"/>
                <a:ea typeface="Cambria" pitchFamily="34" charset="-122"/>
                <a:cs typeface="Cambria" pitchFamily="34" charset="-120"/>
              </a:rPr>
              <a:t>Entendí la computadora del equipo</a:t>
            </a:r>
            <a:endParaRPr lang="en-US" sz="1500" dirty="0"/>
          </a:p>
        </p:txBody>
      </p:sp>
      <p:sp>
        <p:nvSpPr>
          <p:cNvPr id="8" name="Text 6"/>
          <p:cNvSpPr/>
          <p:nvPr/>
        </p:nvSpPr>
        <p:spPr>
          <a:xfrm>
            <a:off x="1005840" y="2651760"/>
            <a:ext cx="4663440" cy="685800"/>
          </a:xfrm>
          <a:prstGeom prst="rect">
            <a:avLst/>
          </a:prstGeom>
          <a:noFill/>
          <a:ln/>
        </p:spPr>
        <p:txBody>
          <a:bodyPr wrap="square" lIns="0" tIns="0" rIns="0" bIns="0" rtlCol="0" anchor="t"/>
          <a:lstStyle/>
          <a:p>
            <a:pPr indent="0" marL="0">
              <a:buNone/>
            </a:pPr>
            <a:r>
              <a:rPr lang="en-US" sz="1250" dirty="0">
                <a:solidFill>
                  <a:srgbClr val="5B6470"/>
                </a:solidFill>
                <a:latin typeface="Calibri" pitchFamily="34" charset="0"/>
                <a:ea typeface="Calibri" pitchFamily="34" charset="-122"/>
                <a:cs typeface="Calibri" pitchFamily="34" charset="-120"/>
              </a:rPr>
              <a:t>Ya sé leer lo que piensa el montacargas por dentro.</a:t>
            </a:r>
            <a:endParaRPr lang="en-US" sz="1250" dirty="0"/>
          </a:p>
        </p:txBody>
      </p:sp>
      <p:sp>
        <p:nvSpPr>
          <p:cNvPr id="9" name="Shape 7"/>
          <p:cNvSpPr/>
          <p:nvPr/>
        </p:nvSpPr>
        <p:spPr>
          <a:xfrm>
            <a:off x="6263640" y="1828800"/>
            <a:ext cx="5257800" cy="1600200"/>
          </a:xfrm>
          <a:prstGeom prst="roundRect">
            <a:avLst>
              <a:gd name="adj" fmla="val 5714"/>
            </a:avLst>
          </a:prstGeom>
          <a:solidFill>
            <a:srgbClr val="FFFFFF"/>
          </a:solidFill>
          <a:ln/>
          <a:effectLst>
            <a:outerShdw sx="100000" sy="100000" kx="0" ky="0" algn="bl" rotWithShape="0" blurRad="127000" dist="25400" dir="5400000">
              <a:srgbClr val="000000">
                <a:alpha val="18000"/>
              </a:srgbClr>
            </a:outerShdw>
          </a:effectLst>
        </p:spPr>
      </p:sp>
      <p:sp>
        <p:nvSpPr>
          <p:cNvPr id="10" name="Shape 8"/>
          <p:cNvSpPr/>
          <p:nvPr/>
        </p:nvSpPr>
        <p:spPr>
          <a:xfrm>
            <a:off x="6583680" y="2121408"/>
            <a:ext cx="365760" cy="365760"/>
          </a:xfrm>
          <a:prstGeom prst="ellipse">
            <a:avLst/>
          </a:prstGeom>
          <a:solidFill>
            <a:srgbClr val="2FA866"/>
          </a:solidFill>
          <a:ln/>
        </p:spPr>
      </p:sp>
      <p:sp>
        <p:nvSpPr>
          <p:cNvPr id="11" name="Text 9"/>
          <p:cNvSpPr/>
          <p:nvPr/>
        </p:nvSpPr>
        <p:spPr>
          <a:xfrm>
            <a:off x="6583680" y="212140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7132320" y="2084832"/>
            <a:ext cx="4206240" cy="457200"/>
          </a:xfrm>
          <a:prstGeom prst="rect">
            <a:avLst/>
          </a:prstGeom>
          <a:noFill/>
          <a:ln/>
        </p:spPr>
        <p:txBody>
          <a:bodyPr wrap="square" lIns="0" tIns="0" rIns="0" bIns="0" rtlCol="0" anchor="ctr"/>
          <a:lstStyle/>
          <a:p>
            <a:pPr indent="0" marL="0">
              <a:buNone/>
            </a:pPr>
            <a:r>
              <a:rPr lang="en-US" sz="1500" b="1" dirty="0">
                <a:solidFill>
                  <a:srgbClr val="1A1D23"/>
                </a:solidFill>
                <a:latin typeface="Cambria" pitchFamily="34" charset="0"/>
                <a:ea typeface="Cambria" pitchFamily="34" charset="-122"/>
                <a:cs typeface="Cambria" pitchFamily="34" charset="-120"/>
              </a:rPr>
              <a:t>Lo hago avanzar con una orden</a:t>
            </a:r>
            <a:endParaRPr lang="en-US" sz="1500" dirty="0"/>
          </a:p>
        </p:txBody>
      </p:sp>
      <p:sp>
        <p:nvSpPr>
          <p:cNvPr id="13" name="Text 11"/>
          <p:cNvSpPr/>
          <p:nvPr/>
        </p:nvSpPr>
        <p:spPr>
          <a:xfrm>
            <a:off x="6629400" y="2651760"/>
            <a:ext cx="4663440" cy="685800"/>
          </a:xfrm>
          <a:prstGeom prst="rect">
            <a:avLst/>
          </a:prstGeom>
          <a:noFill/>
          <a:ln/>
        </p:spPr>
        <p:txBody>
          <a:bodyPr wrap="square" lIns="0" tIns="0" rIns="0" bIns="0" rtlCol="0" anchor="t"/>
          <a:lstStyle/>
          <a:p>
            <a:pPr indent="0" marL="0">
              <a:buNone/>
            </a:pPr>
            <a:r>
              <a:rPr lang="en-US" sz="1250" dirty="0">
                <a:solidFill>
                  <a:srgbClr val="5B6470"/>
                </a:solidFill>
                <a:latin typeface="Calibri" pitchFamily="34" charset="0"/>
                <a:ea typeface="Calibri" pitchFamily="34" charset="-122"/>
                <a:cs typeface="Calibri" pitchFamily="34" charset="-120"/>
              </a:rPr>
              <a:t>Logré darle la orden de moverse, y la máquina la aceptó. Probado en mi mesa.</a:t>
            </a:r>
            <a:endParaRPr lang="en-US" sz="1250" dirty="0"/>
          </a:p>
        </p:txBody>
      </p:sp>
      <p:sp>
        <p:nvSpPr>
          <p:cNvPr id="14" name="Shape 12"/>
          <p:cNvSpPr/>
          <p:nvPr/>
        </p:nvSpPr>
        <p:spPr>
          <a:xfrm>
            <a:off x="640080" y="3657600"/>
            <a:ext cx="5257800" cy="1600200"/>
          </a:xfrm>
          <a:prstGeom prst="roundRect">
            <a:avLst>
              <a:gd name="adj" fmla="val 5714"/>
            </a:avLst>
          </a:prstGeom>
          <a:solidFill>
            <a:srgbClr val="FFFFFF"/>
          </a:solidFill>
          <a:ln/>
          <a:effectLst>
            <a:outerShdw sx="100000" sy="100000" kx="0" ky="0" algn="bl" rotWithShape="0" blurRad="127000" dist="25400" dir="5400000">
              <a:srgbClr val="000000">
                <a:alpha val="18000"/>
              </a:srgbClr>
            </a:outerShdw>
          </a:effectLst>
        </p:spPr>
      </p:sp>
      <p:sp>
        <p:nvSpPr>
          <p:cNvPr id="15" name="Shape 13"/>
          <p:cNvSpPr/>
          <p:nvPr/>
        </p:nvSpPr>
        <p:spPr>
          <a:xfrm>
            <a:off x="960120" y="3950208"/>
            <a:ext cx="365760" cy="365760"/>
          </a:xfrm>
          <a:prstGeom prst="ellipse">
            <a:avLst/>
          </a:prstGeom>
          <a:solidFill>
            <a:srgbClr val="2FA866"/>
          </a:solidFill>
          <a:ln/>
        </p:spPr>
      </p:sp>
      <p:sp>
        <p:nvSpPr>
          <p:cNvPr id="16" name="Text 14"/>
          <p:cNvSpPr/>
          <p:nvPr/>
        </p:nvSpPr>
        <p:spPr>
          <a:xfrm>
            <a:off x="960120" y="395020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508760" y="3913632"/>
            <a:ext cx="4206240" cy="457200"/>
          </a:xfrm>
          <a:prstGeom prst="rect">
            <a:avLst/>
          </a:prstGeom>
          <a:noFill/>
          <a:ln/>
        </p:spPr>
        <p:txBody>
          <a:bodyPr wrap="square" lIns="0" tIns="0" rIns="0" bIns="0" rtlCol="0" anchor="ctr"/>
          <a:lstStyle/>
          <a:p>
            <a:pPr indent="0" marL="0">
              <a:buNone/>
            </a:pPr>
            <a:r>
              <a:rPr lang="en-US" sz="1500" b="1" dirty="0">
                <a:solidFill>
                  <a:srgbClr val="1A1D23"/>
                </a:solidFill>
                <a:latin typeface="Cambria" pitchFamily="34" charset="0"/>
                <a:ea typeface="Cambria" pitchFamily="34" charset="-122"/>
                <a:cs typeface="Cambria" pitchFamily="34" charset="-120"/>
              </a:rPr>
              <a:t>Reemplacé el volante</a:t>
            </a:r>
            <a:endParaRPr lang="en-US" sz="1500" dirty="0"/>
          </a:p>
        </p:txBody>
      </p:sp>
      <p:sp>
        <p:nvSpPr>
          <p:cNvPr id="18" name="Text 16"/>
          <p:cNvSpPr/>
          <p:nvPr/>
        </p:nvSpPr>
        <p:spPr>
          <a:xfrm>
            <a:off x="1005840" y="4480560"/>
            <a:ext cx="4663440" cy="685800"/>
          </a:xfrm>
          <a:prstGeom prst="rect">
            <a:avLst/>
          </a:prstGeom>
          <a:noFill/>
          <a:ln/>
        </p:spPr>
        <p:txBody>
          <a:bodyPr wrap="square" lIns="0" tIns="0" rIns="0" bIns="0" rtlCol="0" anchor="t"/>
          <a:lstStyle/>
          <a:p>
            <a:pPr indent="0" marL="0">
              <a:buNone/>
            </a:pPr>
            <a:r>
              <a:rPr lang="en-US" sz="1250" dirty="0">
                <a:solidFill>
                  <a:srgbClr val="5B6470"/>
                </a:solidFill>
                <a:latin typeface="Calibri" pitchFamily="34" charset="0"/>
                <a:ea typeface="Calibri" pitchFamily="34" charset="-122"/>
                <a:cs typeface="Calibri" pitchFamily="34" charset="-120"/>
              </a:rPr>
              <a:t>Hice un circuito que imita el sensor del volante para manejar la dirección. Funciona.</a:t>
            </a:r>
            <a:endParaRPr lang="en-US" sz="1250" dirty="0"/>
          </a:p>
        </p:txBody>
      </p:sp>
      <p:sp>
        <p:nvSpPr>
          <p:cNvPr id="19" name="Shape 17"/>
          <p:cNvSpPr/>
          <p:nvPr/>
        </p:nvSpPr>
        <p:spPr>
          <a:xfrm>
            <a:off x="6263640" y="3657600"/>
            <a:ext cx="5257800" cy="1600200"/>
          </a:xfrm>
          <a:prstGeom prst="roundRect">
            <a:avLst>
              <a:gd name="adj" fmla="val 5714"/>
            </a:avLst>
          </a:prstGeom>
          <a:solidFill>
            <a:srgbClr val="FFFFFF"/>
          </a:solidFill>
          <a:ln/>
          <a:effectLst>
            <a:outerShdw sx="100000" sy="100000" kx="0" ky="0" algn="bl" rotWithShape="0" blurRad="127000" dist="25400" dir="5400000">
              <a:srgbClr val="000000">
                <a:alpha val="18000"/>
              </a:srgbClr>
            </a:outerShdw>
          </a:effectLst>
        </p:spPr>
      </p:sp>
      <p:sp>
        <p:nvSpPr>
          <p:cNvPr id="20" name="Shape 18"/>
          <p:cNvSpPr/>
          <p:nvPr/>
        </p:nvSpPr>
        <p:spPr>
          <a:xfrm>
            <a:off x="6583680" y="3950208"/>
            <a:ext cx="365760" cy="365760"/>
          </a:xfrm>
          <a:prstGeom prst="ellipse">
            <a:avLst/>
          </a:prstGeom>
          <a:solidFill>
            <a:srgbClr val="2FA866"/>
          </a:solidFill>
          <a:ln/>
        </p:spPr>
      </p:sp>
      <p:sp>
        <p:nvSpPr>
          <p:cNvPr id="21" name="Text 19"/>
          <p:cNvSpPr/>
          <p:nvPr/>
        </p:nvSpPr>
        <p:spPr>
          <a:xfrm>
            <a:off x="6583680" y="395020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132320" y="3913632"/>
            <a:ext cx="4206240" cy="457200"/>
          </a:xfrm>
          <a:prstGeom prst="rect">
            <a:avLst/>
          </a:prstGeom>
          <a:noFill/>
          <a:ln/>
        </p:spPr>
        <p:txBody>
          <a:bodyPr wrap="square" lIns="0" tIns="0" rIns="0" bIns="0" rtlCol="0" anchor="ctr"/>
          <a:lstStyle/>
          <a:p>
            <a:pPr indent="0" marL="0">
              <a:buNone/>
            </a:pPr>
            <a:r>
              <a:rPr lang="en-US" sz="1500" b="1" dirty="0">
                <a:solidFill>
                  <a:srgbClr val="1A1D23"/>
                </a:solidFill>
                <a:latin typeface="Cambria" pitchFamily="34" charset="0"/>
                <a:ea typeface="Cambria" pitchFamily="34" charset="-122"/>
                <a:cs typeface="Cambria" pitchFamily="34" charset="-120"/>
              </a:rPr>
              <a:t>Construí los simuladores</a:t>
            </a:r>
            <a:endParaRPr lang="en-US" sz="1500" dirty="0"/>
          </a:p>
        </p:txBody>
      </p:sp>
      <p:sp>
        <p:nvSpPr>
          <p:cNvPr id="23" name="Text 21"/>
          <p:cNvSpPr/>
          <p:nvPr/>
        </p:nvSpPr>
        <p:spPr>
          <a:xfrm>
            <a:off x="6629400" y="4480560"/>
            <a:ext cx="4663440" cy="685800"/>
          </a:xfrm>
          <a:prstGeom prst="rect">
            <a:avLst/>
          </a:prstGeom>
          <a:noFill/>
          <a:ln/>
        </p:spPr>
        <p:txBody>
          <a:bodyPr wrap="square" lIns="0" tIns="0" rIns="0" bIns="0" rtlCol="0" anchor="t"/>
          <a:lstStyle/>
          <a:p>
            <a:pPr indent="0" marL="0">
              <a:buNone/>
            </a:pPr>
            <a:r>
              <a:rPr lang="en-US" sz="1250" dirty="0">
                <a:solidFill>
                  <a:srgbClr val="5B6470"/>
                </a:solidFill>
                <a:latin typeface="Calibri" pitchFamily="34" charset="0"/>
                <a:ea typeface="Calibri" pitchFamily="34" charset="-122"/>
                <a:cs typeface="Calibri" pitchFamily="34" charset="-120"/>
              </a:rPr>
              <a:t>Programas que muestran el almacén y la máquina trabajando, para probar sin riesgo.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ECEBE6"/>
                </a:solidFill>
                <a:latin typeface="Cambria" pitchFamily="34" charset="0"/>
                <a:ea typeface="Cambria" pitchFamily="34" charset="-122"/>
                <a:cs typeface="Cambria" pitchFamily="34" charset="-120"/>
              </a:rPr>
              <a:t>Por qué ahora estoy esperando</a:t>
            </a:r>
            <a:endParaRPr lang="en-US" sz="3200" dirty="0"/>
          </a:p>
        </p:txBody>
      </p:sp>
      <p:sp>
        <p:nvSpPr>
          <p:cNvPr id="3" name="Text 1"/>
          <p:cNvSpPr/>
          <p:nvPr/>
        </p:nvSpPr>
        <p:spPr>
          <a:xfrm>
            <a:off x="640080" y="1234440"/>
            <a:ext cx="10881360" cy="411480"/>
          </a:xfrm>
          <a:prstGeom prst="rect">
            <a:avLst/>
          </a:prstGeom>
          <a:noFill/>
          <a:ln/>
        </p:spPr>
        <p:txBody>
          <a:bodyPr wrap="square" lIns="0" tIns="0" rIns="0" bIns="0" rtlCol="0" anchor="ctr"/>
          <a:lstStyle/>
          <a:p>
            <a:pPr indent="0" marL="0">
              <a:buNone/>
            </a:pPr>
            <a:r>
              <a:rPr lang="en-US" sz="1500" dirty="0">
                <a:solidFill>
                  <a:srgbClr val="8B949E"/>
                </a:solidFill>
                <a:latin typeface="Calibri" pitchFamily="34" charset="0"/>
                <a:ea typeface="Calibri" pitchFamily="34" charset="-122"/>
                <a:cs typeface="Calibri" pitchFamily="34" charset="-120"/>
              </a:rPr>
              <a:t>Y por qué no depende de mí</a:t>
            </a:r>
            <a:endParaRPr lang="en-US" sz="1500" dirty="0"/>
          </a:p>
        </p:txBody>
      </p:sp>
      <p:sp>
        <p:nvSpPr>
          <p:cNvPr id="4" name="Shape 2"/>
          <p:cNvSpPr/>
          <p:nvPr/>
        </p:nvSpPr>
        <p:spPr>
          <a:xfrm>
            <a:off x="640080" y="1920240"/>
            <a:ext cx="10881360" cy="1554480"/>
          </a:xfrm>
          <a:prstGeom prst="roundRect">
            <a:avLst>
              <a:gd name="adj" fmla="val 5882"/>
            </a:avLst>
          </a:prstGeom>
          <a:solidFill>
            <a:srgbClr val="20242B"/>
          </a:solidFill>
          <a:ln/>
          <a:effectLst>
            <a:outerShdw sx="100000" sy="100000" kx="0" ky="0" algn="bl" rotWithShape="0" blurRad="127000" dist="25400" dir="5400000">
              <a:srgbClr val="000000">
                <a:alpha val="18000"/>
              </a:srgbClr>
            </a:outerShdw>
          </a:effectLst>
        </p:spPr>
      </p:sp>
      <p:sp>
        <p:nvSpPr>
          <p:cNvPr id="5" name="Text 3"/>
          <p:cNvSpPr/>
          <p:nvPr/>
        </p:nvSpPr>
        <p:spPr>
          <a:xfrm>
            <a:off x="1005840" y="1920240"/>
            <a:ext cx="10149840" cy="1554480"/>
          </a:xfrm>
          <a:prstGeom prst="rect">
            <a:avLst/>
          </a:prstGeom>
          <a:noFill/>
          <a:ln/>
        </p:spPr>
        <p:txBody>
          <a:bodyPr wrap="square" lIns="0" tIns="0" rIns="0" bIns="0" rtlCol="0" anchor="ctr"/>
          <a:lstStyle/>
          <a:p>
            <a:pPr indent="0" marL="0">
              <a:lnSpc>
                <a:spcPts val="2400"/>
              </a:lnSpc>
              <a:buNone/>
            </a:pPr>
            <a:r>
              <a:rPr lang="en-US" sz="1600" dirty="0">
                <a:solidFill>
                  <a:srgbClr val="ECEBE6"/>
                </a:solidFill>
                <a:latin typeface="Calibri" pitchFamily="34" charset="0"/>
                <a:ea typeface="Calibri" pitchFamily="34" charset="-122"/>
                <a:cs typeface="Calibri" pitchFamily="34" charset="-120"/>
              </a:rPr>
              <a:t>Para el siguiente paso necesito un montacargas que encienda y esté dedicado al proyecto. El que estaba usando le quitaron piezas para reparar otros, y el repuesto que esperaba se lo pusieron a otra máquina.</a:t>
            </a:r>
            <a:endParaRPr lang="en-US" sz="1600" dirty="0"/>
          </a:p>
        </p:txBody>
      </p:sp>
      <p:sp>
        <p:nvSpPr>
          <p:cNvPr id="6" name="Shape 4"/>
          <p:cNvSpPr/>
          <p:nvPr/>
        </p:nvSpPr>
        <p:spPr>
          <a:xfrm>
            <a:off x="640080" y="3749040"/>
            <a:ext cx="10881360" cy="1737360"/>
          </a:xfrm>
          <a:prstGeom prst="roundRect">
            <a:avLst>
              <a:gd name="adj" fmla="val 5263"/>
            </a:avLst>
          </a:prstGeom>
          <a:solidFill>
            <a:srgbClr val="20242B"/>
          </a:solidFill>
          <a:ln/>
          <a:effectLst>
            <a:outerShdw sx="100000" sy="100000" kx="0" ky="0" algn="bl" rotWithShape="0" blurRad="127000" dist="25400" dir="5400000">
              <a:srgbClr val="000000">
                <a:alpha val="18000"/>
              </a:srgbClr>
            </a:outerShdw>
          </a:effectLst>
        </p:spPr>
      </p:sp>
      <p:sp>
        <p:nvSpPr>
          <p:cNvPr id="7" name="Text 5"/>
          <p:cNvSpPr/>
          <p:nvPr/>
        </p:nvSpPr>
        <p:spPr>
          <a:xfrm>
            <a:off x="1005840" y="3977640"/>
            <a:ext cx="10149840" cy="457200"/>
          </a:xfrm>
          <a:prstGeom prst="rect">
            <a:avLst/>
          </a:prstGeom>
          <a:noFill/>
          <a:ln/>
        </p:spPr>
        <p:txBody>
          <a:bodyPr wrap="square" lIns="0" tIns="0" rIns="0" bIns="0" rtlCol="0" anchor="ctr"/>
          <a:lstStyle/>
          <a:p>
            <a:pPr indent="0" marL="0">
              <a:buNone/>
            </a:pPr>
            <a:r>
              <a:rPr lang="en-US" sz="2000" b="1" dirty="0">
                <a:solidFill>
                  <a:srgbClr val="E0A82E"/>
                </a:solidFill>
                <a:latin typeface="Cambria" pitchFamily="34" charset="0"/>
                <a:ea typeface="Cambria" pitchFamily="34" charset="-122"/>
                <a:cs typeface="Cambria" pitchFamily="34" charset="-120"/>
              </a:rPr>
              <a:t>No es falta de trabajo.</a:t>
            </a:r>
            <a:endParaRPr lang="en-US" sz="2000" dirty="0"/>
          </a:p>
        </p:txBody>
      </p:sp>
      <p:sp>
        <p:nvSpPr>
          <p:cNvPr id="8" name="Text 6"/>
          <p:cNvSpPr/>
          <p:nvPr/>
        </p:nvSpPr>
        <p:spPr>
          <a:xfrm>
            <a:off x="1005840" y="4526280"/>
            <a:ext cx="10149840" cy="822960"/>
          </a:xfrm>
          <a:prstGeom prst="rect">
            <a:avLst/>
          </a:prstGeom>
          <a:noFill/>
          <a:ln/>
        </p:spPr>
        <p:txBody>
          <a:bodyPr wrap="square" lIns="0" tIns="0" rIns="0" bIns="0" rtlCol="0" anchor="t"/>
          <a:lstStyle/>
          <a:p>
            <a:pPr indent="0" marL="0">
              <a:buNone/>
            </a:pPr>
            <a:r>
              <a:rPr lang="en-US" sz="1450" dirty="0">
                <a:solidFill>
                  <a:srgbClr val="8B949E"/>
                </a:solidFill>
                <a:latin typeface="Calibri" pitchFamily="34" charset="0"/>
                <a:ea typeface="Calibri" pitchFamily="34" charset="-122"/>
                <a:cs typeface="Calibri" pitchFamily="34" charset="-120"/>
              </a:rPr>
              <a:t>El trabajo de ingeniería está hecho. Lo que falta es que la empresa me dé una máquina funcional — y eso ya lo estoy gestionando con el dueño de Montasa.</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A1D23"/>
                </a:solidFill>
                <a:latin typeface="Cambria" pitchFamily="34" charset="0"/>
                <a:ea typeface="Cambria" pitchFamily="34" charset="-122"/>
                <a:cs typeface="Cambria" pitchFamily="34" charset="-120"/>
              </a:rPr>
              <a:t>Hacia dónde va</a:t>
            </a:r>
            <a:endParaRPr lang="en-US" sz="3200" dirty="0"/>
          </a:p>
        </p:txBody>
      </p:sp>
      <p:sp>
        <p:nvSpPr>
          <p:cNvPr id="3" name="Text 1"/>
          <p:cNvSpPr/>
          <p:nvPr/>
        </p:nvSpPr>
        <p:spPr>
          <a:xfrm>
            <a:off x="640080" y="1234440"/>
            <a:ext cx="10881360" cy="411480"/>
          </a:xfrm>
          <a:prstGeom prst="rect">
            <a:avLst/>
          </a:prstGeom>
          <a:noFill/>
          <a:ln/>
        </p:spPr>
        <p:txBody>
          <a:bodyPr wrap="square" lIns="0" tIns="0" rIns="0" bIns="0" rtlCol="0" anchor="ctr"/>
          <a:lstStyle/>
          <a:p>
            <a:pPr indent="0" marL="0">
              <a:buNone/>
            </a:pPr>
            <a:r>
              <a:rPr lang="en-US" sz="1500" dirty="0">
                <a:solidFill>
                  <a:srgbClr val="5B6470"/>
                </a:solidFill>
                <a:latin typeface="Calibri" pitchFamily="34" charset="0"/>
                <a:ea typeface="Calibri" pitchFamily="34" charset="-122"/>
                <a:cs typeface="Calibri" pitchFamily="34" charset="-120"/>
              </a:rPr>
              <a:t>Y con el respaldo de la empresa</a:t>
            </a:r>
            <a:endParaRPr lang="en-US" sz="1500" dirty="0"/>
          </a:p>
        </p:txBody>
      </p:sp>
      <p:sp>
        <p:nvSpPr>
          <p:cNvPr id="4" name="Shape 2"/>
          <p:cNvSpPr/>
          <p:nvPr/>
        </p:nvSpPr>
        <p:spPr>
          <a:xfrm>
            <a:off x="640080" y="2011680"/>
            <a:ext cx="3474720" cy="2743200"/>
          </a:xfrm>
          <a:prstGeom prst="roundRect">
            <a:avLst>
              <a:gd name="adj" fmla="val 3333"/>
            </a:avLst>
          </a:prstGeom>
          <a:solidFill>
            <a:srgbClr val="FFFFFF"/>
          </a:solidFill>
          <a:ln/>
          <a:effectLst>
            <a:outerShdw sx="100000" sy="100000" kx="0" ky="0" algn="bl" rotWithShape="0" blurRad="127000" dist="25400" dir="5400000">
              <a:srgbClr val="000000">
                <a:alpha val="18000"/>
              </a:srgbClr>
            </a:outerShdw>
          </a:effectLst>
        </p:spPr>
      </p:sp>
      <p:sp>
        <p:nvSpPr>
          <p:cNvPr id="5" name="Shape 3"/>
          <p:cNvSpPr/>
          <p:nvPr/>
        </p:nvSpPr>
        <p:spPr>
          <a:xfrm>
            <a:off x="640080" y="2011680"/>
            <a:ext cx="3474720" cy="109728"/>
          </a:xfrm>
          <a:prstGeom prst="rect">
            <a:avLst/>
          </a:prstGeom>
          <a:solidFill>
            <a:srgbClr val="2E6FB0"/>
          </a:solidFill>
          <a:ln/>
        </p:spPr>
      </p:sp>
      <p:sp>
        <p:nvSpPr>
          <p:cNvPr id="6" name="Text 4"/>
          <p:cNvSpPr/>
          <p:nvPr/>
        </p:nvSpPr>
        <p:spPr>
          <a:xfrm>
            <a:off x="960120" y="2377440"/>
            <a:ext cx="2926080" cy="457200"/>
          </a:xfrm>
          <a:prstGeom prst="rect">
            <a:avLst/>
          </a:prstGeom>
          <a:noFill/>
          <a:ln/>
        </p:spPr>
        <p:txBody>
          <a:bodyPr wrap="square" lIns="0" tIns="0" rIns="0" bIns="0" rtlCol="0" anchor="ctr"/>
          <a:lstStyle/>
          <a:p>
            <a:pPr indent="0" marL="0">
              <a:buNone/>
            </a:pPr>
            <a:r>
              <a:rPr lang="en-US" sz="1900" b="1" dirty="0">
                <a:solidFill>
                  <a:srgbClr val="1A1D23"/>
                </a:solidFill>
                <a:latin typeface="Cambria" pitchFamily="34" charset="0"/>
                <a:ea typeface="Cambria" pitchFamily="34" charset="-122"/>
                <a:cs typeface="Cambria" pitchFamily="34" charset="-120"/>
              </a:rPr>
              <a:t>Ahora</a:t>
            </a:r>
            <a:endParaRPr lang="en-US" sz="1900" dirty="0"/>
          </a:p>
        </p:txBody>
      </p:sp>
      <p:sp>
        <p:nvSpPr>
          <p:cNvPr id="7" name="Text 5"/>
          <p:cNvSpPr/>
          <p:nvPr/>
        </p:nvSpPr>
        <p:spPr>
          <a:xfrm>
            <a:off x="960120" y="3017520"/>
            <a:ext cx="2880360" cy="1554480"/>
          </a:xfrm>
          <a:prstGeom prst="rect">
            <a:avLst/>
          </a:prstGeom>
          <a:noFill/>
          <a:ln/>
        </p:spPr>
        <p:txBody>
          <a:bodyPr wrap="square" lIns="0" tIns="0" rIns="0" bIns="0" rtlCol="0" anchor="t"/>
          <a:lstStyle/>
          <a:p>
            <a:pPr indent="0" marL="0">
              <a:lnSpc>
                <a:spcPts val="2000"/>
              </a:lnSpc>
              <a:buNone/>
            </a:pPr>
            <a:r>
              <a:rPr lang="en-US" sz="1350" dirty="0">
                <a:solidFill>
                  <a:srgbClr val="5B6470"/>
                </a:solidFill>
                <a:latin typeface="Calibri" pitchFamily="34" charset="0"/>
                <a:ea typeface="Calibri" pitchFamily="34" charset="-122"/>
                <a:cs typeface="Calibri" pitchFamily="34" charset="-120"/>
              </a:rPr>
              <a:t>Reparar una máquina para usarla de plataforma y terminar de probar lo que ya construí.</a:t>
            </a:r>
            <a:endParaRPr lang="en-US" sz="1350" dirty="0"/>
          </a:p>
        </p:txBody>
      </p:sp>
      <p:sp>
        <p:nvSpPr>
          <p:cNvPr id="8" name="Shape 6"/>
          <p:cNvSpPr/>
          <p:nvPr/>
        </p:nvSpPr>
        <p:spPr>
          <a:xfrm>
            <a:off x="4343400" y="2011680"/>
            <a:ext cx="3474720" cy="2743200"/>
          </a:xfrm>
          <a:prstGeom prst="roundRect">
            <a:avLst>
              <a:gd name="adj" fmla="val 3333"/>
            </a:avLst>
          </a:prstGeom>
          <a:solidFill>
            <a:srgbClr val="FFFFFF"/>
          </a:solidFill>
          <a:ln/>
          <a:effectLst>
            <a:outerShdw sx="100000" sy="100000" kx="0" ky="0" algn="bl" rotWithShape="0" blurRad="127000" dist="25400" dir="5400000">
              <a:srgbClr val="000000">
                <a:alpha val="18000"/>
              </a:srgbClr>
            </a:outerShdw>
          </a:effectLst>
        </p:spPr>
      </p:sp>
      <p:sp>
        <p:nvSpPr>
          <p:cNvPr id="9" name="Shape 7"/>
          <p:cNvSpPr/>
          <p:nvPr/>
        </p:nvSpPr>
        <p:spPr>
          <a:xfrm>
            <a:off x="4343400" y="2011680"/>
            <a:ext cx="3474720" cy="109728"/>
          </a:xfrm>
          <a:prstGeom prst="rect">
            <a:avLst/>
          </a:prstGeom>
          <a:solidFill>
            <a:srgbClr val="E0A82E"/>
          </a:solidFill>
          <a:ln/>
        </p:spPr>
      </p:sp>
      <p:sp>
        <p:nvSpPr>
          <p:cNvPr id="10" name="Text 8"/>
          <p:cNvSpPr/>
          <p:nvPr/>
        </p:nvSpPr>
        <p:spPr>
          <a:xfrm>
            <a:off x="4663440" y="2377440"/>
            <a:ext cx="2926080" cy="457200"/>
          </a:xfrm>
          <a:prstGeom prst="rect">
            <a:avLst/>
          </a:prstGeom>
          <a:noFill/>
          <a:ln/>
        </p:spPr>
        <p:txBody>
          <a:bodyPr wrap="square" lIns="0" tIns="0" rIns="0" bIns="0" rtlCol="0" anchor="ctr"/>
          <a:lstStyle/>
          <a:p>
            <a:pPr indent="0" marL="0">
              <a:buNone/>
            </a:pPr>
            <a:r>
              <a:rPr lang="en-US" sz="1900" b="1" dirty="0">
                <a:solidFill>
                  <a:srgbClr val="1A1D23"/>
                </a:solidFill>
                <a:latin typeface="Cambria" pitchFamily="34" charset="0"/>
                <a:ea typeface="Cambria" pitchFamily="34" charset="-122"/>
                <a:cs typeface="Cambria" pitchFamily="34" charset="-120"/>
              </a:rPr>
              <a:t>Después</a:t>
            </a:r>
            <a:endParaRPr lang="en-US" sz="1900" dirty="0"/>
          </a:p>
        </p:txBody>
      </p:sp>
      <p:sp>
        <p:nvSpPr>
          <p:cNvPr id="11" name="Text 9"/>
          <p:cNvSpPr/>
          <p:nvPr/>
        </p:nvSpPr>
        <p:spPr>
          <a:xfrm>
            <a:off x="4663440" y="3017520"/>
            <a:ext cx="2880360" cy="1554480"/>
          </a:xfrm>
          <a:prstGeom prst="rect">
            <a:avLst/>
          </a:prstGeom>
          <a:noFill/>
          <a:ln/>
        </p:spPr>
        <p:txBody>
          <a:bodyPr wrap="square" lIns="0" tIns="0" rIns="0" bIns="0" rtlCol="0" anchor="t"/>
          <a:lstStyle/>
          <a:p>
            <a:pPr indent="0" marL="0">
              <a:lnSpc>
                <a:spcPts val="2000"/>
              </a:lnSpc>
              <a:buNone/>
            </a:pPr>
            <a:r>
              <a:rPr lang="en-US" sz="1350" dirty="0">
                <a:solidFill>
                  <a:srgbClr val="5B6470"/>
                </a:solidFill>
                <a:latin typeface="Calibri" pitchFamily="34" charset="0"/>
                <a:ea typeface="Calibri" pitchFamily="34" charset="-122"/>
                <a:cs typeface="Calibri" pitchFamily="34" charset="-120"/>
              </a:rPr>
              <a:t>Que el montacargas se ubique solo en el pasillo, con cámaras, y mueva la carga sin chofer.</a:t>
            </a:r>
            <a:endParaRPr lang="en-US" sz="1350" dirty="0"/>
          </a:p>
        </p:txBody>
      </p:sp>
      <p:sp>
        <p:nvSpPr>
          <p:cNvPr id="12" name="Shape 10"/>
          <p:cNvSpPr/>
          <p:nvPr/>
        </p:nvSpPr>
        <p:spPr>
          <a:xfrm>
            <a:off x="8046720" y="2011680"/>
            <a:ext cx="3474720" cy="2743200"/>
          </a:xfrm>
          <a:prstGeom prst="roundRect">
            <a:avLst>
              <a:gd name="adj" fmla="val 3333"/>
            </a:avLst>
          </a:prstGeom>
          <a:solidFill>
            <a:srgbClr val="FFFFFF"/>
          </a:solidFill>
          <a:ln/>
          <a:effectLst>
            <a:outerShdw sx="100000" sy="100000" kx="0" ky="0" algn="bl" rotWithShape="0" blurRad="127000" dist="25400" dir="5400000">
              <a:srgbClr val="000000">
                <a:alpha val="18000"/>
              </a:srgbClr>
            </a:outerShdw>
          </a:effectLst>
        </p:spPr>
      </p:sp>
      <p:sp>
        <p:nvSpPr>
          <p:cNvPr id="13" name="Shape 11"/>
          <p:cNvSpPr/>
          <p:nvPr/>
        </p:nvSpPr>
        <p:spPr>
          <a:xfrm>
            <a:off x="8046720" y="2011680"/>
            <a:ext cx="3474720" cy="109728"/>
          </a:xfrm>
          <a:prstGeom prst="rect">
            <a:avLst/>
          </a:prstGeom>
          <a:solidFill>
            <a:srgbClr val="2FA866"/>
          </a:solidFill>
          <a:ln/>
        </p:spPr>
      </p:sp>
      <p:sp>
        <p:nvSpPr>
          <p:cNvPr id="14" name="Text 12"/>
          <p:cNvSpPr/>
          <p:nvPr/>
        </p:nvSpPr>
        <p:spPr>
          <a:xfrm>
            <a:off x="8366760" y="2377440"/>
            <a:ext cx="2926080" cy="457200"/>
          </a:xfrm>
          <a:prstGeom prst="rect">
            <a:avLst/>
          </a:prstGeom>
          <a:noFill/>
          <a:ln/>
        </p:spPr>
        <p:txBody>
          <a:bodyPr wrap="square" lIns="0" tIns="0" rIns="0" bIns="0" rtlCol="0" anchor="ctr"/>
          <a:lstStyle/>
          <a:p>
            <a:pPr indent="0" marL="0">
              <a:buNone/>
            </a:pPr>
            <a:r>
              <a:rPr lang="en-US" sz="1900" b="1" dirty="0">
                <a:solidFill>
                  <a:srgbClr val="1A1D23"/>
                </a:solidFill>
                <a:latin typeface="Cambria" pitchFamily="34" charset="0"/>
                <a:ea typeface="Cambria" pitchFamily="34" charset="-122"/>
                <a:cs typeface="Cambria" pitchFamily="34" charset="-120"/>
              </a:rPr>
              <a:t>La meta</a:t>
            </a:r>
            <a:endParaRPr lang="en-US" sz="1900" dirty="0"/>
          </a:p>
        </p:txBody>
      </p:sp>
      <p:sp>
        <p:nvSpPr>
          <p:cNvPr id="15" name="Text 13"/>
          <p:cNvSpPr/>
          <p:nvPr/>
        </p:nvSpPr>
        <p:spPr>
          <a:xfrm>
            <a:off x="8366760" y="3017520"/>
            <a:ext cx="2880360" cy="1554480"/>
          </a:xfrm>
          <a:prstGeom prst="rect">
            <a:avLst/>
          </a:prstGeom>
          <a:noFill/>
          <a:ln/>
        </p:spPr>
        <p:txBody>
          <a:bodyPr wrap="square" lIns="0" tIns="0" rIns="0" bIns="0" rtlCol="0" anchor="t"/>
          <a:lstStyle/>
          <a:p>
            <a:pPr indent="0" marL="0">
              <a:lnSpc>
                <a:spcPts val="2000"/>
              </a:lnSpc>
              <a:buNone/>
            </a:pPr>
            <a:r>
              <a:rPr lang="en-US" sz="1350" dirty="0">
                <a:solidFill>
                  <a:srgbClr val="5B6470"/>
                </a:solidFill>
                <a:latin typeface="Calibri" pitchFamily="34" charset="0"/>
                <a:ea typeface="Calibri" pitchFamily="34" charset="-122"/>
                <a:cs typeface="Calibri" pitchFamily="34" charset="-120"/>
              </a:rPr>
              <a:t>Un kit que Montasa pueda vender e instalar en los montacargas de sus clientes.</a:t>
            </a:r>
            <a:endParaRPr lang="en-US" sz="1350" dirty="0"/>
          </a:p>
        </p:txBody>
      </p:sp>
      <p:sp>
        <p:nvSpPr>
          <p:cNvPr id="16" name="Shape 14"/>
          <p:cNvSpPr/>
          <p:nvPr/>
        </p:nvSpPr>
        <p:spPr>
          <a:xfrm>
            <a:off x="640080" y="5029200"/>
            <a:ext cx="10881360" cy="868680"/>
          </a:xfrm>
          <a:prstGeom prst="roundRect">
            <a:avLst>
              <a:gd name="adj" fmla="val 10526"/>
            </a:avLst>
          </a:prstGeom>
          <a:solidFill>
            <a:srgbClr val="ECE7DA"/>
          </a:solidFill>
          <a:ln/>
          <a:effectLst>
            <a:outerShdw sx="100000" sy="100000" kx="0" ky="0" algn="bl" rotWithShape="0" blurRad="127000" dist="25400" dir="5400000">
              <a:srgbClr val="000000">
                <a:alpha val="18000"/>
              </a:srgbClr>
            </a:outerShdw>
          </a:effectLst>
        </p:spPr>
      </p:sp>
      <p:sp>
        <p:nvSpPr>
          <p:cNvPr id="17" name="Text 15"/>
          <p:cNvSpPr/>
          <p:nvPr/>
        </p:nvSpPr>
        <p:spPr>
          <a:xfrm>
            <a:off x="1005840" y="5029200"/>
            <a:ext cx="10149840" cy="868680"/>
          </a:xfrm>
          <a:prstGeom prst="rect">
            <a:avLst/>
          </a:prstGeom>
          <a:noFill/>
          <a:ln/>
        </p:spPr>
        <p:txBody>
          <a:bodyPr wrap="square" lIns="0" tIns="0" rIns="0" bIns="0" rtlCol="0" anchor="ctr"/>
          <a:lstStyle/>
          <a:p>
            <a:pPr indent="0" marL="0">
              <a:buNone/>
            </a:pPr>
            <a:r>
              <a:rPr lang="en-US" sz="1500" b="1" dirty="0">
                <a:solidFill>
                  <a:srgbClr val="1A1D23"/>
                </a:solidFill>
                <a:latin typeface="Calibri" pitchFamily="34" charset="0"/>
                <a:ea typeface="Calibri" pitchFamily="34" charset="-122"/>
                <a:cs typeface="Calibri" pitchFamily="34" charset="-120"/>
              </a:rPr>
              <a:t>El dueño de Montasa ya está al tanto y me dio el visto bueno para seguir.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A1D23"/>
                </a:solidFill>
                <a:latin typeface="Cambria" pitchFamily="34" charset="0"/>
                <a:ea typeface="Cambria" pitchFamily="34" charset="-122"/>
                <a:cs typeface="Cambria" pitchFamily="34" charset="-120"/>
              </a:rPr>
              <a:t>Esto no es un proyecto cualquiera</a:t>
            </a:r>
            <a:endParaRPr lang="en-US" sz="3200" dirty="0"/>
          </a:p>
        </p:txBody>
      </p:sp>
      <p:sp>
        <p:nvSpPr>
          <p:cNvPr id="3" name="Text 1"/>
          <p:cNvSpPr/>
          <p:nvPr/>
        </p:nvSpPr>
        <p:spPr>
          <a:xfrm>
            <a:off x="640080" y="1234440"/>
            <a:ext cx="10881360" cy="411480"/>
          </a:xfrm>
          <a:prstGeom prst="rect">
            <a:avLst/>
          </a:prstGeom>
          <a:noFill/>
          <a:ln/>
        </p:spPr>
        <p:txBody>
          <a:bodyPr wrap="square" lIns="0" tIns="0" rIns="0" bIns="0" rtlCol="0" anchor="ctr"/>
          <a:lstStyle/>
          <a:p>
            <a:pPr indent="0" marL="0">
              <a:buNone/>
            </a:pPr>
            <a:r>
              <a:rPr lang="en-US" sz="1500" dirty="0">
                <a:solidFill>
                  <a:srgbClr val="5B6470"/>
                </a:solidFill>
                <a:latin typeface="Calibri" pitchFamily="34" charset="0"/>
                <a:ea typeface="Calibri" pitchFamily="34" charset="-122"/>
                <a:cs typeface="Calibri" pitchFamily="34" charset="-120"/>
              </a:rPr>
              <a:t>Es experiencia de ingeniería que vale en el mercado laboral del mundo</a:t>
            </a:r>
            <a:endParaRPr lang="en-US" sz="1500" dirty="0"/>
          </a:p>
        </p:txBody>
      </p:sp>
      <p:sp>
        <p:nvSpPr>
          <p:cNvPr id="4" name="Shape 2"/>
          <p:cNvSpPr/>
          <p:nvPr/>
        </p:nvSpPr>
        <p:spPr>
          <a:xfrm>
            <a:off x="640080" y="1783080"/>
            <a:ext cx="10881360" cy="914400"/>
          </a:xfrm>
          <a:prstGeom prst="roundRect">
            <a:avLst>
              <a:gd name="adj" fmla="val 10000"/>
            </a:avLst>
          </a:prstGeom>
          <a:solidFill>
            <a:srgbClr val="FFFFFF"/>
          </a:solidFill>
          <a:ln/>
          <a:effectLst>
            <a:outerShdw sx="100000" sy="100000" kx="0" ky="0" algn="bl" rotWithShape="0" blurRad="127000" dist="25400" dir="5400000">
              <a:srgbClr val="000000">
                <a:alpha val="18000"/>
              </a:srgbClr>
            </a:outerShdw>
          </a:effectLst>
        </p:spPr>
      </p:sp>
      <p:sp>
        <p:nvSpPr>
          <p:cNvPr id="5" name="Text 3"/>
          <p:cNvSpPr/>
          <p:nvPr/>
        </p:nvSpPr>
        <p:spPr>
          <a:xfrm>
            <a:off x="1005840" y="1783080"/>
            <a:ext cx="10149840" cy="914400"/>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Lo que estoy aprendiendo haciendo esto es exactamente lo que buscan las empresas de ingeniería — en Europa y donde sea.</a:t>
            </a:r>
            <a:endParaRPr lang="en-US" sz="1550" dirty="0"/>
          </a:p>
        </p:txBody>
      </p:sp>
      <p:sp>
        <p:nvSpPr>
          <p:cNvPr id="6" name="Shape 4"/>
          <p:cNvSpPr/>
          <p:nvPr/>
        </p:nvSpPr>
        <p:spPr>
          <a:xfrm>
            <a:off x="640080" y="2926080"/>
            <a:ext cx="5257800" cy="1005840"/>
          </a:xfrm>
          <a:prstGeom prst="roundRect">
            <a:avLst>
              <a:gd name="adj" fmla="val 9091"/>
            </a:avLst>
          </a:prstGeom>
          <a:solidFill>
            <a:srgbClr val="FFFFFF"/>
          </a:solidFill>
          <a:ln/>
          <a:effectLst>
            <a:outerShdw sx="100000" sy="100000" kx="0" ky="0" algn="bl" rotWithShape="0" blurRad="127000" dist="25400" dir="5400000">
              <a:srgbClr val="000000">
                <a:alpha val="18000"/>
              </a:srgbClr>
            </a:outerShdw>
          </a:effectLst>
        </p:spPr>
      </p:sp>
      <p:sp>
        <p:nvSpPr>
          <p:cNvPr id="7" name="Shape 5"/>
          <p:cNvSpPr/>
          <p:nvPr/>
        </p:nvSpPr>
        <p:spPr>
          <a:xfrm>
            <a:off x="640080" y="2926080"/>
            <a:ext cx="82296" cy="1005840"/>
          </a:xfrm>
          <a:prstGeom prst="rect">
            <a:avLst/>
          </a:prstGeom>
          <a:solidFill>
            <a:srgbClr val="2E6FB0"/>
          </a:solidFill>
          <a:ln/>
        </p:spPr>
      </p:sp>
      <p:sp>
        <p:nvSpPr>
          <p:cNvPr id="8" name="Text 6"/>
          <p:cNvSpPr/>
          <p:nvPr/>
        </p:nvSpPr>
        <p:spPr>
          <a:xfrm>
            <a:off x="960120" y="3090672"/>
            <a:ext cx="4846320" cy="365760"/>
          </a:xfrm>
          <a:prstGeom prst="rect">
            <a:avLst/>
          </a:prstGeom>
          <a:noFill/>
          <a:ln/>
        </p:spPr>
        <p:txBody>
          <a:bodyPr wrap="square" lIns="0" tIns="0" rIns="0" bIns="0" rtlCol="0" anchor="ctr"/>
          <a:lstStyle/>
          <a:p>
            <a:pPr indent="0" marL="0">
              <a:buNone/>
            </a:pPr>
            <a:r>
              <a:rPr lang="en-US" sz="1400" b="1" dirty="0">
                <a:solidFill>
                  <a:srgbClr val="1A1D23"/>
                </a:solidFill>
                <a:latin typeface="Cambria" pitchFamily="34" charset="0"/>
                <a:ea typeface="Cambria" pitchFamily="34" charset="-122"/>
                <a:cs typeface="Cambria" pitchFamily="34" charset="-120"/>
              </a:rPr>
              <a:t>Ingeniería inversa de sistemas</a:t>
            </a:r>
            <a:endParaRPr lang="en-US" sz="1400" dirty="0"/>
          </a:p>
        </p:txBody>
      </p:sp>
      <p:sp>
        <p:nvSpPr>
          <p:cNvPr id="9" name="Text 7"/>
          <p:cNvSpPr/>
          <p:nvPr/>
        </p:nvSpPr>
        <p:spPr>
          <a:xfrm>
            <a:off x="960120" y="3456432"/>
            <a:ext cx="4846320" cy="411480"/>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Leerle y hablarle al bus de una máquina cerrada.</a:t>
            </a:r>
            <a:endParaRPr lang="en-US" sz="1200" dirty="0"/>
          </a:p>
        </p:txBody>
      </p:sp>
      <p:sp>
        <p:nvSpPr>
          <p:cNvPr id="10" name="Shape 8"/>
          <p:cNvSpPr/>
          <p:nvPr/>
        </p:nvSpPr>
        <p:spPr>
          <a:xfrm>
            <a:off x="6263640" y="2926080"/>
            <a:ext cx="5257800" cy="1005840"/>
          </a:xfrm>
          <a:prstGeom prst="roundRect">
            <a:avLst>
              <a:gd name="adj" fmla="val 9091"/>
            </a:avLst>
          </a:prstGeom>
          <a:solidFill>
            <a:srgbClr val="FFFFFF"/>
          </a:solidFill>
          <a:ln/>
          <a:effectLst>
            <a:outerShdw sx="100000" sy="100000" kx="0" ky="0" algn="bl" rotWithShape="0" blurRad="127000" dist="25400" dir="5400000">
              <a:srgbClr val="000000">
                <a:alpha val="18000"/>
              </a:srgbClr>
            </a:outerShdw>
          </a:effectLst>
        </p:spPr>
      </p:sp>
      <p:sp>
        <p:nvSpPr>
          <p:cNvPr id="11" name="Shape 9"/>
          <p:cNvSpPr/>
          <p:nvPr/>
        </p:nvSpPr>
        <p:spPr>
          <a:xfrm>
            <a:off x="6263640" y="2926080"/>
            <a:ext cx="82296" cy="1005840"/>
          </a:xfrm>
          <a:prstGeom prst="rect">
            <a:avLst/>
          </a:prstGeom>
          <a:solidFill>
            <a:srgbClr val="2E6FB0"/>
          </a:solidFill>
          <a:ln/>
        </p:spPr>
      </p:sp>
      <p:sp>
        <p:nvSpPr>
          <p:cNvPr id="12" name="Text 10"/>
          <p:cNvSpPr/>
          <p:nvPr/>
        </p:nvSpPr>
        <p:spPr>
          <a:xfrm>
            <a:off x="6583680" y="3090672"/>
            <a:ext cx="4846320" cy="365760"/>
          </a:xfrm>
          <a:prstGeom prst="rect">
            <a:avLst/>
          </a:prstGeom>
          <a:noFill/>
          <a:ln/>
        </p:spPr>
        <p:txBody>
          <a:bodyPr wrap="square" lIns="0" tIns="0" rIns="0" bIns="0" rtlCol="0" anchor="ctr"/>
          <a:lstStyle/>
          <a:p>
            <a:pPr indent="0" marL="0">
              <a:buNone/>
            </a:pPr>
            <a:r>
              <a:rPr lang="en-US" sz="1400" b="1" dirty="0">
                <a:solidFill>
                  <a:srgbClr val="1A1D23"/>
                </a:solidFill>
                <a:latin typeface="Cambria" pitchFamily="34" charset="0"/>
                <a:ea typeface="Cambria" pitchFamily="34" charset="-122"/>
                <a:cs typeface="Cambria" pitchFamily="34" charset="-120"/>
              </a:rPr>
              <a:t>Sistemas embebidos y firmware</a:t>
            </a:r>
            <a:endParaRPr lang="en-US" sz="1400" dirty="0"/>
          </a:p>
        </p:txBody>
      </p:sp>
      <p:sp>
        <p:nvSpPr>
          <p:cNvPr id="13" name="Text 11"/>
          <p:cNvSpPr/>
          <p:nvPr/>
        </p:nvSpPr>
        <p:spPr>
          <a:xfrm>
            <a:off x="6583680" y="3456432"/>
            <a:ext cx="4846320" cy="411480"/>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Programar los microcontroladores que mandan.</a:t>
            </a:r>
            <a:endParaRPr lang="en-US" sz="1200" dirty="0"/>
          </a:p>
        </p:txBody>
      </p:sp>
      <p:sp>
        <p:nvSpPr>
          <p:cNvPr id="14" name="Shape 12"/>
          <p:cNvSpPr/>
          <p:nvPr/>
        </p:nvSpPr>
        <p:spPr>
          <a:xfrm>
            <a:off x="640080" y="4069080"/>
            <a:ext cx="5257800" cy="1005840"/>
          </a:xfrm>
          <a:prstGeom prst="roundRect">
            <a:avLst>
              <a:gd name="adj" fmla="val 9091"/>
            </a:avLst>
          </a:prstGeom>
          <a:solidFill>
            <a:srgbClr val="FFFFFF"/>
          </a:solidFill>
          <a:ln/>
          <a:effectLst>
            <a:outerShdw sx="100000" sy="100000" kx="0" ky="0" algn="bl" rotWithShape="0" blurRad="127000" dist="25400" dir="5400000">
              <a:srgbClr val="000000">
                <a:alpha val="18000"/>
              </a:srgbClr>
            </a:outerShdw>
          </a:effectLst>
        </p:spPr>
      </p:sp>
      <p:sp>
        <p:nvSpPr>
          <p:cNvPr id="15" name="Shape 13"/>
          <p:cNvSpPr/>
          <p:nvPr/>
        </p:nvSpPr>
        <p:spPr>
          <a:xfrm>
            <a:off x="640080" y="4069080"/>
            <a:ext cx="82296" cy="1005840"/>
          </a:xfrm>
          <a:prstGeom prst="rect">
            <a:avLst/>
          </a:prstGeom>
          <a:solidFill>
            <a:srgbClr val="2E6FB0"/>
          </a:solidFill>
          <a:ln/>
        </p:spPr>
      </p:sp>
      <p:sp>
        <p:nvSpPr>
          <p:cNvPr id="16" name="Text 14"/>
          <p:cNvSpPr/>
          <p:nvPr/>
        </p:nvSpPr>
        <p:spPr>
          <a:xfrm>
            <a:off x="960120" y="4233672"/>
            <a:ext cx="4846320" cy="365760"/>
          </a:xfrm>
          <a:prstGeom prst="rect">
            <a:avLst/>
          </a:prstGeom>
          <a:noFill/>
          <a:ln/>
        </p:spPr>
        <p:txBody>
          <a:bodyPr wrap="square" lIns="0" tIns="0" rIns="0" bIns="0" rtlCol="0" anchor="ctr"/>
          <a:lstStyle/>
          <a:p>
            <a:pPr indent="0" marL="0">
              <a:buNone/>
            </a:pPr>
            <a:r>
              <a:rPr lang="en-US" sz="1400" b="1" dirty="0">
                <a:solidFill>
                  <a:srgbClr val="1A1D23"/>
                </a:solidFill>
                <a:latin typeface="Cambria" pitchFamily="34" charset="0"/>
                <a:ea typeface="Cambria" pitchFamily="34" charset="-122"/>
                <a:cs typeface="Cambria" pitchFamily="34" charset="-120"/>
              </a:rPr>
              <a:t>Control y automatización</a:t>
            </a:r>
            <a:endParaRPr lang="en-US" sz="1400" dirty="0"/>
          </a:p>
        </p:txBody>
      </p:sp>
      <p:sp>
        <p:nvSpPr>
          <p:cNvPr id="17" name="Text 15"/>
          <p:cNvSpPr/>
          <p:nvPr/>
        </p:nvSpPr>
        <p:spPr>
          <a:xfrm>
            <a:off x="960120" y="4599432"/>
            <a:ext cx="4846320" cy="411480"/>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Manejar maquinaria pesada con seguridad.</a:t>
            </a:r>
            <a:endParaRPr lang="en-US" sz="1200" dirty="0"/>
          </a:p>
        </p:txBody>
      </p:sp>
      <p:sp>
        <p:nvSpPr>
          <p:cNvPr id="18" name="Shape 16"/>
          <p:cNvSpPr/>
          <p:nvPr/>
        </p:nvSpPr>
        <p:spPr>
          <a:xfrm>
            <a:off x="6263640" y="4069080"/>
            <a:ext cx="5257800" cy="1005840"/>
          </a:xfrm>
          <a:prstGeom prst="roundRect">
            <a:avLst>
              <a:gd name="adj" fmla="val 9091"/>
            </a:avLst>
          </a:prstGeom>
          <a:solidFill>
            <a:srgbClr val="FFFFFF"/>
          </a:solidFill>
          <a:ln/>
          <a:effectLst>
            <a:outerShdw sx="100000" sy="100000" kx="0" ky="0" algn="bl" rotWithShape="0" blurRad="127000" dist="25400" dir="5400000">
              <a:srgbClr val="000000">
                <a:alpha val="18000"/>
              </a:srgbClr>
            </a:outerShdw>
          </a:effectLst>
        </p:spPr>
      </p:sp>
      <p:sp>
        <p:nvSpPr>
          <p:cNvPr id="19" name="Shape 17"/>
          <p:cNvSpPr/>
          <p:nvPr/>
        </p:nvSpPr>
        <p:spPr>
          <a:xfrm>
            <a:off x="6263640" y="4069080"/>
            <a:ext cx="82296" cy="1005840"/>
          </a:xfrm>
          <a:prstGeom prst="rect">
            <a:avLst/>
          </a:prstGeom>
          <a:solidFill>
            <a:srgbClr val="2E6FB0"/>
          </a:solidFill>
          <a:ln/>
        </p:spPr>
      </p:sp>
      <p:sp>
        <p:nvSpPr>
          <p:cNvPr id="20" name="Text 18"/>
          <p:cNvSpPr/>
          <p:nvPr/>
        </p:nvSpPr>
        <p:spPr>
          <a:xfrm>
            <a:off x="6583680" y="4233672"/>
            <a:ext cx="4846320" cy="365760"/>
          </a:xfrm>
          <a:prstGeom prst="rect">
            <a:avLst/>
          </a:prstGeom>
          <a:noFill/>
          <a:ln/>
        </p:spPr>
        <p:txBody>
          <a:bodyPr wrap="square" lIns="0" tIns="0" rIns="0" bIns="0" rtlCol="0" anchor="ctr"/>
          <a:lstStyle/>
          <a:p>
            <a:pPr indent="0" marL="0">
              <a:buNone/>
            </a:pPr>
            <a:r>
              <a:rPr lang="en-US" sz="1400" b="1" dirty="0">
                <a:solidFill>
                  <a:srgbClr val="1A1D23"/>
                </a:solidFill>
                <a:latin typeface="Cambria" pitchFamily="34" charset="0"/>
                <a:ea typeface="Cambria" pitchFamily="34" charset="-122"/>
                <a:cs typeface="Cambria" pitchFamily="34" charset="-120"/>
              </a:rPr>
              <a:t>Robótica autónoma</a:t>
            </a:r>
            <a:endParaRPr lang="en-US" sz="1400" dirty="0"/>
          </a:p>
        </p:txBody>
      </p:sp>
      <p:sp>
        <p:nvSpPr>
          <p:cNvPr id="21" name="Text 19"/>
          <p:cNvSpPr/>
          <p:nvPr/>
        </p:nvSpPr>
        <p:spPr>
          <a:xfrm>
            <a:off x="6583680" y="4599432"/>
            <a:ext cx="4846320" cy="411480"/>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Sensores, cámaras y ubicación en el espacio.</a:t>
            </a:r>
            <a:endParaRPr lang="en-US" sz="1200" dirty="0"/>
          </a:p>
        </p:txBody>
      </p:sp>
      <p:sp>
        <p:nvSpPr>
          <p:cNvPr id="22" name="Text 20"/>
          <p:cNvSpPr/>
          <p:nvPr/>
        </p:nvSpPr>
        <p:spPr>
          <a:xfrm>
            <a:off x="640080" y="5394960"/>
            <a:ext cx="10881360" cy="45720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Pocos ingenieros recién salidos las tienen — y menos aún las han hecho con sus manos en una máquina real.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ECEBE6"/>
                </a:solidFill>
                <a:latin typeface="Cambria" pitchFamily="34" charset="0"/>
                <a:ea typeface="Cambria" pitchFamily="34" charset="-122"/>
                <a:cs typeface="Cambria" pitchFamily="34" charset="-120"/>
              </a:rPr>
              <a:t>El plan tiene red</a:t>
            </a:r>
            <a:endParaRPr lang="en-US" sz="3200" dirty="0"/>
          </a:p>
        </p:txBody>
      </p:sp>
      <p:sp>
        <p:nvSpPr>
          <p:cNvPr id="3" name="Text 1"/>
          <p:cNvSpPr/>
          <p:nvPr/>
        </p:nvSpPr>
        <p:spPr>
          <a:xfrm>
            <a:off x="640080" y="1234440"/>
            <a:ext cx="10881360" cy="411480"/>
          </a:xfrm>
          <a:prstGeom prst="rect">
            <a:avLst/>
          </a:prstGeom>
          <a:noFill/>
          <a:ln/>
        </p:spPr>
        <p:txBody>
          <a:bodyPr wrap="square" lIns="0" tIns="0" rIns="0" bIns="0" rtlCol="0" anchor="ctr"/>
          <a:lstStyle/>
          <a:p>
            <a:pPr indent="0" marL="0">
              <a:buNone/>
            </a:pPr>
            <a:r>
              <a:rPr lang="en-US" sz="1500" dirty="0">
                <a:solidFill>
                  <a:srgbClr val="8B949E"/>
                </a:solidFill>
                <a:latin typeface="Calibri" pitchFamily="34" charset="0"/>
                <a:ea typeface="Calibri" pitchFamily="34" charset="-122"/>
                <a:cs typeface="Calibri" pitchFamily="34" charset="-120"/>
              </a:rPr>
              <a:t>Pase lo que pase con el proyecto, esta experiencia ya me abrió una puerta</a:t>
            </a:r>
            <a:endParaRPr lang="en-US" sz="1500" dirty="0"/>
          </a:p>
        </p:txBody>
      </p:sp>
      <p:sp>
        <p:nvSpPr>
          <p:cNvPr id="4" name="Shape 2"/>
          <p:cNvSpPr/>
          <p:nvPr/>
        </p:nvSpPr>
        <p:spPr>
          <a:xfrm>
            <a:off x="640080" y="2011680"/>
            <a:ext cx="3474720" cy="2651760"/>
          </a:xfrm>
          <a:prstGeom prst="roundRect">
            <a:avLst>
              <a:gd name="adj" fmla="val 3448"/>
            </a:avLst>
          </a:prstGeom>
          <a:solidFill>
            <a:srgbClr val="20242B"/>
          </a:solidFill>
          <a:ln/>
          <a:effectLst>
            <a:outerShdw sx="100000" sy="100000" kx="0" ky="0" algn="bl" rotWithShape="0" blurRad="127000" dist="25400" dir="5400000">
              <a:srgbClr val="000000">
                <a:alpha val="18000"/>
              </a:srgbClr>
            </a:outerShdw>
          </a:effectLst>
        </p:spPr>
      </p:sp>
      <p:sp>
        <p:nvSpPr>
          <p:cNvPr id="5" name="Shape 3"/>
          <p:cNvSpPr/>
          <p:nvPr/>
        </p:nvSpPr>
        <p:spPr>
          <a:xfrm>
            <a:off x="640080" y="2011680"/>
            <a:ext cx="3474720" cy="109728"/>
          </a:xfrm>
          <a:prstGeom prst="rect">
            <a:avLst/>
          </a:prstGeom>
          <a:solidFill>
            <a:srgbClr val="2FA866"/>
          </a:solidFill>
          <a:ln/>
        </p:spPr>
      </p:sp>
      <p:sp>
        <p:nvSpPr>
          <p:cNvPr id="6" name="Text 4"/>
          <p:cNvSpPr/>
          <p:nvPr/>
        </p:nvSpPr>
        <p:spPr>
          <a:xfrm>
            <a:off x="960120" y="2377440"/>
            <a:ext cx="2926080" cy="457200"/>
          </a:xfrm>
          <a:prstGeom prst="rect">
            <a:avLst/>
          </a:prstGeom>
          <a:noFill/>
          <a:ln/>
        </p:spPr>
        <p:txBody>
          <a:bodyPr wrap="square" lIns="0" tIns="0" rIns="0" bIns="0" rtlCol="0" anchor="ctr"/>
          <a:lstStyle/>
          <a:p>
            <a:pPr indent="0" marL="0">
              <a:buNone/>
            </a:pPr>
            <a:r>
              <a:rPr lang="en-US" sz="1800" b="1" dirty="0">
                <a:solidFill>
                  <a:srgbClr val="ECEBE6"/>
                </a:solidFill>
                <a:latin typeface="Cambria" pitchFamily="34" charset="0"/>
                <a:ea typeface="Cambria" pitchFamily="34" charset="-122"/>
                <a:cs typeface="Cambria" pitchFamily="34" charset="-120"/>
              </a:rPr>
              <a:t>Si sale</a:t>
            </a:r>
            <a:endParaRPr lang="en-US" sz="1800" dirty="0"/>
          </a:p>
        </p:txBody>
      </p:sp>
      <p:sp>
        <p:nvSpPr>
          <p:cNvPr id="7" name="Text 5"/>
          <p:cNvSpPr/>
          <p:nvPr/>
        </p:nvSpPr>
        <p:spPr>
          <a:xfrm>
            <a:off x="960120" y="3017520"/>
            <a:ext cx="2880360" cy="1463040"/>
          </a:xfrm>
          <a:prstGeom prst="rect">
            <a:avLst/>
          </a:prstGeom>
          <a:noFill/>
          <a:ln/>
        </p:spPr>
        <p:txBody>
          <a:bodyPr wrap="square" lIns="0" tIns="0" rIns="0" bIns="0" rtlCol="0" anchor="t"/>
          <a:lstStyle/>
          <a:p>
            <a:pPr indent="0" marL="0">
              <a:lnSpc>
                <a:spcPts val="2000"/>
              </a:lnSpc>
              <a:buNone/>
            </a:pPr>
            <a:r>
              <a:rPr lang="en-US" sz="1300" dirty="0">
                <a:solidFill>
                  <a:srgbClr val="8B949E"/>
                </a:solidFill>
                <a:latin typeface="Calibri" pitchFamily="34" charset="0"/>
                <a:ea typeface="Calibri" pitchFamily="34" charset="-122"/>
                <a:cs typeface="Calibri" pitchFamily="34" charset="-120"/>
              </a:rPr>
              <a:t>Levanto mi empresa, vendo el primer TaTa, consigo el Aula — y sigo construyendo esto acá.</a:t>
            </a:r>
            <a:endParaRPr lang="en-US" sz="1300" dirty="0"/>
          </a:p>
        </p:txBody>
      </p:sp>
      <p:sp>
        <p:nvSpPr>
          <p:cNvPr id="8" name="Shape 6"/>
          <p:cNvSpPr/>
          <p:nvPr/>
        </p:nvSpPr>
        <p:spPr>
          <a:xfrm>
            <a:off x="4343400" y="2011680"/>
            <a:ext cx="3474720" cy="2651760"/>
          </a:xfrm>
          <a:prstGeom prst="roundRect">
            <a:avLst>
              <a:gd name="adj" fmla="val 3448"/>
            </a:avLst>
          </a:prstGeom>
          <a:solidFill>
            <a:srgbClr val="20242B"/>
          </a:solidFill>
          <a:ln/>
          <a:effectLst>
            <a:outerShdw sx="100000" sy="100000" kx="0" ky="0" algn="bl" rotWithShape="0" blurRad="127000" dist="25400" dir="5400000">
              <a:srgbClr val="000000">
                <a:alpha val="18000"/>
              </a:srgbClr>
            </a:outerShdw>
          </a:effectLst>
        </p:spPr>
      </p:sp>
      <p:sp>
        <p:nvSpPr>
          <p:cNvPr id="9" name="Shape 7"/>
          <p:cNvSpPr/>
          <p:nvPr/>
        </p:nvSpPr>
        <p:spPr>
          <a:xfrm>
            <a:off x="4343400" y="2011680"/>
            <a:ext cx="3474720" cy="109728"/>
          </a:xfrm>
          <a:prstGeom prst="rect">
            <a:avLst/>
          </a:prstGeom>
          <a:solidFill>
            <a:srgbClr val="E0A82E"/>
          </a:solidFill>
          <a:ln/>
        </p:spPr>
      </p:sp>
      <p:sp>
        <p:nvSpPr>
          <p:cNvPr id="10" name="Text 8"/>
          <p:cNvSpPr/>
          <p:nvPr/>
        </p:nvSpPr>
        <p:spPr>
          <a:xfrm>
            <a:off x="4663440" y="2377440"/>
            <a:ext cx="2926080" cy="457200"/>
          </a:xfrm>
          <a:prstGeom prst="rect">
            <a:avLst/>
          </a:prstGeom>
          <a:noFill/>
          <a:ln/>
        </p:spPr>
        <p:txBody>
          <a:bodyPr wrap="square" lIns="0" tIns="0" rIns="0" bIns="0" rtlCol="0" anchor="ctr"/>
          <a:lstStyle/>
          <a:p>
            <a:pPr indent="0" marL="0">
              <a:buNone/>
            </a:pPr>
            <a:r>
              <a:rPr lang="en-US" sz="1800" b="1" dirty="0">
                <a:solidFill>
                  <a:srgbClr val="ECEBE6"/>
                </a:solidFill>
                <a:latin typeface="Cambria" pitchFamily="34" charset="0"/>
                <a:ea typeface="Cambria" pitchFamily="34" charset="-122"/>
                <a:cs typeface="Cambria" pitchFamily="34" charset="-120"/>
              </a:rPr>
              <a:t>Si no sale</a:t>
            </a:r>
            <a:endParaRPr lang="en-US" sz="1800" dirty="0"/>
          </a:p>
        </p:txBody>
      </p:sp>
      <p:sp>
        <p:nvSpPr>
          <p:cNvPr id="11" name="Text 9"/>
          <p:cNvSpPr/>
          <p:nvPr/>
        </p:nvSpPr>
        <p:spPr>
          <a:xfrm>
            <a:off x="4663440" y="3017520"/>
            <a:ext cx="2880360" cy="1463040"/>
          </a:xfrm>
          <a:prstGeom prst="rect">
            <a:avLst/>
          </a:prstGeom>
          <a:noFill/>
          <a:ln/>
        </p:spPr>
        <p:txBody>
          <a:bodyPr wrap="square" lIns="0" tIns="0" rIns="0" bIns="0" rtlCol="0" anchor="t"/>
          <a:lstStyle/>
          <a:p>
            <a:pPr indent="0" marL="0">
              <a:lnSpc>
                <a:spcPts val="2000"/>
              </a:lnSpc>
              <a:buNone/>
            </a:pPr>
            <a:r>
              <a:rPr lang="en-US" sz="1300" dirty="0">
                <a:solidFill>
                  <a:srgbClr val="8B949E"/>
                </a:solidFill>
                <a:latin typeface="Calibri" pitchFamily="34" charset="0"/>
                <a:ea typeface="Calibri" pitchFamily="34" charset="-122"/>
                <a:cs typeface="Calibri" pitchFamily="34" charset="-120"/>
              </a:rPr>
              <a:t>Esta misma experiencia me abre un trabajo de ingeniería en una empresa en Europa.</a:t>
            </a:r>
            <a:endParaRPr lang="en-US" sz="1300" dirty="0"/>
          </a:p>
        </p:txBody>
      </p:sp>
      <p:sp>
        <p:nvSpPr>
          <p:cNvPr id="12" name="Shape 10"/>
          <p:cNvSpPr/>
          <p:nvPr/>
        </p:nvSpPr>
        <p:spPr>
          <a:xfrm>
            <a:off x="8046720" y="2011680"/>
            <a:ext cx="3474720" cy="2651760"/>
          </a:xfrm>
          <a:prstGeom prst="roundRect">
            <a:avLst>
              <a:gd name="adj" fmla="val 3448"/>
            </a:avLst>
          </a:prstGeom>
          <a:solidFill>
            <a:srgbClr val="20242B"/>
          </a:solidFill>
          <a:ln/>
          <a:effectLst>
            <a:outerShdw sx="100000" sy="100000" kx="0" ky="0" algn="bl" rotWithShape="0" blurRad="127000" dist="25400" dir="5400000">
              <a:srgbClr val="000000">
                <a:alpha val="18000"/>
              </a:srgbClr>
            </a:outerShdw>
          </a:effectLst>
        </p:spPr>
      </p:sp>
      <p:sp>
        <p:nvSpPr>
          <p:cNvPr id="13" name="Shape 11"/>
          <p:cNvSpPr/>
          <p:nvPr/>
        </p:nvSpPr>
        <p:spPr>
          <a:xfrm>
            <a:off x="8046720" y="2011680"/>
            <a:ext cx="3474720" cy="109728"/>
          </a:xfrm>
          <a:prstGeom prst="rect">
            <a:avLst/>
          </a:prstGeom>
          <a:solidFill>
            <a:srgbClr val="2E6FB0"/>
          </a:solidFill>
          <a:ln/>
        </p:spPr>
      </p:sp>
      <p:sp>
        <p:nvSpPr>
          <p:cNvPr id="14" name="Text 12"/>
          <p:cNvSpPr/>
          <p:nvPr/>
        </p:nvSpPr>
        <p:spPr>
          <a:xfrm>
            <a:off x="8366760" y="2377440"/>
            <a:ext cx="2926080" cy="457200"/>
          </a:xfrm>
          <a:prstGeom prst="rect">
            <a:avLst/>
          </a:prstGeom>
          <a:noFill/>
          <a:ln/>
        </p:spPr>
        <p:txBody>
          <a:bodyPr wrap="square" lIns="0" tIns="0" rIns="0" bIns="0" rtlCol="0" anchor="ctr"/>
          <a:lstStyle/>
          <a:p>
            <a:pPr indent="0" marL="0">
              <a:buNone/>
            </a:pPr>
            <a:r>
              <a:rPr lang="en-US" sz="1800" b="1" dirty="0">
                <a:solidFill>
                  <a:srgbClr val="ECEBE6"/>
                </a:solidFill>
                <a:latin typeface="Cambria" pitchFamily="34" charset="0"/>
                <a:ea typeface="Cambria" pitchFamily="34" charset="-122"/>
                <a:cs typeface="Cambria" pitchFamily="34" charset="-120"/>
              </a:rPr>
              <a:t>De cualquier forma</a:t>
            </a:r>
            <a:endParaRPr lang="en-US" sz="1800" dirty="0"/>
          </a:p>
        </p:txBody>
      </p:sp>
      <p:sp>
        <p:nvSpPr>
          <p:cNvPr id="15" name="Text 13"/>
          <p:cNvSpPr/>
          <p:nvPr/>
        </p:nvSpPr>
        <p:spPr>
          <a:xfrm>
            <a:off x="8366760" y="3017520"/>
            <a:ext cx="2880360" cy="1463040"/>
          </a:xfrm>
          <a:prstGeom prst="rect">
            <a:avLst/>
          </a:prstGeom>
          <a:noFill/>
          <a:ln/>
        </p:spPr>
        <p:txBody>
          <a:bodyPr wrap="square" lIns="0" tIns="0" rIns="0" bIns="0" rtlCol="0" anchor="t"/>
          <a:lstStyle/>
          <a:p>
            <a:pPr indent="0" marL="0">
              <a:lnSpc>
                <a:spcPts val="2000"/>
              </a:lnSpc>
              <a:buNone/>
            </a:pPr>
            <a:r>
              <a:rPr lang="en-US" sz="1300" dirty="0">
                <a:solidFill>
                  <a:srgbClr val="8B949E"/>
                </a:solidFill>
                <a:latin typeface="Calibri" pitchFamily="34" charset="0"/>
                <a:ea typeface="Calibri" pitchFamily="34" charset="-122"/>
                <a:cs typeface="Calibri" pitchFamily="34" charset="-120"/>
              </a:rPr>
              <a:t>No es una apuesta de todo o nada. Gano experiencia que vale tenga o no éxito el proyecto.</a:t>
            </a:r>
            <a:endParaRPr lang="en-US" sz="1300" dirty="0"/>
          </a:p>
        </p:txBody>
      </p:sp>
      <p:sp>
        <p:nvSpPr>
          <p:cNvPr id="16" name="Shape 14"/>
          <p:cNvSpPr/>
          <p:nvPr/>
        </p:nvSpPr>
        <p:spPr>
          <a:xfrm>
            <a:off x="640080" y="4983480"/>
            <a:ext cx="10881360" cy="914400"/>
          </a:xfrm>
          <a:prstGeom prst="roundRect">
            <a:avLst>
              <a:gd name="adj" fmla="val 10000"/>
            </a:avLst>
          </a:prstGeom>
          <a:solidFill>
            <a:srgbClr val="20242B"/>
          </a:solidFill>
          <a:ln/>
          <a:effectLst>
            <a:outerShdw sx="100000" sy="100000" kx="0" ky="0" algn="bl" rotWithShape="0" blurRad="127000" dist="25400" dir="5400000">
              <a:srgbClr val="000000">
                <a:alpha val="18000"/>
              </a:srgbClr>
            </a:outerShdw>
          </a:effectLst>
        </p:spPr>
      </p:sp>
      <p:sp>
        <p:nvSpPr>
          <p:cNvPr id="17" name="Text 15"/>
          <p:cNvSpPr/>
          <p:nvPr/>
        </p:nvSpPr>
        <p:spPr>
          <a:xfrm>
            <a:off x="1005840" y="4983480"/>
            <a:ext cx="10149840" cy="914400"/>
          </a:xfrm>
          <a:prstGeom prst="rect">
            <a:avLst/>
          </a:prstGeom>
          <a:noFill/>
          <a:ln/>
        </p:spPr>
        <p:txBody>
          <a:bodyPr wrap="square" lIns="0" tIns="0" rIns="0" bIns="0" rtlCol="0" anchor="ctr"/>
          <a:lstStyle/>
          <a:p>
            <a:pPr indent="0" marL="0">
              <a:buNone/>
            </a:pPr>
            <a:r>
              <a:rPr lang="en-US" sz="1600" b="1" dirty="0">
                <a:solidFill>
                  <a:srgbClr val="E0A82E"/>
                </a:solidFill>
                <a:latin typeface="Calibri" pitchFamily="34" charset="0"/>
                <a:ea typeface="Calibri" pitchFamily="34" charset="-122"/>
                <a:cs typeface="Calibri" pitchFamily="34" charset="-120"/>
              </a:rPr>
              <a:t>Esto no es alejarme de conseguir trabajo. Es cómo consigo uno — y uno que pocos pueden hacer.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A1D23"/>
                </a:solidFill>
                <a:latin typeface="Cambria" pitchFamily="34" charset="0"/>
                <a:ea typeface="Cambria" pitchFamily="34" charset="-122"/>
                <a:cs typeface="Cambria" pitchFamily="34" charset="-120"/>
              </a:rPr>
              <a:t>Por qué a veces no nos entendemos</a:t>
            </a:r>
            <a:endParaRPr lang="en-US" sz="3200" dirty="0"/>
          </a:p>
        </p:txBody>
      </p:sp>
      <p:sp>
        <p:nvSpPr>
          <p:cNvPr id="3" name="Shape 1"/>
          <p:cNvSpPr/>
          <p:nvPr/>
        </p:nvSpPr>
        <p:spPr>
          <a:xfrm>
            <a:off x="640080" y="1737360"/>
            <a:ext cx="10881360" cy="1097280"/>
          </a:xfrm>
          <a:prstGeom prst="roundRect">
            <a:avLst>
              <a:gd name="adj" fmla="val 8333"/>
            </a:avLst>
          </a:prstGeom>
          <a:solidFill>
            <a:srgbClr val="FFFFFF"/>
          </a:solidFill>
          <a:ln/>
          <a:effectLst>
            <a:outerShdw sx="100000" sy="100000" kx="0" ky="0" algn="bl" rotWithShape="0" blurRad="127000" dist="25400" dir="5400000">
              <a:srgbClr val="000000">
                <a:alpha val="18000"/>
              </a:srgbClr>
            </a:outerShdw>
          </a:effectLst>
        </p:spPr>
      </p:sp>
      <p:sp>
        <p:nvSpPr>
          <p:cNvPr id="4" name="Text 2"/>
          <p:cNvSpPr/>
          <p:nvPr/>
        </p:nvSpPr>
        <p:spPr>
          <a:xfrm>
            <a:off x="1005840" y="1737360"/>
            <a:ext cx="10149840" cy="1097280"/>
          </a:xfrm>
          <a:prstGeom prst="rect">
            <a:avLst/>
          </a:prstGeom>
          <a:noFill/>
          <a:ln/>
        </p:spPr>
        <p:txBody>
          <a:bodyPr wrap="square" lIns="0" tIns="0" rIns="0" bIns="0" rtlCol="0" anchor="ctr"/>
          <a:lstStyle/>
          <a:p>
            <a:pPr indent="0" marL="0">
              <a:lnSpc>
                <a:spcPts val="2400"/>
              </a:lnSpc>
              <a:buNone/>
            </a:pPr>
            <a:r>
              <a:rPr lang="en-US" sz="1600" b="1" dirty="0">
                <a:solidFill>
                  <a:srgbClr val="1A1D23"/>
                </a:solidFill>
                <a:latin typeface="Calibri" pitchFamily="34" charset="0"/>
                <a:ea typeface="Calibri" pitchFamily="34" charset="-122"/>
                <a:cs typeface="Calibri" pitchFamily="34" charset="-120"/>
              </a:rPr>
              <a:t>Que no entiendan lo que hago no significa que no tenga sentido. Significa que hablamos lenguajes distintos — y este todavía no lo compartimos.</a:t>
            </a:r>
            <a:endParaRPr lang="en-US" sz="1600" dirty="0"/>
          </a:p>
        </p:txBody>
      </p:sp>
      <p:sp>
        <p:nvSpPr>
          <p:cNvPr id="5" name="Shape 3"/>
          <p:cNvSpPr/>
          <p:nvPr/>
        </p:nvSpPr>
        <p:spPr>
          <a:xfrm>
            <a:off x="640080" y="3063240"/>
            <a:ext cx="10881360" cy="1188720"/>
          </a:xfrm>
          <a:prstGeom prst="roundRect">
            <a:avLst>
              <a:gd name="adj" fmla="val 7692"/>
            </a:avLst>
          </a:prstGeom>
          <a:solidFill>
            <a:srgbClr val="FFFFFF"/>
          </a:solidFill>
          <a:ln/>
          <a:effectLst>
            <a:outerShdw sx="100000" sy="100000" kx="0" ky="0" algn="bl" rotWithShape="0" blurRad="127000" dist="25400" dir="5400000">
              <a:srgbClr val="000000">
                <a:alpha val="18000"/>
              </a:srgbClr>
            </a:outerShdw>
          </a:effectLst>
        </p:spPr>
      </p:sp>
      <p:sp>
        <p:nvSpPr>
          <p:cNvPr id="6" name="Text 4"/>
          <p:cNvSpPr/>
          <p:nvPr/>
        </p:nvSpPr>
        <p:spPr>
          <a:xfrm>
            <a:off x="1005840" y="3063240"/>
            <a:ext cx="10149840" cy="1188720"/>
          </a:xfrm>
          <a:prstGeom prst="rect">
            <a:avLst/>
          </a:prstGeom>
          <a:noFill/>
          <a:ln/>
        </p:spPr>
        <p:txBody>
          <a:bodyPr wrap="square" lIns="0" tIns="0" rIns="0" bIns="0" rtlCol="0" anchor="ctr"/>
          <a:lstStyle/>
          <a:p>
            <a:pPr indent="0" marL="0">
              <a:lnSpc>
                <a:spcPts val="2200"/>
              </a:lnSpc>
              <a:buNone/>
            </a:pPr>
            <a:r>
              <a:rPr lang="en-US" sz="1450" dirty="0">
                <a:solidFill>
                  <a:srgbClr val="5B6470"/>
                </a:solidFill>
                <a:latin typeface="Calibri" pitchFamily="34" charset="0"/>
                <a:ea typeface="Calibri" pitchFamily="34" charset="-122"/>
                <a:cs typeface="Calibri" pitchFamily="34" charset="-120"/>
              </a:rPr>
              <a:t>No soy un genio que lo sabe todo. Ustedes tampoco están equivocados. Es solo un idioma que yo aprendí y ustedes no — como el que no sabe de motores no entiende al mecánico, y no por eso el mecánico está loco.</a:t>
            </a:r>
            <a:endParaRPr lang="en-US" sz="1450" dirty="0"/>
          </a:p>
        </p:txBody>
      </p:sp>
      <p:sp>
        <p:nvSpPr>
          <p:cNvPr id="7" name="Shape 5"/>
          <p:cNvSpPr/>
          <p:nvPr/>
        </p:nvSpPr>
        <p:spPr>
          <a:xfrm>
            <a:off x="640080" y="4480560"/>
            <a:ext cx="10881360" cy="1417320"/>
          </a:xfrm>
          <a:prstGeom prst="roundRect">
            <a:avLst>
              <a:gd name="adj" fmla="val 6452"/>
            </a:avLst>
          </a:prstGeom>
          <a:solidFill>
            <a:srgbClr val="ECE7DA"/>
          </a:solidFill>
          <a:ln/>
          <a:effectLst>
            <a:outerShdw sx="100000" sy="100000" kx="0" ky="0" algn="bl" rotWithShape="0" blurRad="127000" dist="25400" dir="5400000">
              <a:srgbClr val="000000">
                <a:alpha val="18000"/>
              </a:srgbClr>
            </a:outerShdw>
          </a:effectLst>
        </p:spPr>
      </p:sp>
      <p:sp>
        <p:nvSpPr>
          <p:cNvPr id="8" name="Text 6"/>
          <p:cNvSpPr/>
          <p:nvPr/>
        </p:nvSpPr>
        <p:spPr>
          <a:xfrm>
            <a:off x="1005840" y="4480560"/>
            <a:ext cx="10149840" cy="1417320"/>
          </a:xfrm>
          <a:prstGeom prst="rect">
            <a:avLst/>
          </a:prstGeom>
          <a:noFill/>
          <a:ln/>
        </p:spPr>
        <p:txBody>
          <a:bodyPr wrap="square" lIns="0" tIns="0" rIns="0" bIns="0" rtlCol="0" anchor="ctr"/>
          <a:lstStyle/>
          <a:p>
            <a:pPr indent="0" marL="0">
              <a:lnSpc>
                <a:spcPts val="2300"/>
              </a:lnSpc>
              <a:buNone/>
            </a:pPr>
            <a:r>
              <a:rPr lang="en-US" sz="1500" b="1" dirty="0">
                <a:solidFill>
                  <a:srgbClr val="1A1D23"/>
                </a:solidFill>
                <a:latin typeface="Calibri" pitchFamily="34" charset="0"/>
                <a:ea typeface="Calibri" pitchFamily="34" charset="-122"/>
                <a:cs typeface="Calibri" pitchFamily="34" charset="-120"/>
              </a:rPr>
              <a:t>Lo que a veces se ve como que “me cuesta arrancar” es, en realidad, estar metido de lleno en algo que nadie más aquí está haciendo. Les pido confianza mientras lo cierro. El trabajo habla por mí — y aquí está.</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914400" y="2514600"/>
            <a:ext cx="1463040" cy="45720"/>
          </a:xfrm>
          <a:prstGeom prst="rect">
            <a:avLst/>
          </a:prstGeom>
          <a:solidFill>
            <a:srgbClr val="E0A82E"/>
          </a:solidFill>
          <a:ln/>
        </p:spPr>
      </p:sp>
      <p:sp>
        <p:nvSpPr>
          <p:cNvPr id="3" name="Text 1"/>
          <p:cNvSpPr/>
          <p:nvPr/>
        </p:nvSpPr>
        <p:spPr>
          <a:xfrm>
            <a:off x="868680" y="1600200"/>
            <a:ext cx="10058400" cy="1463040"/>
          </a:xfrm>
          <a:prstGeom prst="rect">
            <a:avLst/>
          </a:prstGeom>
          <a:noFill/>
          <a:ln/>
        </p:spPr>
        <p:txBody>
          <a:bodyPr wrap="square" lIns="0" tIns="0" rIns="0" bIns="0" rtlCol="0" anchor="ctr"/>
          <a:lstStyle/>
          <a:p>
            <a:pPr indent="0" marL="0">
              <a:lnSpc>
                <a:spcPts val="4400"/>
              </a:lnSpc>
              <a:buNone/>
            </a:pPr>
            <a:r>
              <a:rPr lang="en-US" sz="3600" b="1" dirty="0">
                <a:solidFill>
                  <a:srgbClr val="ECEBE6"/>
                </a:solidFill>
                <a:latin typeface="Cambria" pitchFamily="34" charset="0"/>
                <a:ea typeface="Cambria" pitchFamily="34" charset="-122"/>
                <a:cs typeface="Cambria" pitchFamily="34" charset="-120"/>
              </a:rPr>
              <a:t>Esto es lo que estoy</a:t>
            </a:r>
            <a:endParaRPr lang="en-US" sz="3600" dirty="0"/>
          </a:p>
          <a:p>
            <a:pPr indent="0" marL="0">
              <a:lnSpc>
                <a:spcPts val="4400"/>
              </a:lnSpc>
              <a:buNone/>
            </a:pPr>
            <a:r>
              <a:rPr lang="en-US" sz="3600" b="1" dirty="0">
                <a:solidFill>
                  <a:srgbClr val="ECEBE6"/>
                </a:solidFill>
                <a:latin typeface="Cambria" pitchFamily="34" charset="0"/>
                <a:ea typeface="Cambria" pitchFamily="34" charset="-122"/>
                <a:cs typeface="Cambria" pitchFamily="34" charset="-120"/>
              </a:rPr>
              <a:t>construyendo.</a:t>
            </a:r>
            <a:endParaRPr lang="en-US" sz="3600" dirty="0"/>
          </a:p>
        </p:txBody>
      </p:sp>
      <p:sp>
        <p:nvSpPr>
          <p:cNvPr id="4" name="Text 2"/>
          <p:cNvSpPr/>
          <p:nvPr/>
        </p:nvSpPr>
        <p:spPr>
          <a:xfrm>
            <a:off x="914400" y="3429000"/>
            <a:ext cx="9875520" cy="1097280"/>
          </a:xfrm>
          <a:prstGeom prst="rect">
            <a:avLst/>
          </a:prstGeom>
          <a:noFill/>
          <a:ln/>
        </p:spPr>
        <p:txBody>
          <a:bodyPr wrap="square" lIns="0" tIns="0" rIns="0" bIns="0" rtlCol="0" anchor="ctr"/>
          <a:lstStyle/>
          <a:p>
            <a:pPr indent="0" marL="0">
              <a:lnSpc>
                <a:spcPts val="2400"/>
              </a:lnSpc>
              <a:buNone/>
            </a:pPr>
            <a:r>
              <a:rPr lang="en-US" sz="1600" dirty="0">
                <a:solidFill>
                  <a:srgbClr val="8B949E"/>
                </a:solidFill>
                <a:latin typeface="Calibri" pitchFamily="34" charset="0"/>
                <a:ea typeface="Calibri" pitchFamily="34" charset="-122"/>
                <a:cs typeface="Calibri" pitchFamily="34" charset="-120"/>
              </a:rPr>
              <a:t>Toma tiempo porque nadie lo ha hecho antes en estos equipos. Pero ya funciona en mi mesa, la empresa está detrás, y si no sale, me abre otra puerta.</a:t>
            </a:r>
            <a:endParaRPr lang="en-US" sz="1600" dirty="0"/>
          </a:p>
        </p:txBody>
      </p:sp>
      <p:sp>
        <p:nvSpPr>
          <p:cNvPr id="5" name="Text 3"/>
          <p:cNvSpPr/>
          <p:nvPr/>
        </p:nvSpPr>
        <p:spPr>
          <a:xfrm>
            <a:off x="914400" y="4572000"/>
            <a:ext cx="9875520" cy="457200"/>
          </a:xfrm>
          <a:prstGeom prst="rect">
            <a:avLst/>
          </a:prstGeom>
          <a:noFill/>
          <a:ln/>
        </p:spPr>
        <p:txBody>
          <a:bodyPr wrap="square" lIns="0" tIns="0" rIns="0" bIns="0" rtlCol="0" anchor="ctr"/>
          <a:lstStyle/>
          <a:p>
            <a:pPr indent="0" marL="0">
              <a:buNone/>
            </a:pPr>
            <a:r>
              <a:rPr lang="en-US" sz="1700" b="1" dirty="0">
                <a:solidFill>
                  <a:srgbClr val="E0A82E"/>
                </a:solidFill>
                <a:latin typeface="Calibri" pitchFamily="34" charset="0"/>
                <a:ea typeface="Calibri" pitchFamily="34" charset="-122"/>
                <a:cs typeface="Calibri" pitchFamily="34" charset="-120"/>
              </a:rPr>
              <a:t>De cualquier forma, no es tiempo perdido.</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 En qué estoy trabajando</dc:title>
  <dc:subject>PptxGenJS Presentation</dc:subject>
  <dc:creator>TaTa</dc:creator>
  <cp:lastModifiedBy>TaTa</cp:lastModifiedBy>
  <cp:revision>1</cp:revision>
  <dcterms:created xsi:type="dcterms:W3CDTF">2026-10-29T19:18:18Z</dcterms:created>
  <dcterms:modified xsi:type="dcterms:W3CDTF">2026-10-29T19:18:18Z</dcterms:modified>
</cp:coreProperties>
</file>