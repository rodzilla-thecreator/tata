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Seguimiento, no el caso de negocio completo. El mensaje: el software ya esta, el NRE lo pongo yo, y lo unico que frena es la maquina.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 real ya hecho, un freno que no es mio, y un pedido que recupera un activo suyo + reorganizar estantes.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 NRE, ingenieria que se paga una vez para todo el modelo, no por unidad. Y cero costo efectivo para Montasa.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Anticipar "cambiaron de plan, perdieron tiempo". Al reves: el plan mecanico habria seguido fabricando el primer actuador.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1-oct es el quiebre. Antes: meses de puerto. Despues: en 3 semanas marcha y direccion. Detalle de ago y sep en los dos slides siguientes.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contesta "y que hiciste en agosto". No se gasto nada y se de-riskeo casi todo lo de geometria, giro y localizacion.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historia de septiembre: pared, pero con disciplina. Nunca se cago en el equipo de nadie, aun probando cables que no eran. Y se confirmo que el serie no 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que pidio maje. Los colores muestran que el MISMO pin tiene funcion distinta en cada lado. Pin 3 = TXD de un lado, CAN_L del otro.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Reencuadre del "punto de impulso" como punto de inflexion. El mensaje: leer el CAN destrabo todo; desde ahi, velocidad. La unica demora propia fue el transceptor.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4 piezas que le sacaron, cada una a otro equipo. Todas bloquean PRUEBAS de cosas ya resueltas, no el trabajo de resolverlas.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Canibalizar sale mas caro y mata un activo que podria rentar. Reparar recupera ese activo.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gasto no se lo cargas al proyecto, se lo cargas a recuperar un activo. El proyecto es el bonus.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Reescrito sin "cuanto me movi". Mismo largo, mas tecnico. El LiDAR sigue en el plan, despues de formalizar.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Aula no es un vergueo: reorganizar estantes para un pasillo 3x6. Pruebas con pantografo sin uñas + sensor de altura calibrado (lo de Botoni).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Desarma el riesgo para Omar: no se le pide comprar hardware. El NRE y el computo los pone maje.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etapas, no "camaras reemplazan LiDAR". Etapa 1 autofinanciada 8GB+webcams. Etapa 2 el L2. Pendiente: 8 vs 16 GB para el LiDAR. Isaac Sim es problema de PC, aparte.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reestructurado: 122 (o permiso de pruebas reversibles en mantenimiento para odometria), luego equipo propio para la etapa fuerte, y El Aula = reorganizar estantes.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1371600" cy="4114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50392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Avanzada de Transporte Autónomo · un proyecto de Montasa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estamos, y lo que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necesito para seguir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2/3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09728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en banco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 + NRE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pongo yo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66344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mi proyecto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5528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7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Montasa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equipo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22960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para Omar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2026 · San Pedro Sula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una página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sólo lees un slide, que sea este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83080"/>
            <a:ext cx="82296" cy="129844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476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logrado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749040" y="1911096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Leí la computadora del montacargas y logré comandar la marcha y la dirección. Probado en banco. Es 2/3 del teleop, y el cambio de plan al EDR nos puso on-track.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3264408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264408"/>
            <a:ext cx="82296" cy="1298448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freno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49040" y="3392424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parado: no hay un equipo funcional dedicado. Le quitaron, para otros equipos, la dirección, la hidráulica del pantógrafo, la cámara y el sensor del pedal — justo lo que necesito para probar.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4745736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4745736"/>
            <a:ext cx="82296" cy="129844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9103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pido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49040" y="4873752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 (o, si no, permiso de pruebas reversibles en mantenimiento para la etapa de odometría), y reorganizar estantes para El Aula. El NRE y el cómputo los pongo yo.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ya está hecho, sin gastar un dólar de Montasa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Ingeniería, no compras: descubrir cómo se le habla a este equipo se paga una sola vez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Leí el cerebro del equipo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bus interno del montacargas está mapeado: qué controlador es cada uno y qué dato lleva. Todo en modo lectura, sin tocar nada.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Marcha: comandable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Logré darle la orden de avanzar por el mismo bus. El equipo respondió pidiendo el pedal de hombre-muerto — señal de que aceptó la orden como real. Probado en banco.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Dirección: emulador validado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2744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 el circuito que reemplaza al sensor del volante y, en mi mesa, reproduce la señal real con exactitud. Listo para enchufar cuando haya equipo.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Simuladores y planificador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72744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simulación del almacén, el visor de flota y el planificador de giro ya corren. Es lo que convierte esto de una idea a algo que existe.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cambio de plan no fue un retraso — fue lo que nos puso on-track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original: un equipo mecánico.  Plan actual: el EDR, eléctrico y con bus abierto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457200"/>
          </a:xfrm>
          <a:prstGeom prst="rect">
            <a:avLst/>
          </a:prstGeom>
          <a:solidFill>
            <a:srgbClr val="E7E9EC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8288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48456" y="1828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MECÁNICO (Baoli)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71816" y="1828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EDR (el que se tomó)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2860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Pasillo de 3.00 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48456" y="2286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cabe (pedía 3.82 m)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671816" y="2286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7432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48456" y="27432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un servo sobre la columna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671816" y="27432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EPS: se intercepta eléctrico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2004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32004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/ elevación / inclinación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48456" y="32004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Fabricar bloque de válvulas y actuadores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71816" y="32004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Mando electrohidráulico de fábrica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6576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48456" y="36576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Actuador mecánico propio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671816" y="36576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Frena solo al soltar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41148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1148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48456" y="4114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desde cero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71816" y="4114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en el bus CAN — se leen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4360" y="45720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" y="45720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NRE es…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48456" y="4572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Fabricación mecánica · meses por eje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71816" y="4572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Información: qué señal es cada cable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436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la arquitectura que convierte meses de fabricación en semanas de ingeniería. Ese fue el acierto que compró el calendario.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hitos que hemos conseguido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meses desde que se eligió el EDR. On time, on track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de campo, geometría corregida, simuladores y planificador de giro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 el Baoli y se elige el EDR: cabe en el pasillo y es eléctrico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0100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7532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de servicio abierto · el equipo es un Jungheinrich (manual completo)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muro del DB9: el cable del técnico era RS232 y no servía (ver adelante)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Oct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inflexión: el bus es CAN. Desde acá, volando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0100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5–14 Oct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7532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 del bus y transmisión validadas con instrumento propio (20/20)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868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Oct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Marcha comandable — probada: el equipo pidió el hombre-muerto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24–27 Oct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descifrada (sensor del volante) y emulador validado en banco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0100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7532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del teleop · el freno es de hardware (equipo), no de ingeniería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Agosto — lo que no se ve: investigación y simulación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de ingeniería antes de tocar un fierro, para llegar a la máquina sabiendo qué probar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665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 de campo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corrigió la geometría real del equipo y se confirmó, con el planificador Hybrid A*, que el giro cargado entra en el pasillo de 3.00 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82880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0665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Simuladores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54203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Visor del sector A con máquina de estados y consola de flota, simulación de la secuencia completa, y arreglos de la simulación física (Isaac Sim).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384048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84048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07822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localización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55371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ubica el equipo: cámaras + ArUco + odometría. Se estudió también dónde el LiDAR degenera y dónde no.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84048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407822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decisión del EDR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455371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 el Baoli (no cabe, es hidráulico) y se elige el EDR: cabe y es eléctrico. El acierto que ordenó todo lo demás.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Septiembre — el muro del DB9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puerto de servicio que no hablaba. Un mes de pared, cero daño al equipo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91440" cy="11887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933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puerto que no respondía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técnico controlaba el equipo por un puerto de servicio (DB9) con una herramienta de concesionario. No respondía. Se investigaron varias hipótesis: serie, CAN, adaptador roto, video.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" y="32004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200400"/>
            <a:ext cx="91440" cy="1188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3649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probó con un fusible de menos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60120" y="374904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tenía un fusible faltante; se trabajó así un tiempo. Y aun metiéndole cables de diagnóstico que no eran los correctos, por disciplina de seguridad nunca se dañó nada: todo reversible, con paro, sin cortar.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4572000"/>
            <a:ext cx="91440" cy="1188720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7365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cable, confirmado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60120" y="512064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confirmó que el cable del técnico era RS232 (serie) — y que ese camino no servía: sus señales no coinciden con el bus real del equipo. El porqué, en el diagrama de pines que sigue.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ese cable nunca iba a conectar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conector físico (DB9), funciones distintas en cada pin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371600" y="1700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del técnico — RS232 (serie)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2697480" cy="1051560"/>
          </a:xfrm>
          <a:prstGeom prst="roundRect">
            <a:avLst>
              <a:gd name="adj" fmla="val 12174"/>
            </a:avLst>
          </a:prstGeom>
          <a:solidFill>
            <a:srgbClr val="0F1218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00784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76272" y="2249424"/>
            <a:ext cx="274320" cy="274320"/>
          </a:xfrm>
          <a:prstGeom prst="ellipse">
            <a:avLst/>
          </a:prstGeom>
          <a:solidFill>
            <a:srgbClr val="37C3FF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76272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2249424"/>
            <a:ext cx="274320" cy="274320"/>
          </a:xfrm>
          <a:prstGeom prst="ellipse">
            <a:avLst/>
          </a:prstGeom>
          <a:solidFill>
            <a:srgbClr val="37C3FF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27248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27248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02736" y="2249424"/>
            <a:ext cx="274320" cy="274320"/>
          </a:xfrm>
          <a:prstGeom prst="ellipse">
            <a:avLst/>
          </a:prstGeom>
          <a:solidFill>
            <a:srgbClr val="5B6470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2736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938528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38528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414016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14016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89504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89504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64992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92440" y="1700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DB9 del equipo — bus CAN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092440" y="2011680"/>
            <a:ext cx="2697480" cy="1051560"/>
          </a:xfrm>
          <a:prstGeom prst="roundRect">
            <a:avLst>
              <a:gd name="adj" fmla="val 12174"/>
            </a:avLst>
          </a:prstGeom>
          <a:solidFill>
            <a:srgbClr val="0F1218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21624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1624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897112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7112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372600" y="2249424"/>
            <a:ext cx="274320" cy="274320"/>
          </a:xfrm>
          <a:prstGeom prst="ellipse">
            <a:avLst/>
          </a:prstGeom>
          <a:solidFill>
            <a:srgbClr val="39D98A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7260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848088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848088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323576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23576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659368" y="2633472"/>
            <a:ext cx="274320" cy="274320"/>
          </a:xfrm>
          <a:prstGeom prst="ellipse">
            <a:avLst/>
          </a:prstGeom>
          <a:solidFill>
            <a:srgbClr val="FF5A52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59368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134856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34856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610344" y="2633472"/>
            <a:ext cx="274320" cy="274320"/>
          </a:xfrm>
          <a:prstGeom prst="ellipse">
            <a:avLst/>
          </a:prstGeom>
          <a:solidFill>
            <a:srgbClr val="39D98A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10344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085832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085832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371600" y="3246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Serie: datos (2, 3) + tierra (5)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092440" y="3246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CAN: par diferencial (3 + 8) + 24 V (6)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920240" y="3703320"/>
            <a:ext cx="8321040" cy="402336"/>
          </a:xfrm>
          <a:prstGeom prst="rect">
            <a:avLst/>
          </a:prstGeom>
          <a:solidFill>
            <a:srgbClr val="E7E9EC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48256" y="3703320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962656" y="3703320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RS232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797296" y="370332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DB9 del equipo (CAN)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814816" y="370332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¿Sirve?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920240" y="4105656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48256" y="4105656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2962656" y="410565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TXD — transmite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797296" y="410565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CAN_L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814816" y="410565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· otra función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920240" y="4507992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48256" y="450799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2962656" y="450799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797296" y="4507992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CAN_H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814816" y="450799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920240" y="4910328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48256" y="491032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962656" y="491032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 — tierra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797296" y="4910328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tierra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814816" y="491032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1920240" y="5312664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48256" y="531266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962656" y="531266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uso)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797296" y="5312664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 V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8814816" y="531266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riesgo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920240" y="5715000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048256" y="5715000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2962656" y="5715000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RXD — recibe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797296" y="571500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(no hay CAN)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8814816" y="571500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594360" y="6172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cable serie no coincide con ninguna señal del bus, y el CAN necesita el PAR 3+8 juntos — que el serie ni toca. Por eso no conectaba "de manera simple".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de octubre — el punto de inflexión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que leímos el bus CAN, volando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43000"/>
          </a:xfrm>
          <a:prstGeom prst="roundRect">
            <a:avLst>
              <a:gd name="adj" fmla="val 72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82880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el serie, medimos de nuevo y el puerto resultó ser CAN. Desde que leímos el bus, el trabajo se aceleró muchísimo — de ahí en adelante, volando.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94360" y="32461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3246120"/>
            <a:ext cx="3474720" cy="100584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descifrando el puerto, contra una pared.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32461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3246120"/>
            <a:ext cx="3474720" cy="100584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Después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3 semanas: bus leído, marcha y dirección comandadas.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01000" y="32461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01000" y="3246120"/>
            <a:ext cx="3474720" cy="10058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único freno propio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semana buscando un transceptor CAN que funcionara (el primero era una unidad mala; el nuevo pasó 20/20).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estoy parado — todo lo que le quitaron al equipo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faltante bloquea una prueba de algo que YA está resuelto en banco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Hidráulica del pantógrafo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quitaron la línea hidráulica de la torre/pantógrafo (para otro equipo). Bloquea probar las funciones del multipiloto que ya descifré: elevar, extender.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82880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Cámara y su cable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48716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la cámara ni su cable. Ese camino ya está descifrado y sé cómo leerlo cuando lo tenga — pero no puedo probarlo.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70332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70332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886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del pedal de hombre-muerto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68680" y="4361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sensor que me iban a dar para empezar a descifrar cómo emularlo se lo pusieron a otro equipo — y el que le faltaba a mi equipo también se fue a otro.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70332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70332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3886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Rodillos de dirección y la llanta directriz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92240" y="4361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quitaron los rodillos y la rueda que el timón direcciona. Por eso no puedo probar el emulador del timón que ya está validado en banco.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9436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que falte ingeniería: falta una máquina completa donde probar lo que ya resolví.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Reparar el MT 122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está detenido y se usa como banco de repuestos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“Ya agarramos ese equipo como banco de repuestos.”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48716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Miguel.  Un equipo dañado no es un cajón de piezas: es un activo detenido. Cada pieza que se le saca lo aleja de volver a generar renta, y encarece repararlo después.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 real de canibalizar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2702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repuesto que sale del MT 122 es una pieza que luego hay que comprar dos veces: para el equipo que la recibe hoy, y para el MT 122 cuando se quiera revivir.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35204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ya debería existir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42702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dice que vos ya deberías tener la lista de lo necesario para repararlo. Se actualiza, se cotiza y se pide.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pedido: aprobar la reparación del MT 122 y dejar que Miguel actualice la lista para ordenarla.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MT 122 reparado paga dos veces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gasto de reparación, dos retornos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920240"/>
            <a:ext cx="5349240" cy="10972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Vuelve a renta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Reparado, regresa a la flota y genera ingreso de renta — en vez de $0 detenido ocupando espacio.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920240"/>
            <a:ext cx="534924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de TaTa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equipo dedicado donde el proyecto avanza, sin tener que sacar de rotación un montacargas que sí está rentando.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4709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reparación sirve a la flota y al proyecto. No es un gasto del proyecto: es un activo de Montasa que vuelve a producir.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camino que sigue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 es odometría + Kalman con ArUco. El LiDAR sigue en el plan, después de formalizar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31136"/>
            <a:ext cx="384048" cy="384048"/>
          </a:xfrm>
          <a:prstGeom prst="ellipse">
            <a:avLst/>
          </a:prstGeom>
          <a:solidFill>
            <a:srgbClr val="37C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848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Odometría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1975104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 reporta velocidad de tracción y ángulo de dirección en su bus. Integrando ambos se estima el desplazamiento: la base de la posición, sin sensores nuevos.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32004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602736"/>
            <a:ext cx="384048" cy="38404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08760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Fusión Kalman + ArUco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3346704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filtro de Kalman fusiona esa odometría con la pose de los ArUco en los racks: la odometría da continuidad, el ArUco corrige la deriva y fija la posición absoluta. Siguiente paso, solo cámaras.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974336"/>
            <a:ext cx="384048" cy="384048"/>
          </a:xfrm>
          <a:prstGeom prst="ellipse">
            <a:avLst/>
          </a:prstGeom>
          <a:solidFill>
            <a:srgbClr val="39D98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8280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LiDAR / SLAM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0" y="4718304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en vivo del pasillo y detección de obstáculos. Suma robustez y una capa de seguridad. Sigue en el plan; entra después de formalizar, no se descarta.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Aula — el banco de pruebas, dentro del taller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deshace el taller: solo reorganizar estantes para liberar un pasillo de 3.0 × 6.0 m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" y="1938528"/>
            <a:ext cx="4206240" cy="2743200"/>
          </a:xfrm>
          <a:prstGeom prst="rect">
            <a:avLst/>
          </a:prstGeom>
          <a:solidFill>
            <a:srgbClr val="FFFFFF"/>
          </a:solidFill>
          <a:ln w="17780">
            <a:solidFill>
              <a:srgbClr val="C8CC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084832"/>
            <a:ext cx="1188720" cy="731520"/>
          </a:xfrm>
          <a:prstGeom prst="rect">
            <a:avLst/>
          </a:prstGeom>
          <a:solidFill>
            <a:srgbClr val="DCE0E6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8483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0" y="2084832"/>
            <a:ext cx="1188720" cy="731520"/>
          </a:xfrm>
          <a:prstGeom prst="rect">
            <a:avLst/>
          </a:prstGeom>
          <a:solidFill>
            <a:srgbClr val="DCE0E6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208483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0" y="2084832"/>
            <a:ext cx="1188720" cy="502920"/>
          </a:xfrm>
          <a:prstGeom prst="rect">
            <a:avLst/>
          </a:prstGeom>
          <a:solidFill>
            <a:srgbClr val="E4E7DF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08483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60120" y="3017520"/>
            <a:ext cx="731520" cy="640080"/>
          </a:xfrm>
          <a:prstGeom prst="rect">
            <a:avLst/>
          </a:prstGeom>
          <a:solidFill>
            <a:srgbClr val="E4E7DF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0175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874520" y="3063240"/>
            <a:ext cx="640080" cy="548640"/>
          </a:xfrm>
          <a:prstGeom prst="rect">
            <a:avLst/>
          </a:prstGeom>
          <a:solidFill>
            <a:srgbClr val="E4E7DF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4520" y="3063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0" y="3017520"/>
            <a:ext cx="640080" cy="548640"/>
          </a:xfrm>
          <a:prstGeom prst="rect">
            <a:avLst/>
          </a:prstGeom>
          <a:solidFill>
            <a:srgbClr val="CDE9F7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30175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66160" y="2788920"/>
            <a:ext cx="548640" cy="457200"/>
          </a:xfrm>
          <a:prstGeom prst="rect">
            <a:avLst/>
          </a:prstGeom>
          <a:solidFill>
            <a:srgbClr val="EDE6D7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05840" y="3840480"/>
            <a:ext cx="502920" cy="457200"/>
          </a:xfrm>
          <a:prstGeom prst="rect">
            <a:avLst/>
          </a:prstGeom>
          <a:solidFill>
            <a:srgbClr val="EDE6D7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8404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28800" y="3886200"/>
            <a:ext cx="365760" cy="365760"/>
          </a:xfrm>
          <a:prstGeom prst="rect">
            <a:avLst/>
          </a:prstGeom>
          <a:solidFill>
            <a:srgbClr val="E7E9EC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77440" y="3886200"/>
            <a:ext cx="365760" cy="365760"/>
          </a:xfrm>
          <a:prstGeom prst="rect">
            <a:avLst/>
          </a:prstGeom>
          <a:solidFill>
            <a:srgbClr val="E7E9EC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17520" y="3840480"/>
            <a:ext cx="457200" cy="457200"/>
          </a:xfrm>
          <a:prstGeom prst="rect">
            <a:avLst/>
          </a:prstGeom>
          <a:solidFill>
            <a:srgbClr val="E4E7DF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4074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lleno, sin pasillo libre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6072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60720" y="1938528"/>
            <a:ext cx="5760720" cy="2743200"/>
          </a:xfrm>
          <a:prstGeom prst="rect">
            <a:avLst/>
          </a:prstGeom>
          <a:solidFill>
            <a:srgbClr val="FFFFFF"/>
          </a:solidFill>
          <a:ln w="17780">
            <a:solidFill>
              <a:srgbClr val="C8CC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0" y="2148840"/>
            <a:ext cx="502920" cy="2194560"/>
          </a:xfrm>
          <a:prstGeom prst="rect">
            <a:avLst/>
          </a:prstGeom>
          <a:solidFill>
            <a:srgbClr val="DCE0E6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0" y="2148840"/>
            <a:ext cx="502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326880" y="2148840"/>
            <a:ext cx="502920" cy="2194560"/>
          </a:xfrm>
          <a:prstGeom prst="rect">
            <a:avLst/>
          </a:prstGeom>
          <a:solidFill>
            <a:srgbClr val="DCE0E6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26880" y="2148840"/>
            <a:ext cx="502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818120" y="2148840"/>
            <a:ext cx="1508760" cy="2194560"/>
          </a:xfrm>
          <a:prstGeom prst="rect">
            <a:avLst/>
          </a:prstGeom>
          <a:solidFill>
            <a:srgbClr val="FBEFC9"/>
          </a:solidFill>
          <a:ln w="12700">
            <a:solidFill>
              <a:srgbClr val="E0C9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18120" y="26974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Pasillo 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818120" y="2971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6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× 6.0 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827264" y="2331720"/>
            <a:ext cx="109728" cy="109728"/>
          </a:xfrm>
          <a:prstGeom prst="rect">
            <a:avLst/>
          </a:prstGeom>
          <a:solidFill>
            <a:srgbClr val="1A1D23"/>
          </a:solidFill>
          <a:ln/>
        </p:spPr>
      </p:sp>
      <p:sp>
        <p:nvSpPr>
          <p:cNvPr id="36" name="Shape 34"/>
          <p:cNvSpPr/>
          <p:nvPr/>
        </p:nvSpPr>
        <p:spPr>
          <a:xfrm>
            <a:off x="9217152" y="2331720"/>
            <a:ext cx="109728" cy="109728"/>
          </a:xfrm>
          <a:prstGeom prst="rect">
            <a:avLst/>
          </a:prstGeom>
          <a:solidFill>
            <a:srgbClr val="1A1D23"/>
          </a:solidFill>
          <a:ln/>
        </p:spPr>
      </p:sp>
      <p:sp>
        <p:nvSpPr>
          <p:cNvPr id="37" name="Shape 35"/>
          <p:cNvSpPr/>
          <p:nvPr/>
        </p:nvSpPr>
        <p:spPr>
          <a:xfrm>
            <a:off x="7827264" y="2971800"/>
            <a:ext cx="109728" cy="109728"/>
          </a:xfrm>
          <a:prstGeom prst="rect">
            <a:avLst/>
          </a:prstGeom>
          <a:solidFill>
            <a:srgbClr val="1A1D23"/>
          </a:solidFill>
          <a:ln/>
        </p:spPr>
      </p:sp>
      <p:sp>
        <p:nvSpPr>
          <p:cNvPr id="38" name="Shape 36"/>
          <p:cNvSpPr/>
          <p:nvPr/>
        </p:nvSpPr>
        <p:spPr>
          <a:xfrm>
            <a:off x="9217152" y="2971800"/>
            <a:ext cx="109728" cy="109728"/>
          </a:xfrm>
          <a:prstGeom prst="rect">
            <a:avLst/>
          </a:prstGeom>
          <a:solidFill>
            <a:srgbClr val="1A1D23"/>
          </a:solidFill>
          <a:ln/>
        </p:spPr>
      </p:sp>
      <p:sp>
        <p:nvSpPr>
          <p:cNvPr id="39" name="Shape 37"/>
          <p:cNvSpPr/>
          <p:nvPr/>
        </p:nvSpPr>
        <p:spPr>
          <a:xfrm>
            <a:off x="7827264" y="3611880"/>
            <a:ext cx="109728" cy="109728"/>
          </a:xfrm>
          <a:prstGeom prst="rect">
            <a:avLst/>
          </a:prstGeom>
          <a:solidFill>
            <a:srgbClr val="1A1D23"/>
          </a:solidFill>
          <a:ln/>
        </p:spPr>
      </p:sp>
      <p:sp>
        <p:nvSpPr>
          <p:cNvPr id="40" name="Shape 38"/>
          <p:cNvSpPr/>
          <p:nvPr/>
        </p:nvSpPr>
        <p:spPr>
          <a:xfrm>
            <a:off x="9217152" y="3611880"/>
            <a:ext cx="109728" cy="109728"/>
          </a:xfrm>
          <a:prstGeom prst="rect">
            <a:avLst/>
          </a:prstGeom>
          <a:solidFill>
            <a:srgbClr val="1A1D23"/>
          </a:solidFill>
          <a:ln/>
        </p:spPr>
      </p:sp>
      <p:sp>
        <p:nvSpPr>
          <p:cNvPr id="41" name="Shape 39"/>
          <p:cNvSpPr/>
          <p:nvPr/>
        </p:nvSpPr>
        <p:spPr>
          <a:xfrm>
            <a:off x="7827264" y="4114800"/>
            <a:ext cx="109728" cy="109728"/>
          </a:xfrm>
          <a:prstGeom prst="rect">
            <a:avLst/>
          </a:prstGeom>
          <a:solidFill>
            <a:srgbClr val="1A1D23"/>
          </a:solidFill>
          <a:ln/>
        </p:spPr>
      </p:sp>
      <p:sp>
        <p:nvSpPr>
          <p:cNvPr id="42" name="Shape 40"/>
          <p:cNvSpPr/>
          <p:nvPr/>
        </p:nvSpPr>
        <p:spPr>
          <a:xfrm>
            <a:off x="9217152" y="4114800"/>
            <a:ext cx="109728" cy="109728"/>
          </a:xfrm>
          <a:prstGeom prst="rect">
            <a:avLst/>
          </a:prstGeom>
          <a:solidFill>
            <a:srgbClr val="1A1D23"/>
          </a:solidFill>
          <a:ln/>
        </p:spPr>
      </p:sp>
      <p:sp>
        <p:nvSpPr>
          <p:cNvPr id="43" name="Shape 41"/>
          <p:cNvSpPr/>
          <p:nvPr/>
        </p:nvSpPr>
        <p:spPr>
          <a:xfrm>
            <a:off x="8065008" y="3986784"/>
            <a:ext cx="1005840" cy="292608"/>
          </a:xfrm>
          <a:prstGeom prst="rect">
            <a:avLst/>
          </a:prstGeom>
          <a:solidFill>
            <a:srgbClr val="CDE9F7"/>
          </a:solidFill>
          <a:ln w="12700">
            <a:solidFill>
              <a:srgbClr val="A7C8D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65008" y="39867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EDR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2148840"/>
            <a:ext cx="1188720" cy="502920"/>
          </a:xfrm>
          <a:prstGeom prst="rect">
            <a:avLst/>
          </a:prstGeom>
          <a:solidFill>
            <a:srgbClr val="E4E7DF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21488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43600" y="2788920"/>
            <a:ext cx="548640" cy="502920"/>
          </a:xfrm>
          <a:prstGeom prst="rect">
            <a:avLst/>
          </a:prstGeom>
          <a:solidFill>
            <a:srgbClr val="E4E7DF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43600" y="27889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537960" y="2788920"/>
            <a:ext cx="548640" cy="502920"/>
          </a:xfrm>
          <a:prstGeom prst="rect">
            <a:avLst/>
          </a:prstGeom>
          <a:solidFill>
            <a:srgbClr val="E4E7DF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37960" y="27889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0058400" y="2148840"/>
            <a:ext cx="1188720" cy="457200"/>
          </a:xfrm>
          <a:prstGeom prst="rect">
            <a:avLst/>
          </a:prstGeom>
          <a:solidFill>
            <a:srgbClr val="EDE6D7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05840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0058400" y="2697480"/>
            <a:ext cx="1188720" cy="457200"/>
          </a:xfrm>
          <a:prstGeom prst="rect">
            <a:avLst/>
          </a:prstGeom>
          <a:solidFill>
            <a:srgbClr val="EDE6D7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58400" y="2697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943600" y="3566160"/>
            <a:ext cx="411480" cy="365760"/>
          </a:xfrm>
          <a:prstGeom prst="rect">
            <a:avLst/>
          </a:prstGeom>
          <a:solidFill>
            <a:srgbClr val="E7E9EC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46520" y="3566160"/>
            <a:ext cx="411480" cy="365760"/>
          </a:xfrm>
          <a:prstGeom prst="rect">
            <a:avLst/>
          </a:prstGeom>
          <a:solidFill>
            <a:srgbClr val="E7E9EC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0720" y="44074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estantes 3 y 4 reorganizados, no vaciados · equipos y mesas se quedan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94360" y="4983480"/>
            <a:ext cx="1097280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914400" y="50749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pide El Aula, en concreto: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Solo reorganizar estantes para un pasillo de 3.0 m × 6.0 m — los racks 3 y 4 siguen accesibles, no se vacían. Equipos parados y mesas se quedan donde están.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Pruebas con el pantógrafo (sin uñas) + un sensor de altura simple y calibrado en las uñas — no viene en el equipo, lo necesitamos, y ya lo resolví al milímetro en Botoni.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pone qué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Pongo mi plata en lo que es mío. A Montasa le pido recuperar un activo suyo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440680" cy="3383280"/>
          </a:xfrm>
          <a:prstGeom prst="roundRect">
            <a:avLst>
              <a:gd name="adj" fmla="val 2432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5440680" cy="10972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pongo yo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NRE / ingeniería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9900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comprado en C&amp;D: transceptores, el emulador, el ESP32, componentes.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cómputo (la Jetson)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8130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es parte del NRE. Lo cubro yo.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6360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mi idea, mi proyecto, mi sueño. El riesgo de la apuesta es mío.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828800"/>
            <a:ext cx="5303520" cy="3383280"/>
          </a:xfrm>
          <a:prstGeom prst="roundRect">
            <a:avLst>
              <a:gd name="adj" fmla="val 2432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828800"/>
            <a:ext cx="530352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2103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pone Montasa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583680" y="2697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propio activo, que vuelve a rentar. No es gasto del proyecto.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38862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y confianza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83680" y="417880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Montasa ya me ha dado. Lo tomo como su inversión en esto.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548640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54864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 pido a Montasa que financie mi sueño. Le pido que recupere una máquina suya — y yo pongo todo lo demás.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cómputo, por etapas — según la inversión de cada una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cámaras no reemplazan al LiDAR: arrancan barato; el LiDAR agrega seguridad, mapeo y robustez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534924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214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· Odometría + Kalman/ArUco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852928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Orin 8 GB + 2 webcams que ya tengo. La pongo yo. Más difícil (sin la red de seguridad del LiDAR), pero suficiente para localizar y autofinanciada.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828800"/>
            <a:ext cx="5349240" cy="10972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1214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2 · LiDAR (tras formalizar)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852928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Unitree L2 que ya definimos. Suma SLAM, mapeo en vivo y detección de obstáculos: robótica más robusta y una capa de seguridad. El L2 no cambia.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43434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3EEDC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4348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decidir: el cómputo del LiDAR — 8 GB vs 16 GB de GPU.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L2 no cambia; la pregunta es cuánta GPU para correrlo. (La simulación Isaac Sim es aparte: corre en una PC, no en la Jetson del equipo.)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LiDAR es más barato pero se pierde una capa de seguridad y el mapeo. Con LiDAR: más robusto, más seguro — y sigue siendo el plan.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necesito de vos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esto es un cheque por hardware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12264"/>
            <a:ext cx="384048" cy="384048"/>
          </a:xfrm>
          <a:prstGeom prst="ellipse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92938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 — o permiso de pruebas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80760" y="1911096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122 para tenerlo de plataforma. Si no se puede ya: permiso para pruebas reversibles en equipos de mantenimiento preventivo, solo para la odometría. Nada se corta ni se mueve; van y vuelven igual.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300984"/>
            <a:ext cx="384048" cy="384048"/>
          </a:xfrm>
          <a:prstGeom prst="ellipse">
            <a:avLst/>
          </a:prstGeom>
          <a:solidFill>
            <a:srgbClr val="37C3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81328" y="311810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propio equipo para la etapa fuerte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80760" y="3099816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Pasada la odometría: el 122 para pruebas extensivas de Kalman + ArUco, instalar el cómputo y el LiDAR, diseñar la caja 3D del circuito y formalizar.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" y="416052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489704"/>
            <a:ext cx="384048" cy="38404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81328" y="430682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Aula — reorganizar estantes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080760" y="4288536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Liberar un pasillo de 3 × 6 m reorganizando estantes. No deshace el taller.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539496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53949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software ya está y el NRE lo pongo yo. Lo que pido es un lugar y un equipo donde probarlo.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TaTa · Tecnología Avanzada de Transporte Autónomo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TaTa · Estado y pedido — octubre 2026</dc:title>
  <dc:subject>PptxGenJS Presentation</dc:subject>
  <dc:creator>TaTa</dc:creator>
  <cp:lastModifiedBy>TaTa</cp:lastModifiedBy>
  <cp:revision>1</cp:revision>
  <dcterms:created xsi:type="dcterms:W3CDTF">2026-10-30T15:43:35Z</dcterms:created>
  <dcterms:modified xsi:type="dcterms:W3CDTF">2026-10-30T15:43:35Z</dcterms:modified>
</cp:coreProperties>
</file>