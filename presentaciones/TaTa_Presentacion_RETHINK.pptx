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Arrancar dando las gracias por el acceso al plano y por la visita. Tono de plática, no de pitch. La idea: venimos a contarles lo que vimos, no a venderles.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Marcar el orden en voz alta: primero lo suyo, al final lo nuestro. Si se invierte el orden, esto se vuelve una visita de vendedor.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slide es el que compra credibilidad. Decirlo simple: no les preguntamos, lo medimos. Si preguntan cómo, contar que el DWG no abría ni en su laptop y hubo que convertirlo.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toca preguntar de frente: ¿cuál de las tres es la que se va a construir? Todo lo demás depende de eso. Si no lo saben todavía, ese ya es un hallazgo.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los sorprende. Nadie llega a una reunión sabiendo que manejan maxicubos. Sirve para probar que sí leímos el plano en serio.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slide de la reunión. Pausa larga aquí. No es opinión nuestra: es la ficha del fabricante contra la geometría de su plano. Dejar que ellos hablen primero.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slide es el que evita que nos tumben el argumento. Alguien siempre dice "pero por ese pasillo sí pasa el montacargas". Adelantarse: sí, por esos cuatro. Por los otros 25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slide que nos separa de un vendedor. Decirlo en voz alta y sin adornos: preferimos perder la venta a venderles algo que no va a funcionar.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Contarlo como anécdota: estábamos manejando en la simulación y nos quedamos encerrados. Ahí caímos. Suena mucho mejor que presentarlo como auditoría.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Pantalla completa y control USB listo antes de entrar. Que lo maneje alguien de ellos, de preferencia un operador. Vale más que diez slides. Si se traban en el pasillo, no decir nada: que lo descubran.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Aclarar que el diseño es paramétrico: si nos dan las medidas reales de esa bodega, se los regeneramos en minutos ahí mismo. Eso impresiona más que el dibujo.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esconder que son costos, no precio de venta. Esa honestidad compra la conversación de precio que viene después. Si preguntan el precio final, decir que sale cuando tengamos las cinco respuestas.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preguntan por el CAN del Baoli: decir la verdad, que hay que validarlo en el equipo real antes de cerrar el diseño. Nunca inventar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Señalar lo de la estación de carga: respetamos lo que ellos ya habían pensado. Es un detalle chiquito que cae muy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Vender la Fase Watch, no la autonomía. Es barata, es rápida y genera el dato que justifica todo lo demás. Si sólo se llevan una idea de la reunión, que sea 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Anotar las respuestas ahí mismo, delante de ellos. Salir de la reunión con estas cinco contestadas es el objetivo real del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volviendo a la Fase Watch y a las cinco preguntas. Proponer fecha concreta para el levantamiento antes de que se paren de la silla.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C"/>
        </a:solidFill>
      </p:bgPr>
    </p:bg>
    <p:spTree>
      <p:nvGrpSpPr>
        <p:cNvPr id="1" name=""/>
        <p:cNvGrpSpPr/>
        <p:nvPr/>
      </p:nvGrpSpPr>
      <p:grpSpPr>
        <a:xfrm>
          <a:off x="0" y="0"/>
          <a:ext cx="0" cy="0"/>
          <a:chOff x="0" y="0"/>
          <a:chExt cx="0" cy="0"/>
        </a:xfrm>
      </p:grpSpPr>
      <p:pic>
        <p:nvPicPr>
          <p:cNvPr id="2" name="Image 0" descr="im_general.jpg">    </p:cNvPr>
          <p:cNvPicPr>
            <a:picLocks noChangeAspect="1"/>
          </p:cNvPicPr>
          <p:nvPr/>
        </p:nvPicPr>
        <p:blipFill>
          <a:blip r:embed="rId1">
            <a:alphaModFix amt="26000"/>
          </a:blip>
          <a:srcRect l="0" r="0" t="0" b="0"/>
          <a:stretch/>
        </p:blipFill>
        <p:spPr>
          <a:xfrm>
            <a:off x="0" y="0"/>
            <a:ext cx="12161520" cy="6858000"/>
          </a:xfrm>
          <a:prstGeom prst="rect">
            <a:avLst/>
          </a:prstGeom>
        </p:spPr>
      </p:pic>
      <p:sp>
        <p:nvSpPr>
          <p:cNvPr id="3" name="Shape 0"/>
          <p:cNvSpPr/>
          <p:nvPr/>
        </p:nvSpPr>
        <p:spPr>
          <a:xfrm>
            <a:off x="0" y="0"/>
            <a:ext cx="12161520" cy="6858000"/>
          </a:xfrm>
          <a:prstGeom prst="rect">
            <a:avLst/>
          </a:prstGeom>
          <a:solidFill>
            <a:srgbClr val="14171C">
              <a:alpha val="86000"/>
            </a:srgbClr>
          </a:solidFill>
          <a:ln/>
        </p:spPr>
      </p:sp>
      <p:sp>
        <p:nvSpPr>
          <p:cNvPr id="4" name="Shape 1"/>
          <p:cNvSpPr/>
          <p:nvPr/>
        </p:nvSpPr>
        <p:spPr>
          <a:xfrm>
            <a:off x="685800" y="1938528"/>
            <a:ext cx="1371600" cy="41148"/>
          </a:xfrm>
          <a:prstGeom prst="rect">
            <a:avLst/>
          </a:prstGeom>
          <a:solidFill>
            <a:srgbClr val="F5C518"/>
          </a:solidFill>
          <a:ln/>
        </p:spPr>
      </p:sp>
      <p:sp>
        <p:nvSpPr>
          <p:cNvPr id="5" name="Text 2"/>
          <p:cNvSpPr/>
          <p:nvPr/>
        </p:nvSpPr>
        <p:spPr>
          <a:xfrm>
            <a:off x="685800" y="685800"/>
            <a:ext cx="5486400" cy="914400"/>
          </a:xfrm>
          <a:prstGeom prst="rect">
            <a:avLst/>
          </a:prstGeom>
          <a:noFill/>
          <a:ln/>
        </p:spPr>
        <p:txBody>
          <a:bodyPr wrap="square" lIns="0" tIns="0" rIns="0" bIns="0" rtlCol="0" anchor="ctr"/>
          <a:lstStyle/>
          <a:p>
            <a:pPr indent="0" marL="0">
              <a:buNone/>
            </a:pPr>
            <a:r>
              <a:rPr lang="en-US" sz="5400" b="1" dirty="0">
                <a:solidFill>
                  <a:srgbClr val="F5C518"/>
                </a:solidFill>
                <a:latin typeface="Cambria" pitchFamily="34" charset="0"/>
                <a:ea typeface="Cambria" pitchFamily="34" charset="-122"/>
                <a:cs typeface="Cambria" pitchFamily="34" charset="-120"/>
              </a:rPr>
              <a:t>TaTa</a:t>
            </a:r>
            <a:endParaRPr lang="en-US" sz="5400" dirty="0"/>
          </a:p>
        </p:txBody>
      </p:sp>
      <p:sp>
        <p:nvSpPr>
          <p:cNvPr id="6" name="Text 3"/>
          <p:cNvSpPr/>
          <p:nvPr/>
        </p:nvSpPr>
        <p:spPr>
          <a:xfrm>
            <a:off x="713232" y="1572768"/>
            <a:ext cx="7315200" cy="365760"/>
          </a:xfrm>
          <a:prstGeom prst="rect">
            <a:avLst/>
          </a:prstGeom>
          <a:noFill/>
          <a:ln/>
        </p:spPr>
        <p:txBody>
          <a:bodyPr wrap="square" lIns="0" tIns="0" rIns="0" bIns="0" rtlCol="0" anchor="ctr"/>
          <a:lstStyle/>
          <a:p>
            <a:pPr indent="0" marL="0">
              <a:buNone/>
            </a:pPr>
            <a:r>
              <a:rPr lang="en-US" sz="1400" dirty="0">
                <a:solidFill>
                  <a:srgbClr val="8B949E"/>
                </a:solidFill>
                <a:latin typeface="Calibri" pitchFamily="34" charset="0"/>
                <a:ea typeface="Calibri" pitchFamily="34" charset="-122"/>
                <a:cs typeface="Calibri" pitchFamily="34" charset="-120"/>
              </a:rPr>
              <a:t>Tecnología Avanzada de Transporte Autónomo</a:t>
            </a:r>
            <a:endParaRPr lang="en-US" sz="1400" dirty="0"/>
          </a:p>
        </p:txBody>
      </p:sp>
      <p:sp>
        <p:nvSpPr>
          <p:cNvPr id="7" name="Text 4"/>
          <p:cNvSpPr/>
          <p:nvPr/>
        </p:nvSpPr>
        <p:spPr>
          <a:xfrm>
            <a:off x="685800" y="2057400"/>
            <a:ext cx="7863840" cy="1371600"/>
          </a:xfrm>
          <a:prstGeom prst="rect">
            <a:avLst/>
          </a:prstGeom>
          <a:noFill/>
          <a:ln/>
        </p:spPr>
        <p:txBody>
          <a:bodyPr wrap="square" lIns="0" tIns="0" rIns="0" bIns="0" rtlCol="0" anchor="ctr"/>
          <a:lstStyle/>
          <a:p>
            <a:pPr indent="0" marL="0">
              <a:lnSpc>
                <a:spcPts val="3400"/>
              </a:lnSpc>
              <a:buNone/>
            </a:pPr>
            <a:r>
              <a:rPr lang="en-US" sz="2700" b="1" dirty="0">
                <a:solidFill>
                  <a:srgbClr val="ECEBE6"/>
                </a:solidFill>
                <a:latin typeface="Cambria" pitchFamily="34" charset="0"/>
                <a:ea typeface="Cambria" pitchFamily="34" charset="-122"/>
                <a:cs typeface="Cambria" pitchFamily="34" charset="-120"/>
              </a:rPr>
              <a:t>Sus montacargas, manejándose solos.</a:t>
            </a:r>
            <a:endParaRPr lang="en-US" sz="2700" dirty="0"/>
          </a:p>
          <a:p>
            <a:pPr indent="0" marL="0">
              <a:lnSpc>
                <a:spcPts val="3400"/>
              </a:lnSpc>
              <a:buNone/>
            </a:pPr>
            <a:r>
              <a:rPr lang="en-US" sz="2700" b="1" dirty="0">
                <a:solidFill>
                  <a:srgbClr val="ECEBE6"/>
                </a:solidFill>
                <a:latin typeface="Cambria" pitchFamily="34" charset="0"/>
                <a:ea typeface="Cambria" pitchFamily="34" charset="-122"/>
                <a:cs typeface="Cambria" pitchFamily="34" charset="-120"/>
              </a:rPr>
              <a:t>Sin comprar montacargas nuevos.</a:t>
            </a:r>
            <a:endParaRPr lang="en-US" sz="2700" dirty="0"/>
          </a:p>
        </p:txBody>
      </p:sp>
      <p:sp>
        <p:nvSpPr>
          <p:cNvPr id="8" name="Text 5"/>
          <p:cNvSpPr/>
          <p:nvPr/>
        </p:nvSpPr>
        <p:spPr>
          <a:xfrm>
            <a:off x="685800" y="5806440"/>
            <a:ext cx="5486400" cy="365760"/>
          </a:xfrm>
          <a:prstGeom prst="rect">
            <a:avLst/>
          </a:prstGeom>
          <a:noFill/>
          <a:ln/>
        </p:spPr>
        <p:txBody>
          <a:bodyPr wrap="square" lIns="0" tIns="0" rIns="0" bIns="0" rtlCol="0" anchor="ctr"/>
          <a:lstStyle/>
          <a:p>
            <a:pPr indent="0" marL="0">
              <a:buNone/>
            </a:pPr>
            <a:r>
              <a:rPr lang="en-US" sz="1500" b="1" dirty="0">
                <a:solidFill>
                  <a:srgbClr val="F5C518"/>
                </a:solidFill>
                <a:latin typeface="Calibri" pitchFamily="34" charset="0"/>
                <a:ea typeface="Calibri" pitchFamily="34" charset="-122"/>
                <a:cs typeface="Calibri" pitchFamily="34" charset="-120"/>
              </a:rPr>
              <a:t>RETHINK · ELCATEX</a:t>
            </a:r>
            <a:endParaRPr lang="en-US" sz="1500" dirty="0"/>
          </a:p>
        </p:txBody>
      </p:sp>
      <p:sp>
        <p:nvSpPr>
          <p:cNvPr id="9" name="Text 6"/>
          <p:cNvSpPr/>
          <p:nvPr/>
        </p:nvSpPr>
        <p:spPr>
          <a:xfrm>
            <a:off x="685800" y="6172200"/>
            <a:ext cx="5486400" cy="32004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Lo que encontramos en su almacén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71C"/>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ECEBE6"/>
                </a:solidFill>
                <a:latin typeface="Cambria" pitchFamily="34" charset="0"/>
                <a:ea typeface="Cambria" pitchFamily="34" charset="-122"/>
                <a:cs typeface="Cambria" pitchFamily="34" charset="-120"/>
              </a:rPr>
              <a:t>De qué vamos a platicar</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8B949E"/>
                </a:solidFill>
                <a:latin typeface="Calibri" pitchFamily="34" charset="0"/>
                <a:ea typeface="Calibri" pitchFamily="34" charset="-122"/>
                <a:cs typeface="Calibri" pitchFamily="34" charset="-120"/>
              </a:rPr>
              <a:t>Cuatro cosas, y la tercera la manejan ustedes</a:t>
            </a:r>
            <a:endParaRPr lang="en-US" sz="1350" dirty="0"/>
          </a:p>
        </p:txBody>
      </p:sp>
      <p:sp>
        <p:nvSpPr>
          <p:cNvPr id="4" name="Shape 2"/>
          <p:cNvSpPr/>
          <p:nvPr/>
        </p:nvSpPr>
        <p:spPr>
          <a:xfrm>
            <a:off x="594360" y="1874520"/>
            <a:ext cx="10972800" cy="914400"/>
          </a:xfrm>
          <a:prstGeom prst="roundRect">
            <a:avLst>
              <a:gd name="adj" fmla="val 9000"/>
            </a:avLst>
          </a:prstGeom>
          <a:solidFill>
            <a:srgbClr val="20242B"/>
          </a:solidFill>
          <a:ln/>
          <a:effectLst>
            <a:outerShdw sx="100000" sy="100000" kx="0" ky="0" algn="bl" rotWithShape="0" blurRad="152400" dist="38100" dir="5400000">
              <a:srgbClr val="000000">
                <a:alpha val="28000"/>
              </a:srgbClr>
            </a:outerShdw>
          </a:effectLst>
        </p:spPr>
      </p:sp>
      <p:sp>
        <p:nvSpPr>
          <p:cNvPr id="5" name="Shape 3"/>
          <p:cNvSpPr/>
          <p:nvPr/>
        </p:nvSpPr>
        <p:spPr>
          <a:xfrm>
            <a:off x="914400" y="2139696"/>
            <a:ext cx="384048" cy="384048"/>
          </a:xfrm>
          <a:prstGeom prst="ellipse">
            <a:avLst/>
          </a:prstGeom>
          <a:solidFill>
            <a:srgbClr val="F5C518"/>
          </a:solidFill>
          <a:ln/>
        </p:spPr>
      </p:sp>
      <p:sp>
        <p:nvSpPr>
          <p:cNvPr id="6" name="Text 4"/>
          <p:cNvSpPr/>
          <p:nvPr/>
        </p:nvSpPr>
        <p:spPr>
          <a:xfrm>
            <a:off x="914400" y="2139696"/>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81328" y="2029968"/>
            <a:ext cx="5669280" cy="320040"/>
          </a:xfrm>
          <a:prstGeom prst="rect">
            <a:avLst/>
          </a:prstGeom>
          <a:noFill/>
          <a:ln/>
        </p:spPr>
        <p:txBody>
          <a:bodyPr wrap="square" lIns="0" tIns="0" rIns="0" bIns="0" rtlCol="0" anchor="ctr"/>
          <a:lstStyle/>
          <a:p>
            <a:pPr indent="0" marL="0">
              <a:buNone/>
            </a:pPr>
            <a:r>
              <a:rPr lang="en-US" sz="1600" b="1" dirty="0">
                <a:solidFill>
                  <a:srgbClr val="ECEBE6"/>
                </a:solidFill>
                <a:latin typeface="Calibri" pitchFamily="34" charset="0"/>
                <a:ea typeface="Calibri" pitchFamily="34" charset="-122"/>
                <a:cs typeface="Calibri" pitchFamily="34" charset="-120"/>
              </a:rPr>
              <a:t>Nos metimos en su plano</a:t>
            </a:r>
            <a:endParaRPr lang="en-US" sz="1600" dirty="0"/>
          </a:p>
        </p:txBody>
      </p:sp>
      <p:sp>
        <p:nvSpPr>
          <p:cNvPr id="8" name="Text 6"/>
          <p:cNvSpPr/>
          <p:nvPr/>
        </p:nvSpPr>
        <p:spPr>
          <a:xfrm>
            <a:off x="1481328" y="2359152"/>
            <a:ext cx="9418320" cy="32004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Lo reconstruimos en 3D para poder caminarlo</a:t>
            </a:r>
            <a:endParaRPr lang="en-US" sz="1200" dirty="0"/>
          </a:p>
        </p:txBody>
      </p:sp>
      <p:sp>
        <p:nvSpPr>
          <p:cNvPr id="9" name="Shape 7"/>
          <p:cNvSpPr/>
          <p:nvPr/>
        </p:nvSpPr>
        <p:spPr>
          <a:xfrm>
            <a:off x="594360" y="2953512"/>
            <a:ext cx="10972800" cy="914400"/>
          </a:xfrm>
          <a:prstGeom prst="roundRect">
            <a:avLst>
              <a:gd name="adj" fmla="val 9000"/>
            </a:avLst>
          </a:prstGeom>
          <a:solidFill>
            <a:srgbClr val="20242B"/>
          </a:solidFill>
          <a:ln/>
          <a:effectLst>
            <a:outerShdw sx="100000" sy="100000" kx="0" ky="0" algn="bl" rotWithShape="0" blurRad="152400" dist="38100" dir="5400000">
              <a:srgbClr val="000000">
                <a:alpha val="28000"/>
              </a:srgbClr>
            </a:outerShdw>
          </a:effectLst>
        </p:spPr>
      </p:sp>
      <p:sp>
        <p:nvSpPr>
          <p:cNvPr id="10" name="Shape 8"/>
          <p:cNvSpPr/>
          <p:nvPr/>
        </p:nvSpPr>
        <p:spPr>
          <a:xfrm>
            <a:off x="914400" y="3218688"/>
            <a:ext cx="384048" cy="384048"/>
          </a:xfrm>
          <a:prstGeom prst="ellipse">
            <a:avLst/>
          </a:prstGeom>
          <a:solidFill>
            <a:srgbClr val="FF5A52"/>
          </a:solidFill>
          <a:ln/>
        </p:spPr>
      </p:sp>
      <p:sp>
        <p:nvSpPr>
          <p:cNvPr id="11" name="Text 9"/>
          <p:cNvSpPr/>
          <p:nvPr/>
        </p:nvSpPr>
        <p:spPr>
          <a:xfrm>
            <a:off x="914400" y="3218688"/>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481328" y="3108960"/>
            <a:ext cx="5669280" cy="320040"/>
          </a:xfrm>
          <a:prstGeom prst="rect">
            <a:avLst/>
          </a:prstGeom>
          <a:noFill/>
          <a:ln/>
        </p:spPr>
        <p:txBody>
          <a:bodyPr wrap="square" lIns="0" tIns="0" rIns="0" bIns="0" rtlCol="0" anchor="ctr"/>
          <a:lstStyle/>
          <a:p>
            <a:pPr indent="0" marL="0">
              <a:buNone/>
            </a:pPr>
            <a:r>
              <a:rPr lang="en-US" sz="1600" b="1" dirty="0">
                <a:solidFill>
                  <a:srgbClr val="ECEBE6"/>
                </a:solidFill>
                <a:latin typeface="Calibri" pitchFamily="34" charset="0"/>
                <a:ea typeface="Calibri" pitchFamily="34" charset="-122"/>
                <a:cs typeface="Calibri" pitchFamily="34" charset="-120"/>
              </a:rPr>
              <a:t>Encontramos tres cosas</a:t>
            </a:r>
            <a:endParaRPr lang="en-US" sz="1600" dirty="0"/>
          </a:p>
        </p:txBody>
      </p:sp>
      <p:sp>
        <p:nvSpPr>
          <p:cNvPr id="13" name="Text 11"/>
          <p:cNvSpPr/>
          <p:nvPr/>
        </p:nvSpPr>
        <p:spPr>
          <a:xfrm>
            <a:off x="1481328" y="3438144"/>
            <a:ext cx="9418320" cy="32004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Ninguna es mala noticia, pero hay que decidirlas antes de automatizar</a:t>
            </a:r>
            <a:endParaRPr lang="en-US" sz="1200" dirty="0"/>
          </a:p>
        </p:txBody>
      </p:sp>
      <p:sp>
        <p:nvSpPr>
          <p:cNvPr id="14" name="Shape 12"/>
          <p:cNvSpPr/>
          <p:nvPr/>
        </p:nvSpPr>
        <p:spPr>
          <a:xfrm>
            <a:off x="594360" y="4032504"/>
            <a:ext cx="10972800" cy="914400"/>
          </a:xfrm>
          <a:prstGeom prst="roundRect">
            <a:avLst>
              <a:gd name="adj" fmla="val 9000"/>
            </a:avLst>
          </a:prstGeom>
          <a:solidFill>
            <a:srgbClr val="20242B"/>
          </a:solidFill>
          <a:ln/>
          <a:effectLst>
            <a:outerShdw sx="100000" sy="100000" kx="0" ky="0" algn="bl" rotWithShape="0" blurRad="152400" dist="38100" dir="5400000">
              <a:srgbClr val="000000">
                <a:alpha val="28000"/>
              </a:srgbClr>
            </a:outerShdw>
          </a:effectLst>
        </p:spPr>
      </p:sp>
      <p:sp>
        <p:nvSpPr>
          <p:cNvPr id="15" name="Shape 13"/>
          <p:cNvSpPr/>
          <p:nvPr/>
        </p:nvSpPr>
        <p:spPr>
          <a:xfrm>
            <a:off x="914400" y="4297680"/>
            <a:ext cx="384048" cy="384048"/>
          </a:xfrm>
          <a:prstGeom prst="ellipse">
            <a:avLst/>
          </a:prstGeom>
          <a:solidFill>
            <a:srgbClr val="37C3FF"/>
          </a:solidFill>
          <a:ln/>
        </p:spPr>
      </p:sp>
      <p:sp>
        <p:nvSpPr>
          <p:cNvPr id="16" name="Text 14"/>
          <p:cNvSpPr/>
          <p:nvPr/>
        </p:nvSpPr>
        <p:spPr>
          <a:xfrm>
            <a:off x="914400" y="4297680"/>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481328" y="4187952"/>
            <a:ext cx="5669280" cy="320040"/>
          </a:xfrm>
          <a:prstGeom prst="rect">
            <a:avLst/>
          </a:prstGeom>
          <a:noFill/>
          <a:ln/>
        </p:spPr>
        <p:txBody>
          <a:bodyPr wrap="square" lIns="0" tIns="0" rIns="0" bIns="0" rtlCol="0" anchor="ctr"/>
          <a:lstStyle/>
          <a:p>
            <a:pPr indent="0" marL="0">
              <a:buNone/>
            </a:pPr>
            <a:r>
              <a:rPr lang="en-US" sz="1600" b="1" dirty="0">
                <a:solidFill>
                  <a:srgbClr val="ECEBE6"/>
                </a:solidFill>
                <a:latin typeface="Calibri" pitchFamily="34" charset="0"/>
                <a:ea typeface="Calibri" pitchFamily="34" charset="-122"/>
                <a:cs typeface="Calibri" pitchFamily="34" charset="-120"/>
              </a:rPr>
              <a:t>Se lo trajimos para que lo manejen</a:t>
            </a:r>
            <a:endParaRPr lang="en-US" sz="1600" dirty="0"/>
          </a:p>
        </p:txBody>
      </p:sp>
      <p:sp>
        <p:nvSpPr>
          <p:cNvPr id="18" name="Text 16"/>
          <p:cNvSpPr/>
          <p:nvPr/>
        </p:nvSpPr>
        <p:spPr>
          <a:xfrm>
            <a:off x="1481328" y="4517136"/>
            <a:ext cx="9418320" cy="32004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Su almacén, en una simulación, con un montacargas de verdad</a:t>
            </a:r>
            <a:endParaRPr lang="en-US" sz="1200" dirty="0"/>
          </a:p>
        </p:txBody>
      </p:sp>
      <p:sp>
        <p:nvSpPr>
          <p:cNvPr id="19" name="Shape 17"/>
          <p:cNvSpPr/>
          <p:nvPr/>
        </p:nvSpPr>
        <p:spPr>
          <a:xfrm>
            <a:off x="594360" y="5111496"/>
            <a:ext cx="10972800" cy="914400"/>
          </a:xfrm>
          <a:prstGeom prst="roundRect">
            <a:avLst>
              <a:gd name="adj" fmla="val 9000"/>
            </a:avLst>
          </a:prstGeom>
          <a:solidFill>
            <a:srgbClr val="20242B"/>
          </a:solidFill>
          <a:ln/>
          <a:effectLst>
            <a:outerShdw sx="100000" sy="100000" kx="0" ky="0" algn="bl" rotWithShape="0" blurRad="152400" dist="38100" dir="5400000">
              <a:srgbClr val="000000">
                <a:alpha val="28000"/>
              </a:srgbClr>
            </a:outerShdw>
          </a:effectLst>
        </p:spPr>
      </p:sp>
      <p:sp>
        <p:nvSpPr>
          <p:cNvPr id="20" name="Shape 18"/>
          <p:cNvSpPr/>
          <p:nvPr/>
        </p:nvSpPr>
        <p:spPr>
          <a:xfrm>
            <a:off x="914400" y="5376672"/>
            <a:ext cx="384048" cy="384048"/>
          </a:xfrm>
          <a:prstGeom prst="ellipse">
            <a:avLst/>
          </a:prstGeom>
          <a:solidFill>
            <a:srgbClr val="39D98A"/>
          </a:solidFill>
          <a:ln/>
        </p:spPr>
      </p:sp>
      <p:sp>
        <p:nvSpPr>
          <p:cNvPr id="21" name="Text 19"/>
          <p:cNvSpPr/>
          <p:nvPr/>
        </p:nvSpPr>
        <p:spPr>
          <a:xfrm>
            <a:off x="914400" y="5376672"/>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1481328" y="5266944"/>
            <a:ext cx="5669280" cy="320040"/>
          </a:xfrm>
          <a:prstGeom prst="rect">
            <a:avLst/>
          </a:prstGeom>
          <a:noFill/>
          <a:ln/>
        </p:spPr>
        <p:txBody>
          <a:bodyPr wrap="square" lIns="0" tIns="0" rIns="0" bIns="0" rtlCol="0" anchor="ctr"/>
          <a:lstStyle/>
          <a:p>
            <a:pPr indent="0" marL="0">
              <a:buNone/>
            </a:pPr>
            <a:r>
              <a:rPr lang="en-US" sz="1600" b="1" dirty="0">
                <a:solidFill>
                  <a:srgbClr val="ECEBE6"/>
                </a:solidFill>
                <a:latin typeface="Calibri" pitchFamily="34" charset="0"/>
                <a:ea typeface="Calibri" pitchFamily="34" charset="-122"/>
                <a:cs typeface="Calibri" pitchFamily="34" charset="-120"/>
              </a:rPr>
              <a:t>Y así es como se vería</a:t>
            </a:r>
            <a:endParaRPr lang="en-US" sz="1600" dirty="0"/>
          </a:p>
        </p:txBody>
      </p:sp>
      <p:sp>
        <p:nvSpPr>
          <p:cNvPr id="23" name="Text 21"/>
          <p:cNvSpPr/>
          <p:nvPr/>
        </p:nvSpPr>
        <p:spPr>
          <a:xfrm>
            <a:off x="1481328" y="5596128"/>
            <a:ext cx="9418320" cy="32004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El kit, lo que cuesta y por dónde empezaríamos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1A1D23"/>
                </a:solidFill>
                <a:latin typeface="Cambria" pitchFamily="34" charset="0"/>
                <a:ea typeface="Cambria" pitchFamily="34" charset="-122"/>
                <a:cs typeface="Cambria" pitchFamily="34" charset="-120"/>
              </a:rPr>
              <a:t>Nos metimos en su plano</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Agarramos el RETHINK_2026.dwg y lo volvimos un almacén 3D que se puede caminar</a:t>
            </a:r>
            <a:endParaRPr lang="en-US" sz="1350" dirty="0"/>
          </a:p>
        </p:txBody>
      </p:sp>
      <p:pic>
        <p:nvPicPr>
          <p:cNvPr id="4" name="Image 0" descr="im_general.jpg">    </p:cNvPr>
          <p:cNvPicPr>
            <a:picLocks noChangeAspect="1"/>
          </p:cNvPicPr>
          <p:nvPr/>
        </p:nvPicPr>
        <p:blipFill>
          <a:blip r:embed="rId1"/>
          <a:srcRect l="0" r="0" t="0" b="0"/>
          <a:stretch/>
        </p:blipFill>
        <p:spPr>
          <a:xfrm>
            <a:off x="5989320" y="1783080"/>
            <a:ext cx="5623560" cy="3163824"/>
          </a:xfrm>
          <a:prstGeom prst="rect">
            <a:avLst/>
          </a:prstGeom>
          <a:effectLst>
            <a:outerShdw sx="100000" sy="100000" kx="0" ky="0" algn="bl" rotWithShape="0" blurRad="152400" dist="38100" dir="5400000">
              <a:srgbClr val="000000">
                <a:alpha val="28000"/>
              </a:srgbClr>
            </a:outerShdw>
          </a:effectLst>
        </p:spPr>
      </p:pic>
      <p:sp>
        <p:nvSpPr>
          <p:cNvPr id="5" name="Text 2"/>
          <p:cNvSpPr/>
          <p:nvPr/>
        </p:nvSpPr>
        <p:spPr>
          <a:xfrm>
            <a:off x="594360" y="1783080"/>
            <a:ext cx="2468880" cy="658368"/>
          </a:xfrm>
          <a:prstGeom prst="rect">
            <a:avLst/>
          </a:prstGeom>
          <a:noFill/>
          <a:ln/>
        </p:spPr>
        <p:txBody>
          <a:bodyPr wrap="square" lIns="0" tIns="0" rIns="0" bIns="0" rtlCol="0" anchor="ctr"/>
          <a:lstStyle/>
          <a:p>
            <a:pPr algn="l" indent="0" marL="0">
              <a:buNone/>
            </a:pPr>
            <a:r>
              <a:rPr lang="en-US" sz="4000" b="1" dirty="0">
                <a:solidFill>
                  <a:srgbClr val="F5C518"/>
                </a:solidFill>
                <a:latin typeface="Cambria" pitchFamily="34" charset="0"/>
                <a:ea typeface="Cambria" pitchFamily="34" charset="-122"/>
                <a:cs typeface="Cambria" pitchFamily="34" charset="-120"/>
              </a:rPr>
              <a:t>2,138</a:t>
            </a:r>
            <a:endParaRPr lang="en-US" sz="4000" dirty="0"/>
          </a:p>
        </p:txBody>
      </p:sp>
      <p:sp>
        <p:nvSpPr>
          <p:cNvPr id="6" name="Text 3"/>
          <p:cNvSpPr/>
          <p:nvPr/>
        </p:nvSpPr>
        <p:spPr>
          <a:xfrm>
            <a:off x="594360" y="2441448"/>
            <a:ext cx="2468880" cy="457200"/>
          </a:xfrm>
          <a:prstGeom prst="rect">
            <a:avLst/>
          </a:prstGeom>
          <a:noFill/>
          <a:ln/>
        </p:spPr>
        <p:txBody>
          <a:bodyPr wrap="square" lIns="0" tIns="0" rIns="0" bIns="0" rtlCol="0" anchor="ctr"/>
          <a:lstStyle/>
          <a:p>
            <a:pPr indent="0" marL="0">
              <a:buNone/>
            </a:pPr>
            <a:r>
              <a:rPr lang="en-US" sz="1150" dirty="0">
                <a:solidFill>
                  <a:srgbClr val="5B6470"/>
                </a:solidFill>
                <a:latin typeface="Calibri" pitchFamily="34" charset="0"/>
                <a:ea typeface="Calibri" pitchFamily="34" charset="-122"/>
                <a:cs typeface="Calibri" pitchFamily="34" charset="-120"/>
              </a:rPr>
              <a:t>ubicaciones de rack, contadas una por una</a:t>
            </a:r>
            <a:endParaRPr lang="en-US" sz="1150" dirty="0"/>
          </a:p>
        </p:txBody>
      </p:sp>
      <p:sp>
        <p:nvSpPr>
          <p:cNvPr id="7" name="Text 4"/>
          <p:cNvSpPr/>
          <p:nvPr/>
        </p:nvSpPr>
        <p:spPr>
          <a:xfrm>
            <a:off x="3246120" y="1783080"/>
            <a:ext cx="2468880" cy="658368"/>
          </a:xfrm>
          <a:prstGeom prst="rect">
            <a:avLst/>
          </a:prstGeom>
          <a:noFill/>
          <a:ln/>
        </p:spPr>
        <p:txBody>
          <a:bodyPr wrap="square" lIns="0" tIns="0" rIns="0" bIns="0" rtlCol="0" anchor="ctr"/>
          <a:lstStyle/>
          <a:p>
            <a:pPr algn="l" indent="0" marL="0">
              <a:buNone/>
            </a:pPr>
            <a:r>
              <a:rPr lang="en-US" sz="4000" b="1" dirty="0">
                <a:solidFill>
                  <a:srgbClr val="1A1D23"/>
                </a:solidFill>
                <a:latin typeface="Cambria" pitchFamily="34" charset="0"/>
                <a:ea typeface="Cambria" pitchFamily="34" charset="-122"/>
                <a:cs typeface="Cambria" pitchFamily="34" charset="-120"/>
              </a:rPr>
              <a:t>29</a:t>
            </a:r>
            <a:endParaRPr lang="en-US" sz="4000" dirty="0"/>
          </a:p>
        </p:txBody>
      </p:sp>
      <p:sp>
        <p:nvSpPr>
          <p:cNvPr id="8" name="Text 5"/>
          <p:cNvSpPr/>
          <p:nvPr/>
        </p:nvSpPr>
        <p:spPr>
          <a:xfrm>
            <a:off x="3246120" y="2441448"/>
            <a:ext cx="2468880" cy="457200"/>
          </a:xfrm>
          <a:prstGeom prst="rect">
            <a:avLst/>
          </a:prstGeom>
          <a:noFill/>
          <a:ln/>
        </p:spPr>
        <p:txBody>
          <a:bodyPr wrap="square" lIns="0" tIns="0" rIns="0" bIns="0" rtlCol="0" anchor="ctr"/>
          <a:lstStyle/>
          <a:p>
            <a:pPr indent="0" marL="0">
              <a:buNone/>
            </a:pPr>
            <a:r>
              <a:rPr lang="en-US" sz="1150" dirty="0">
                <a:solidFill>
                  <a:srgbClr val="5B6470"/>
                </a:solidFill>
                <a:latin typeface="Calibri" pitchFamily="34" charset="0"/>
                <a:ea typeface="Calibri" pitchFamily="34" charset="-122"/>
                <a:cs typeface="Calibri" pitchFamily="34" charset="-120"/>
              </a:rPr>
              <a:t>filas de rack en 5 bloques</a:t>
            </a:r>
            <a:endParaRPr lang="en-US" sz="1150" dirty="0"/>
          </a:p>
        </p:txBody>
      </p:sp>
      <p:sp>
        <p:nvSpPr>
          <p:cNvPr id="9" name="Text 6"/>
          <p:cNvSpPr/>
          <p:nvPr/>
        </p:nvSpPr>
        <p:spPr>
          <a:xfrm>
            <a:off x="594360" y="3246120"/>
            <a:ext cx="2468880" cy="658368"/>
          </a:xfrm>
          <a:prstGeom prst="rect">
            <a:avLst/>
          </a:prstGeom>
          <a:noFill/>
          <a:ln/>
        </p:spPr>
        <p:txBody>
          <a:bodyPr wrap="square" lIns="0" tIns="0" rIns="0" bIns="0" rtlCol="0" anchor="ctr"/>
          <a:lstStyle/>
          <a:p>
            <a:pPr algn="l" indent="0" marL="0">
              <a:buNone/>
            </a:pPr>
            <a:r>
              <a:rPr lang="en-US" sz="4000" b="1" dirty="0">
                <a:solidFill>
                  <a:srgbClr val="1A1D23"/>
                </a:solidFill>
                <a:latin typeface="Cambria" pitchFamily="34" charset="0"/>
                <a:ea typeface="Cambria" pitchFamily="34" charset="-122"/>
                <a:cs typeface="Cambria" pitchFamily="34" charset="-120"/>
              </a:rPr>
              <a:t>1,142</a:t>
            </a:r>
            <a:endParaRPr lang="en-US" sz="4000" dirty="0"/>
          </a:p>
        </p:txBody>
      </p:sp>
      <p:sp>
        <p:nvSpPr>
          <p:cNvPr id="10" name="Text 7"/>
          <p:cNvSpPr/>
          <p:nvPr/>
        </p:nvSpPr>
        <p:spPr>
          <a:xfrm>
            <a:off x="594360" y="3904488"/>
            <a:ext cx="2468880" cy="457200"/>
          </a:xfrm>
          <a:prstGeom prst="rect">
            <a:avLst/>
          </a:prstGeom>
          <a:noFill/>
          <a:ln/>
        </p:spPr>
        <p:txBody>
          <a:bodyPr wrap="square" lIns="0" tIns="0" rIns="0" bIns="0" rtlCol="0" anchor="ctr"/>
          <a:lstStyle/>
          <a:p>
            <a:pPr indent="0" marL="0">
              <a:buNone/>
            </a:pPr>
            <a:r>
              <a:rPr lang="en-US" sz="1150" dirty="0">
                <a:solidFill>
                  <a:srgbClr val="5B6470"/>
                </a:solidFill>
                <a:latin typeface="Calibri" pitchFamily="34" charset="0"/>
                <a:ea typeface="Calibri" pitchFamily="34" charset="-122"/>
                <a:cs typeface="Calibri" pitchFamily="34" charset="-120"/>
              </a:rPr>
              <a:t>pedazos de muro extraídos</a:t>
            </a:r>
            <a:endParaRPr lang="en-US" sz="1150" dirty="0"/>
          </a:p>
        </p:txBody>
      </p:sp>
      <p:sp>
        <p:nvSpPr>
          <p:cNvPr id="11" name="Text 8"/>
          <p:cNvSpPr/>
          <p:nvPr/>
        </p:nvSpPr>
        <p:spPr>
          <a:xfrm>
            <a:off x="3246120" y="3246120"/>
            <a:ext cx="2468880" cy="658368"/>
          </a:xfrm>
          <a:prstGeom prst="rect">
            <a:avLst/>
          </a:prstGeom>
          <a:noFill/>
          <a:ln/>
        </p:spPr>
        <p:txBody>
          <a:bodyPr wrap="square" lIns="0" tIns="0" rIns="0" bIns="0" rtlCol="0" anchor="ctr"/>
          <a:lstStyle/>
          <a:p>
            <a:pPr algn="l" indent="0" marL="0">
              <a:buNone/>
            </a:pPr>
            <a:r>
              <a:rPr lang="en-US" sz="4000" b="1" dirty="0">
                <a:solidFill>
                  <a:srgbClr val="1A1D23"/>
                </a:solidFill>
                <a:latin typeface="Cambria" pitchFamily="34" charset="0"/>
                <a:ea typeface="Cambria" pitchFamily="34" charset="-122"/>
                <a:cs typeface="Cambria" pitchFamily="34" charset="-120"/>
              </a:rPr>
              <a:t>9.20 m</a:t>
            </a:r>
            <a:endParaRPr lang="en-US" sz="4000" dirty="0"/>
          </a:p>
        </p:txBody>
      </p:sp>
      <p:sp>
        <p:nvSpPr>
          <p:cNvPr id="12" name="Text 9"/>
          <p:cNvSpPr/>
          <p:nvPr/>
        </p:nvSpPr>
        <p:spPr>
          <a:xfrm>
            <a:off x="3246120" y="3904488"/>
            <a:ext cx="2468880" cy="457200"/>
          </a:xfrm>
          <a:prstGeom prst="rect">
            <a:avLst/>
          </a:prstGeom>
          <a:noFill/>
          <a:ln/>
        </p:spPr>
        <p:txBody>
          <a:bodyPr wrap="square" lIns="0" tIns="0" rIns="0" bIns="0" rtlCol="0" anchor="ctr"/>
          <a:lstStyle/>
          <a:p>
            <a:pPr indent="0" marL="0">
              <a:buNone/>
            </a:pPr>
            <a:r>
              <a:rPr lang="en-US" sz="1150" dirty="0">
                <a:solidFill>
                  <a:srgbClr val="5B6470"/>
                </a:solidFill>
                <a:latin typeface="Calibri" pitchFamily="34" charset="0"/>
                <a:ea typeface="Calibri" pitchFamily="34" charset="-122"/>
                <a:cs typeface="Calibri" pitchFamily="34" charset="-120"/>
              </a:rPr>
              <a:t>a cumbrera, según su propio plano</a:t>
            </a:r>
            <a:endParaRPr lang="en-US" sz="1150" dirty="0"/>
          </a:p>
        </p:txBody>
      </p:sp>
      <p:sp>
        <p:nvSpPr>
          <p:cNvPr id="13" name="Shape 10"/>
          <p:cNvSpPr/>
          <p:nvPr/>
        </p:nvSpPr>
        <p:spPr>
          <a:xfrm>
            <a:off x="594360" y="5074920"/>
            <a:ext cx="10972800" cy="1234440"/>
          </a:xfrm>
          <a:prstGeom prst="roundRect">
            <a:avLst>
              <a:gd name="adj" fmla="val 6667"/>
            </a:avLst>
          </a:prstGeom>
          <a:solidFill>
            <a:srgbClr val="FFFFFF"/>
          </a:solidFill>
          <a:ln/>
          <a:effectLst>
            <a:outerShdw sx="100000" sy="100000" kx="0" ky="0" algn="bl" rotWithShape="0" blurRad="152400" dist="38100" dir="5400000">
              <a:srgbClr val="000000">
                <a:alpha val="28000"/>
              </a:srgbClr>
            </a:outerShdw>
          </a:effectLst>
        </p:spPr>
      </p:sp>
      <p:sp>
        <p:nvSpPr>
          <p:cNvPr id="14" name="Text 11"/>
          <p:cNvSpPr/>
          <p:nvPr/>
        </p:nvSpPr>
        <p:spPr>
          <a:xfrm>
            <a:off x="1005840" y="5074920"/>
            <a:ext cx="10149840" cy="1234440"/>
          </a:xfrm>
          <a:prstGeom prst="rect">
            <a:avLst/>
          </a:prstGeom>
          <a:noFill/>
          <a:ln/>
        </p:spPr>
        <p:txBody>
          <a:bodyPr wrap="square" lIns="0" tIns="0" rIns="0" bIns="0" rtlCol="0" anchor="ctr"/>
          <a:lstStyle/>
          <a:p>
            <a:pPr indent="0" marL="0">
              <a:buNone/>
            </a:pPr>
            <a:r>
              <a:rPr lang="en-US" sz="1400" i="1" dirty="0">
                <a:solidFill>
                  <a:srgbClr val="1A1D23"/>
                </a:solidFill>
                <a:latin typeface="Cambria" pitchFamily="34" charset="0"/>
                <a:ea typeface="Cambria" pitchFamily="34" charset="-122"/>
                <a:cs typeface="Cambria" pitchFamily="34" charset="-120"/>
              </a:rPr>
              <a:t>Todo lo que van a ver hoy salió de su archivo. No estamos suponiendo nada de cómo trabajan: lo medimos.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1A1D23"/>
                </a:solidFill>
                <a:latin typeface="Cambria" pitchFamily="34" charset="0"/>
                <a:ea typeface="Cambria" pitchFamily="34" charset="-122"/>
                <a:cs typeface="Cambria" pitchFamily="34" charset="-120"/>
              </a:rPr>
              <a:t>Su plano no es un piso: son tres propuestas</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Están dibujadas una al lado de la otra en el mismo archivo. Las separamos para poder hablar de cada una.</a:t>
            </a:r>
            <a:endParaRPr lang="en-US" sz="1350" dirty="0"/>
          </a:p>
        </p:txBody>
      </p:sp>
      <p:pic>
        <p:nvPicPr>
          <p:cNvPr id="4" name="Image 0" descr="im_sectores.jpg">    </p:cNvPr>
          <p:cNvPicPr>
            <a:picLocks noChangeAspect="1"/>
          </p:cNvPicPr>
          <p:nvPr/>
        </p:nvPicPr>
        <p:blipFill>
          <a:blip r:embed="rId1"/>
          <a:srcRect l="0" r="0" t="0" b="0"/>
          <a:stretch/>
        </p:blipFill>
        <p:spPr>
          <a:xfrm>
            <a:off x="594360" y="1783080"/>
            <a:ext cx="10972800" cy="2286000"/>
          </a:xfrm>
          <a:prstGeom prst="rect">
            <a:avLst/>
          </a:prstGeom>
          <a:effectLst>
            <a:outerShdw sx="100000" sy="100000" kx="0" ky="0" algn="bl" rotWithShape="0" blurRad="152400" dist="38100" dir="5400000">
              <a:srgbClr val="000000">
                <a:alpha val="28000"/>
              </a:srgbClr>
            </a:outerShdw>
          </a:effectLst>
        </p:spPr>
      </p:pic>
      <p:sp>
        <p:nvSpPr>
          <p:cNvPr id="5" name="Shape 2"/>
          <p:cNvSpPr/>
          <p:nvPr/>
        </p:nvSpPr>
        <p:spPr>
          <a:xfrm>
            <a:off x="594360" y="4297680"/>
            <a:ext cx="3493008" cy="2011680"/>
          </a:xfrm>
          <a:prstGeom prst="roundRect">
            <a:avLst>
              <a:gd name="adj" fmla="val 4091"/>
            </a:avLst>
          </a:prstGeom>
          <a:solidFill>
            <a:srgbClr val="FFFFFF"/>
          </a:solidFill>
          <a:ln/>
          <a:effectLst>
            <a:outerShdw sx="100000" sy="100000" kx="0" ky="0" algn="bl" rotWithShape="0" blurRad="152400" dist="38100" dir="5400000">
              <a:srgbClr val="000000">
                <a:alpha val="28000"/>
              </a:srgbClr>
            </a:outerShdw>
          </a:effectLst>
        </p:spPr>
      </p:sp>
      <p:sp>
        <p:nvSpPr>
          <p:cNvPr id="6" name="Shape 3"/>
          <p:cNvSpPr/>
          <p:nvPr/>
        </p:nvSpPr>
        <p:spPr>
          <a:xfrm>
            <a:off x="868680" y="4553712"/>
            <a:ext cx="274320" cy="274320"/>
          </a:xfrm>
          <a:prstGeom prst="ellipse">
            <a:avLst/>
          </a:prstGeom>
          <a:solidFill>
            <a:srgbClr val="37C3FF"/>
          </a:solidFill>
          <a:ln/>
        </p:spPr>
      </p:sp>
      <p:sp>
        <p:nvSpPr>
          <p:cNvPr id="7" name="Text 4"/>
          <p:cNvSpPr/>
          <p:nvPr/>
        </p:nvSpPr>
        <p:spPr>
          <a:xfrm>
            <a:off x="1252728" y="4535424"/>
            <a:ext cx="2743200" cy="320040"/>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A · Actual</a:t>
            </a:r>
            <a:endParaRPr lang="en-US" sz="1400" dirty="0"/>
          </a:p>
        </p:txBody>
      </p:sp>
      <p:sp>
        <p:nvSpPr>
          <p:cNvPr id="8" name="Text 5"/>
          <p:cNvSpPr/>
          <p:nvPr/>
        </p:nvSpPr>
        <p:spPr>
          <a:xfrm>
            <a:off x="868680" y="5029200"/>
            <a:ext cx="3017520" cy="548640"/>
          </a:xfrm>
          <a:prstGeom prst="rect">
            <a:avLst/>
          </a:prstGeom>
          <a:noFill/>
          <a:ln/>
        </p:spPr>
        <p:txBody>
          <a:bodyPr wrap="square" lIns="0" tIns="0" rIns="0" bIns="0" rtlCol="0" anchor="t"/>
          <a:lstStyle/>
          <a:p>
            <a:pPr indent="0" marL="0">
              <a:buNone/>
            </a:pPr>
            <a:r>
              <a:rPr lang="en-US" sz="1100" dirty="0">
                <a:solidFill>
                  <a:srgbClr val="5B6470"/>
                </a:solidFill>
                <a:latin typeface="Calibri" pitchFamily="34" charset="0"/>
                <a:ea typeface="Calibri" pitchFamily="34" charset="-122"/>
                <a:cs typeface="Calibri" pitchFamily="34" charset="-120"/>
              </a:rPr>
              <a:t>LAYOUT RETHINK, 1er nivel (nov-2024)</a:t>
            </a:r>
            <a:endParaRPr lang="en-US" sz="1100" dirty="0"/>
          </a:p>
        </p:txBody>
      </p:sp>
      <p:sp>
        <p:nvSpPr>
          <p:cNvPr id="9" name="Text 6"/>
          <p:cNvSpPr/>
          <p:nvPr/>
        </p:nvSpPr>
        <p:spPr>
          <a:xfrm>
            <a:off x="868680" y="5623560"/>
            <a:ext cx="3017520" cy="411480"/>
          </a:xfrm>
          <a:prstGeom prst="rect">
            <a:avLst/>
          </a:prstGeom>
          <a:noFill/>
          <a:ln/>
        </p:spPr>
        <p:txBody>
          <a:bodyPr wrap="square" lIns="0" tIns="0" rIns="0" bIns="0" rtlCol="0" anchor="ctr"/>
          <a:lstStyle/>
          <a:p>
            <a:pPr indent="0" marL="0">
              <a:buNone/>
            </a:pPr>
            <a:r>
              <a:rPr lang="en-US" sz="1600" b="1" dirty="0">
                <a:solidFill>
                  <a:srgbClr val="37C3FF"/>
                </a:solidFill>
                <a:latin typeface="Cambria" pitchFamily="34" charset="0"/>
                <a:ea typeface="Cambria" pitchFamily="34" charset="-122"/>
                <a:cs typeface="Cambria" pitchFamily="34" charset="-120"/>
              </a:rPr>
              <a:t>930 ubicaciones</a:t>
            </a:r>
            <a:endParaRPr lang="en-US" sz="1600" dirty="0"/>
          </a:p>
        </p:txBody>
      </p:sp>
      <p:sp>
        <p:nvSpPr>
          <p:cNvPr id="10" name="Shape 7"/>
          <p:cNvSpPr/>
          <p:nvPr/>
        </p:nvSpPr>
        <p:spPr>
          <a:xfrm>
            <a:off x="4306824" y="4297680"/>
            <a:ext cx="3493008" cy="2011680"/>
          </a:xfrm>
          <a:prstGeom prst="roundRect">
            <a:avLst>
              <a:gd name="adj" fmla="val 4091"/>
            </a:avLst>
          </a:prstGeom>
          <a:solidFill>
            <a:srgbClr val="FFFFFF"/>
          </a:solidFill>
          <a:ln/>
          <a:effectLst>
            <a:outerShdw sx="100000" sy="100000" kx="0" ky="0" algn="bl" rotWithShape="0" blurRad="152400" dist="38100" dir="5400000">
              <a:srgbClr val="000000">
                <a:alpha val="28000"/>
              </a:srgbClr>
            </a:outerShdw>
          </a:effectLst>
        </p:spPr>
      </p:sp>
      <p:sp>
        <p:nvSpPr>
          <p:cNvPr id="11" name="Shape 8"/>
          <p:cNvSpPr/>
          <p:nvPr/>
        </p:nvSpPr>
        <p:spPr>
          <a:xfrm>
            <a:off x="4581144" y="4553712"/>
            <a:ext cx="274320" cy="274320"/>
          </a:xfrm>
          <a:prstGeom prst="ellipse">
            <a:avLst/>
          </a:prstGeom>
          <a:solidFill>
            <a:srgbClr val="F5C518"/>
          </a:solidFill>
          <a:ln/>
        </p:spPr>
      </p:sp>
      <p:sp>
        <p:nvSpPr>
          <p:cNvPr id="12" name="Text 9"/>
          <p:cNvSpPr/>
          <p:nvPr/>
        </p:nvSpPr>
        <p:spPr>
          <a:xfrm>
            <a:off x="4965192" y="4535424"/>
            <a:ext cx="2743200" cy="320040"/>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B · Ampliación</a:t>
            </a:r>
            <a:endParaRPr lang="en-US" sz="1400" dirty="0"/>
          </a:p>
        </p:txBody>
      </p:sp>
      <p:sp>
        <p:nvSpPr>
          <p:cNvPr id="13" name="Text 10"/>
          <p:cNvSpPr/>
          <p:nvPr/>
        </p:nvSpPr>
        <p:spPr>
          <a:xfrm>
            <a:off x="4581144" y="5029200"/>
            <a:ext cx="3017520" cy="548640"/>
          </a:xfrm>
          <a:prstGeom prst="rect">
            <a:avLst/>
          </a:prstGeom>
          <a:noFill/>
          <a:ln/>
        </p:spPr>
        <p:txBody>
          <a:bodyPr wrap="square" lIns="0" tIns="0" rIns="0" bIns="0" rtlCol="0" anchor="t"/>
          <a:lstStyle/>
          <a:p>
            <a:pPr indent="0" marL="0">
              <a:buNone/>
            </a:pPr>
            <a:r>
              <a:rPr lang="en-US" sz="1100" dirty="0">
                <a:solidFill>
                  <a:srgbClr val="5B6470"/>
                </a:solidFill>
                <a:latin typeface="Calibri" pitchFamily="34" charset="0"/>
                <a:ea typeface="Calibri" pitchFamily="34" charset="-122"/>
                <a:cs typeface="Calibri" pitchFamily="34" charset="-120"/>
              </a:rPr>
              <a:t>Naves L4-A/B/C, 1,736.64 m² proyectados</a:t>
            </a:r>
            <a:endParaRPr lang="en-US" sz="1100" dirty="0"/>
          </a:p>
        </p:txBody>
      </p:sp>
      <p:sp>
        <p:nvSpPr>
          <p:cNvPr id="14" name="Text 11"/>
          <p:cNvSpPr/>
          <p:nvPr/>
        </p:nvSpPr>
        <p:spPr>
          <a:xfrm>
            <a:off x="4581144" y="5623560"/>
            <a:ext cx="3017520" cy="411480"/>
          </a:xfrm>
          <a:prstGeom prst="rect">
            <a:avLst/>
          </a:prstGeom>
          <a:noFill/>
          <a:ln/>
        </p:spPr>
        <p:txBody>
          <a:bodyPr wrap="square" lIns="0" tIns="0" rIns="0" bIns="0" rtlCol="0" anchor="ctr"/>
          <a:lstStyle/>
          <a:p>
            <a:pPr indent="0" marL="0">
              <a:buNone/>
            </a:pPr>
            <a:r>
              <a:rPr lang="en-US" sz="1600" b="1" dirty="0">
                <a:solidFill>
                  <a:srgbClr val="F5C518"/>
                </a:solidFill>
                <a:latin typeface="Cambria" pitchFamily="34" charset="0"/>
                <a:ea typeface="Cambria" pitchFamily="34" charset="-122"/>
                <a:cs typeface="Cambria" pitchFamily="34" charset="-120"/>
              </a:rPr>
              <a:t>1,208 ubicaciones</a:t>
            </a:r>
            <a:endParaRPr lang="en-US" sz="1600" dirty="0"/>
          </a:p>
        </p:txBody>
      </p:sp>
      <p:sp>
        <p:nvSpPr>
          <p:cNvPr id="15" name="Shape 12"/>
          <p:cNvSpPr/>
          <p:nvPr/>
        </p:nvSpPr>
        <p:spPr>
          <a:xfrm>
            <a:off x="8019288" y="4297680"/>
            <a:ext cx="3493008" cy="2011680"/>
          </a:xfrm>
          <a:prstGeom prst="roundRect">
            <a:avLst>
              <a:gd name="adj" fmla="val 4091"/>
            </a:avLst>
          </a:prstGeom>
          <a:solidFill>
            <a:srgbClr val="FFFFFF"/>
          </a:solidFill>
          <a:ln/>
          <a:effectLst>
            <a:outerShdw sx="100000" sy="100000" kx="0" ky="0" algn="bl" rotWithShape="0" blurRad="152400" dist="38100" dir="5400000">
              <a:srgbClr val="000000">
                <a:alpha val="28000"/>
              </a:srgbClr>
            </a:outerShdw>
          </a:effectLst>
        </p:spPr>
      </p:sp>
      <p:sp>
        <p:nvSpPr>
          <p:cNvPr id="16" name="Shape 13"/>
          <p:cNvSpPr/>
          <p:nvPr/>
        </p:nvSpPr>
        <p:spPr>
          <a:xfrm>
            <a:off x="8293608" y="4553712"/>
            <a:ext cx="274320" cy="274320"/>
          </a:xfrm>
          <a:prstGeom prst="ellipse">
            <a:avLst/>
          </a:prstGeom>
          <a:solidFill>
            <a:srgbClr val="39D98A"/>
          </a:solidFill>
          <a:ln/>
        </p:spPr>
      </p:sp>
      <p:sp>
        <p:nvSpPr>
          <p:cNvPr id="17" name="Text 14"/>
          <p:cNvSpPr/>
          <p:nvPr/>
        </p:nvSpPr>
        <p:spPr>
          <a:xfrm>
            <a:off x="8677656" y="4535424"/>
            <a:ext cx="2743200" cy="320040"/>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C · Propuesta IT</a:t>
            </a:r>
            <a:endParaRPr lang="en-US" sz="1400" dirty="0"/>
          </a:p>
        </p:txBody>
      </p:sp>
      <p:sp>
        <p:nvSpPr>
          <p:cNvPr id="18" name="Text 15"/>
          <p:cNvSpPr/>
          <p:nvPr/>
        </p:nvSpPr>
        <p:spPr>
          <a:xfrm>
            <a:off x="8293608" y="5029200"/>
            <a:ext cx="3017520" cy="548640"/>
          </a:xfrm>
          <a:prstGeom prst="rect">
            <a:avLst/>
          </a:prstGeom>
          <a:noFill/>
          <a:ln/>
        </p:spPr>
        <p:txBody>
          <a:bodyPr wrap="square" lIns="0" tIns="0" rIns="0" bIns="0" rtlCol="0" anchor="t"/>
          <a:lstStyle/>
          <a:p>
            <a:pPr indent="0" marL="0">
              <a:buNone/>
            </a:pPr>
            <a:r>
              <a:rPr lang="en-US" sz="1100" dirty="0">
                <a:solidFill>
                  <a:srgbClr val="5B6470"/>
                </a:solidFill>
                <a:latin typeface="Calibri" pitchFamily="34" charset="0"/>
                <a:ea typeface="Calibri" pitchFamily="34" charset="-122"/>
                <a:cs typeface="Calibri" pitchFamily="34" charset="-120"/>
              </a:rPr>
              <a:t>Planta primer nivel — bodega sin racks</a:t>
            </a:r>
            <a:endParaRPr lang="en-US" sz="1100" dirty="0"/>
          </a:p>
        </p:txBody>
      </p:sp>
      <p:sp>
        <p:nvSpPr>
          <p:cNvPr id="19" name="Text 16"/>
          <p:cNvSpPr/>
          <p:nvPr/>
        </p:nvSpPr>
        <p:spPr>
          <a:xfrm>
            <a:off x="8293608" y="5623560"/>
            <a:ext cx="3017520" cy="411480"/>
          </a:xfrm>
          <a:prstGeom prst="rect">
            <a:avLst/>
          </a:prstGeom>
          <a:noFill/>
          <a:ln/>
        </p:spPr>
        <p:txBody>
          <a:bodyPr wrap="square" lIns="0" tIns="0" rIns="0" bIns="0" rtlCol="0" anchor="ctr"/>
          <a:lstStyle/>
          <a:p>
            <a:pPr indent="0" marL="0">
              <a:buNone/>
            </a:pPr>
            <a:r>
              <a:rPr lang="en-US" sz="1600" b="1" dirty="0">
                <a:solidFill>
                  <a:srgbClr val="39D98A"/>
                </a:solidFill>
                <a:latin typeface="Cambria" pitchFamily="34" charset="0"/>
                <a:ea typeface="Cambria" pitchFamily="34" charset="-122"/>
                <a:cs typeface="Cambria" pitchFamily="34" charset="-120"/>
              </a:rPr>
              <a:t>Sin diseñar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594360" y="420624"/>
            <a:ext cx="384048" cy="384048"/>
          </a:xfrm>
          <a:prstGeom prst="ellipse">
            <a:avLst/>
          </a:prstGeom>
          <a:solidFill>
            <a:srgbClr val="F5C518"/>
          </a:solidFill>
          <a:ln/>
        </p:spPr>
      </p:sp>
      <p:sp>
        <p:nvSpPr>
          <p:cNvPr id="3" name="Text 1"/>
          <p:cNvSpPr/>
          <p:nvPr/>
        </p:nvSpPr>
        <p:spPr>
          <a:xfrm>
            <a:off x="594360" y="420624"/>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1</a:t>
            </a:r>
            <a:endParaRPr lang="en-US" sz="1500" dirty="0"/>
          </a:p>
        </p:txBody>
      </p:sp>
      <p:sp>
        <p:nvSpPr>
          <p:cNvPr id="4" name="Text 2"/>
          <p:cNvSpPr/>
          <p:nvPr/>
        </p:nvSpPr>
        <p:spPr>
          <a:xfrm>
            <a:off x="1161288" y="384048"/>
            <a:ext cx="10424160" cy="548640"/>
          </a:xfrm>
          <a:prstGeom prst="rect">
            <a:avLst/>
          </a:prstGeom>
          <a:noFill/>
          <a:ln/>
        </p:spPr>
        <p:txBody>
          <a:bodyPr wrap="square" lIns="0" tIns="0" rIns="0" bIns="0" rtlCol="0" anchor="ctr"/>
          <a:lstStyle/>
          <a:p>
            <a:pPr indent="0" marL="0">
              <a:buNone/>
            </a:pPr>
            <a:r>
              <a:rPr lang="en-US" sz="2900" b="1" dirty="0">
                <a:solidFill>
                  <a:srgbClr val="1A1D23"/>
                </a:solidFill>
                <a:latin typeface="Cambria" pitchFamily="34" charset="0"/>
                <a:ea typeface="Cambria" pitchFamily="34" charset="-122"/>
                <a:cs typeface="Cambria" pitchFamily="34" charset="-120"/>
              </a:rPr>
              <a:t>Ustedes no mueven tarimas, mueven maxicubos</a:t>
            </a:r>
            <a:endParaRPr lang="en-US" sz="2900" dirty="0"/>
          </a:p>
        </p:txBody>
      </p:sp>
      <p:sp>
        <p:nvSpPr>
          <p:cNvPr id="5" name="Text 3"/>
          <p:cNvSpPr/>
          <p:nvPr/>
        </p:nvSpPr>
        <p:spPr>
          <a:xfrm>
            <a:off x="1161288" y="1024128"/>
            <a:ext cx="1042416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Su plano lo dice con todas sus letras: "RACK MAXICUBOS A 4 Y 5 NIVELES". Y hay lavado, sucios y limpios.</a:t>
            </a:r>
            <a:endParaRPr lang="en-US" sz="1350" dirty="0"/>
          </a:p>
        </p:txBody>
      </p:sp>
      <p:pic>
        <p:nvPicPr>
          <p:cNvPr id="6" name="Image 0" descr="im_maxicubos.jpg">    </p:cNvPr>
          <p:cNvPicPr>
            <a:picLocks noChangeAspect="1"/>
          </p:cNvPicPr>
          <p:nvPr/>
        </p:nvPicPr>
        <p:blipFill>
          <a:blip r:embed="rId1"/>
          <a:srcRect l="0" r="0" t="0" b="0"/>
          <a:stretch/>
        </p:blipFill>
        <p:spPr>
          <a:xfrm>
            <a:off x="7452360" y="1691640"/>
            <a:ext cx="4114800" cy="4498848"/>
          </a:xfrm>
          <a:prstGeom prst="rect">
            <a:avLst/>
          </a:prstGeom>
          <a:effectLst>
            <a:outerShdw sx="100000" sy="100000" kx="0" ky="0" algn="bl" rotWithShape="0" blurRad="152400" dist="38100" dir="5400000">
              <a:srgbClr val="000000">
                <a:alpha val="28000"/>
              </a:srgbClr>
            </a:outerShdw>
          </a:effectLst>
        </p:spPr>
      </p:pic>
      <p:sp>
        <p:nvSpPr>
          <p:cNvPr id="7" name="Text 4"/>
          <p:cNvSpPr/>
          <p:nvPr/>
        </p:nvSpPr>
        <p:spPr>
          <a:xfrm>
            <a:off x="594360" y="1783080"/>
            <a:ext cx="6492240" cy="411480"/>
          </a:xfrm>
          <a:prstGeom prst="rect">
            <a:avLst/>
          </a:prstGeom>
          <a:noFill/>
          <a:ln/>
        </p:spPr>
        <p:txBody>
          <a:bodyPr wrap="square" lIns="0" tIns="0" rIns="0" bIns="0" rtlCol="0" anchor="ctr"/>
          <a:lstStyle/>
          <a:p>
            <a:pPr indent="0" marL="0">
              <a:buNone/>
            </a:pPr>
            <a:r>
              <a:rPr lang="en-US" sz="2000" b="1" dirty="0">
                <a:solidFill>
                  <a:srgbClr val="F5C518"/>
                </a:solidFill>
                <a:latin typeface="Cambria" pitchFamily="34" charset="0"/>
                <a:ea typeface="Cambria" pitchFamily="34" charset="-122"/>
                <a:cs typeface="Cambria" pitchFamily="34" charset="-120"/>
              </a:rPr>
              <a:t>1.00 × 1.20 m</a:t>
            </a:r>
            <a:endParaRPr lang="en-US" sz="2000" dirty="0"/>
          </a:p>
        </p:txBody>
      </p:sp>
      <p:sp>
        <p:nvSpPr>
          <p:cNvPr id="8" name="Text 5"/>
          <p:cNvSpPr/>
          <p:nvPr/>
        </p:nvSpPr>
        <p:spPr>
          <a:xfrm>
            <a:off x="594360" y="2240280"/>
            <a:ext cx="6492240" cy="566928"/>
          </a:xfrm>
          <a:prstGeom prst="rect">
            <a:avLst/>
          </a:prstGeom>
          <a:noFill/>
          <a:ln/>
        </p:spPr>
        <p:txBody>
          <a:bodyPr wrap="square" lIns="0" tIns="0" rIns="0" bIns="0" rtlCol="0" anchor="t"/>
          <a:lstStyle/>
          <a:p>
            <a:pPr indent="0" marL="0">
              <a:buNone/>
            </a:pPr>
            <a:r>
              <a:rPr lang="en-US" sz="1300" dirty="0">
                <a:solidFill>
                  <a:srgbClr val="1A1D23"/>
                </a:solidFill>
                <a:latin typeface="Calibri" pitchFamily="34" charset="0"/>
                <a:ea typeface="Calibri" pitchFamily="34" charset="-122"/>
                <a:cs typeface="Calibri" pitchFamily="34" charset="-120"/>
              </a:rPr>
              <a:t>Esa es su unidad de carga. No es una tarima americana ni europea.</a:t>
            </a:r>
            <a:endParaRPr lang="en-US" sz="1300" dirty="0"/>
          </a:p>
        </p:txBody>
      </p:sp>
      <p:sp>
        <p:nvSpPr>
          <p:cNvPr id="9" name="Text 6"/>
          <p:cNvSpPr/>
          <p:nvPr/>
        </p:nvSpPr>
        <p:spPr>
          <a:xfrm>
            <a:off x="594360" y="2953512"/>
            <a:ext cx="6492240" cy="411480"/>
          </a:xfrm>
          <a:prstGeom prst="rect">
            <a:avLst/>
          </a:prstGeom>
          <a:noFill/>
          <a:ln/>
        </p:spPr>
        <p:txBody>
          <a:bodyPr wrap="square" lIns="0" tIns="0" rIns="0" bIns="0" rtlCol="0" anchor="ctr"/>
          <a:lstStyle/>
          <a:p>
            <a:pPr indent="0" marL="0">
              <a:buNone/>
            </a:pPr>
            <a:r>
              <a:rPr lang="en-US" sz="2000" b="1" dirty="0">
                <a:solidFill>
                  <a:srgbClr val="F5C518"/>
                </a:solidFill>
                <a:latin typeface="Cambria" pitchFamily="34" charset="0"/>
                <a:ea typeface="Cambria" pitchFamily="34" charset="-122"/>
                <a:cs typeface="Cambria" pitchFamily="34" charset="-120"/>
              </a:rPr>
              <a:t>470 en el primer nivel</a:t>
            </a:r>
            <a:endParaRPr lang="en-US" sz="2000" dirty="0"/>
          </a:p>
        </p:txBody>
      </p:sp>
      <p:sp>
        <p:nvSpPr>
          <p:cNvPr id="10" name="Text 7"/>
          <p:cNvSpPr/>
          <p:nvPr/>
        </p:nvSpPr>
        <p:spPr>
          <a:xfrm>
            <a:off x="594360" y="3410712"/>
            <a:ext cx="6492240" cy="566928"/>
          </a:xfrm>
          <a:prstGeom prst="rect">
            <a:avLst/>
          </a:prstGeom>
          <a:noFill/>
          <a:ln/>
        </p:spPr>
        <p:txBody>
          <a:bodyPr wrap="square" lIns="0" tIns="0" rIns="0" bIns="0" rtlCol="0" anchor="t"/>
          <a:lstStyle/>
          <a:p>
            <a:pPr indent="0" marL="0">
              <a:buNone/>
            </a:pPr>
            <a:r>
              <a:rPr lang="en-US" sz="1300" dirty="0">
                <a:solidFill>
                  <a:srgbClr val="1A1D23"/>
                </a:solidFill>
                <a:latin typeface="Calibri" pitchFamily="34" charset="0"/>
                <a:ea typeface="Calibri" pitchFamily="34" charset="-122"/>
                <a:cs typeface="Calibri" pitchFamily="34" charset="-120"/>
              </a:rPr>
              <a:t>Contados uno por uno en el plano, no estimados.</a:t>
            </a:r>
            <a:endParaRPr lang="en-US" sz="1300" dirty="0"/>
          </a:p>
        </p:txBody>
      </p:sp>
      <p:sp>
        <p:nvSpPr>
          <p:cNvPr id="11" name="Text 8"/>
          <p:cNvSpPr/>
          <p:nvPr/>
        </p:nvSpPr>
        <p:spPr>
          <a:xfrm>
            <a:off x="594360" y="4123944"/>
            <a:ext cx="6492240" cy="411480"/>
          </a:xfrm>
          <a:prstGeom prst="rect">
            <a:avLst/>
          </a:prstGeom>
          <a:noFill/>
          <a:ln/>
        </p:spPr>
        <p:txBody>
          <a:bodyPr wrap="square" lIns="0" tIns="0" rIns="0" bIns="0" rtlCol="0" anchor="ctr"/>
          <a:lstStyle/>
          <a:p>
            <a:pPr indent="0" marL="0">
              <a:buNone/>
            </a:pPr>
            <a:r>
              <a:rPr lang="en-US" sz="2000" b="1" dirty="0">
                <a:solidFill>
                  <a:srgbClr val="F5C518"/>
                </a:solidFill>
                <a:latin typeface="Cambria" pitchFamily="34" charset="0"/>
                <a:ea typeface="Cambria" pitchFamily="34" charset="-122"/>
                <a:cs typeface="Cambria" pitchFamily="34" charset="-120"/>
              </a:rPr>
              <a:t>Los vacíos también viajan</a:t>
            </a:r>
            <a:endParaRPr lang="en-US" sz="2000" dirty="0"/>
          </a:p>
        </p:txBody>
      </p:sp>
      <p:sp>
        <p:nvSpPr>
          <p:cNvPr id="12" name="Text 9"/>
          <p:cNvSpPr/>
          <p:nvPr/>
        </p:nvSpPr>
        <p:spPr>
          <a:xfrm>
            <a:off x="594360" y="4581144"/>
            <a:ext cx="6492240" cy="566928"/>
          </a:xfrm>
          <a:prstGeom prst="rect">
            <a:avLst/>
          </a:prstGeom>
          <a:noFill/>
          <a:ln/>
        </p:spPr>
        <p:txBody>
          <a:bodyPr wrap="square" lIns="0" tIns="0" rIns="0" bIns="0" rtlCol="0" anchor="t"/>
          <a:lstStyle/>
          <a:p>
            <a:pPr indent="0" marL="0">
              <a:buNone/>
            </a:pPr>
            <a:r>
              <a:rPr lang="en-US" sz="1300" dirty="0">
                <a:solidFill>
                  <a:srgbClr val="1A1D23"/>
                </a:solidFill>
                <a:latin typeface="Calibri" pitchFamily="34" charset="0"/>
                <a:ea typeface="Calibri" pitchFamily="34" charset="-122"/>
                <a:cs typeface="Calibri" pitchFamily="34" charset="-120"/>
              </a:rPr>
              <a:t>Lavado, limpios, sucios. Hay un circuito de retorno, no solo de producto.</a:t>
            </a:r>
            <a:endParaRPr lang="en-US" sz="1300" dirty="0"/>
          </a:p>
        </p:txBody>
      </p:sp>
      <p:sp>
        <p:nvSpPr>
          <p:cNvPr id="13" name="Shape 10"/>
          <p:cNvSpPr/>
          <p:nvPr/>
        </p:nvSpPr>
        <p:spPr>
          <a:xfrm>
            <a:off x="594360" y="5440680"/>
            <a:ext cx="6492240" cy="777240"/>
          </a:xfrm>
          <a:prstGeom prst="roundRect">
            <a:avLst>
              <a:gd name="adj" fmla="val 10588"/>
            </a:avLst>
          </a:prstGeom>
          <a:solidFill>
            <a:srgbClr val="1A1D23"/>
          </a:solidFill>
          <a:ln/>
          <a:effectLst>
            <a:outerShdw sx="100000" sy="100000" kx="0" ky="0" algn="bl" rotWithShape="0" blurRad="152400" dist="38100" dir="5400000">
              <a:srgbClr val="000000">
                <a:alpha val="28000"/>
              </a:srgbClr>
            </a:outerShdw>
          </a:effectLst>
        </p:spPr>
      </p:sp>
      <p:sp>
        <p:nvSpPr>
          <p:cNvPr id="14" name="Text 11"/>
          <p:cNvSpPr/>
          <p:nvPr/>
        </p:nvSpPr>
        <p:spPr>
          <a:xfrm>
            <a:off x="914400" y="5440680"/>
            <a:ext cx="5943600" cy="777240"/>
          </a:xfrm>
          <a:prstGeom prst="rect">
            <a:avLst/>
          </a:prstGeom>
          <a:noFill/>
          <a:ln/>
        </p:spPr>
        <p:txBody>
          <a:bodyPr wrap="square" lIns="0" tIns="0" rIns="0" bIns="0" rtlCol="0" anchor="ctr"/>
          <a:lstStyle/>
          <a:p>
            <a:pPr indent="0" marL="0">
              <a:buNone/>
            </a:pPr>
            <a:r>
              <a:rPr lang="en-US" sz="1250" b="1" dirty="0">
                <a:solidFill>
                  <a:srgbClr val="F5C518"/>
                </a:solidFill>
                <a:latin typeface="Calibri" pitchFamily="34" charset="0"/>
                <a:ea typeface="Calibri" pitchFamily="34" charset="-122"/>
                <a:cs typeface="Calibri" pitchFamily="34" charset="-120"/>
              </a:rPr>
              <a:t>Cualquier robot que les vendan tiene que saber manejar el retorno de vacíos, no solo el producto.</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71C"/>
        </a:solidFill>
      </p:bgPr>
    </p:bg>
    <p:spTree>
      <p:nvGrpSpPr>
        <p:cNvPr id="1" name=""/>
        <p:cNvGrpSpPr/>
        <p:nvPr/>
      </p:nvGrpSpPr>
      <p:grpSpPr>
        <a:xfrm>
          <a:off x="0" y="0"/>
          <a:ext cx="0" cy="0"/>
          <a:chOff x="0" y="0"/>
          <a:chExt cx="0" cy="0"/>
        </a:xfrm>
      </p:grpSpPr>
      <p:sp>
        <p:nvSpPr>
          <p:cNvPr id="2" name="Shape 0"/>
          <p:cNvSpPr/>
          <p:nvPr/>
        </p:nvSpPr>
        <p:spPr>
          <a:xfrm>
            <a:off x="594360" y="420624"/>
            <a:ext cx="384048" cy="384048"/>
          </a:xfrm>
          <a:prstGeom prst="ellipse">
            <a:avLst/>
          </a:prstGeom>
          <a:solidFill>
            <a:srgbClr val="FF5A52"/>
          </a:solidFill>
          <a:ln/>
        </p:spPr>
      </p:sp>
      <p:sp>
        <p:nvSpPr>
          <p:cNvPr id="3" name="Text 1"/>
          <p:cNvSpPr/>
          <p:nvPr/>
        </p:nvSpPr>
        <p:spPr>
          <a:xfrm>
            <a:off x="594360" y="420624"/>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2</a:t>
            </a:r>
            <a:endParaRPr lang="en-US" sz="1500" dirty="0"/>
          </a:p>
        </p:txBody>
      </p:sp>
      <p:sp>
        <p:nvSpPr>
          <p:cNvPr id="4" name="Text 2"/>
          <p:cNvSpPr/>
          <p:nvPr/>
        </p:nvSpPr>
        <p:spPr>
          <a:xfrm>
            <a:off x="1161288" y="384048"/>
            <a:ext cx="10424160" cy="548640"/>
          </a:xfrm>
          <a:prstGeom prst="rect">
            <a:avLst/>
          </a:prstGeom>
          <a:noFill/>
          <a:ln/>
        </p:spPr>
        <p:txBody>
          <a:bodyPr wrap="square" lIns="0" tIns="0" rIns="0" bIns="0" rtlCol="0" anchor="ctr"/>
          <a:lstStyle/>
          <a:p>
            <a:pPr indent="0" marL="0">
              <a:buNone/>
            </a:pPr>
            <a:r>
              <a:rPr lang="en-US" sz="2900" b="1" dirty="0">
                <a:solidFill>
                  <a:srgbClr val="ECEBE6"/>
                </a:solidFill>
                <a:latin typeface="Cambria" pitchFamily="34" charset="0"/>
                <a:ea typeface="Cambria" pitchFamily="34" charset="-122"/>
                <a:cs typeface="Cambria" pitchFamily="34" charset="-120"/>
              </a:rPr>
              <a:t>Los pasillos no dan para un contrabalanceado</a:t>
            </a:r>
            <a:endParaRPr lang="en-US" sz="2900" dirty="0"/>
          </a:p>
        </p:txBody>
      </p:sp>
      <p:sp>
        <p:nvSpPr>
          <p:cNvPr id="5" name="Text 3"/>
          <p:cNvSpPr/>
          <p:nvPr/>
        </p:nvSpPr>
        <p:spPr>
          <a:xfrm>
            <a:off x="1161288" y="1024128"/>
            <a:ext cx="10424160" cy="365760"/>
          </a:xfrm>
          <a:prstGeom prst="rect">
            <a:avLst/>
          </a:prstGeom>
          <a:noFill/>
          <a:ln/>
        </p:spPr>
        <p:txBody>
          <a:bodyPr wrap="square" lIns="0" tIns="0" rIns="0" bIns="0" rtlCol="0" anchor="ctr"/>
          <a:lstStyle/>
          <a:p>
            <a:pPr indent="0" marL="0">
              <a:buNone/>
            </a:pPr>
            <a:r>
              <a:rPr lang="en-US" sz="1350" dirty="0">
                <a:solidFill>
                  <a:srgbClr val="8B949E"/>
                </a:solidFill>
                <a:latin typeface="Calibri" pitchFamily="34" charset="0"/>
                <a:ea typeface="Calibri" pitchFamily="34" charset="-122"/>
                <a:cs typeface="Calibri" pitchFamily="34" charset="-120"/>
              </a:rPr>
              <a:t>Medimos los 29 pasillos sobre su plano y los comparamos contra la ficha de fábrica del equipo.</a:t>
            </a:r>
            <a:endParaRPr lang="en-US" sz="1350" dirty="0"/>
          </a:p>
        </p:txBody>
      </p:sp>
      <p:sp>
        <p:nvSpPr>
          <p:cNvPr id="6" name="Shape 4"/>
          <p:cNvSpPr/>
          <p:nvPr/>
        </p:nvSpPr>
        <p:spPr>
          <a:xfrm>
            <a:off x="594360" y="1691640"/>
            <a:ext cx="5852160" cy="2624328"/>
          </a:xfrm>
          <a:prstGeom prst="roundRect">
            <a:avLst>
              <a:gd name="adj" fmla="val 3136"/>
            </a:avLst>
          </a:prstGeom>
          <a:solidFill>
            <a:srgbClr val="20242B"/>
          </a:solidFill>
          <a:ln/>
          <a:effectLst>
            <a:outerShdw sx="100000" sy="100000" kx="0" ky="0" algn="bl" rotWithShape="0" blurRad="152400" dist="38100" dir="5400000">
              <a:srgbClr val="000000">
                <a:alpha val="28000"/>
              </a:srgbClr>
            </a:outerShdw>
          </a:effectLst>
        </p:spPr>
      </p:sp>
      <p:sp>
        <p:nvSpPr>
          <p:cNvPr id="7" name="Text 5"/>
          <p:cNvSpPr/>
          <p:nvPr/>
        </p:nvSpPr>
        <p:spPr>
          <a:xfrm>
            <a:off x="914400" y="1874520"/>
            <a:ext cx="5212080" cy="320040"/>
          </a:xfrm>
          <a:prstGeom prst="rect">
            <a:avLst/>
          </a:prstGeom>
          <a:noFill/>
          <a:ln/>
        </p:spPr>
        <p:txBody>
          <a:bodyPr wrap="square" lIns="0" tIns="0" rIns="0" bIns="0" rtlCol="0" anchor="ctr"/>
          <a:lstStyle/>
          <a:p>
            <a:pPr indent="0" marL="0">
              <a:buNone/>
            </a:pPr>
            <a:r>
              <a:rPr lang="en-US" sz="1250" dirty="0">
                <a:solidFill>
                  <a:srgbClr val="8B949E"/>
                </a:solidFill>
                <a:latin typeface="Calibri" pitchFamily="34" charset="0"/>
                <a:ea typeface="Calibri" pitchFamily="34" charset="-122"/>
                <a:cs typeface="Calibri" pitchFamily="34" charset="-120"/>
              </a:rPr>
              <a:t>25 de sus 29 pasillos miden</a:t>
            </a:r>
            <a:endParaRPr lang="en-US" sz="1250" dirty="0"/>
          </a:p>
        </p:txBody>
      </p:sp>
      <p:sp>
        <p:nvSpPr>
          <p:cNvPr id="8" name="Text 6"/>
          <p:cNvSpPr/>
          <p:nvPr/>
        </p:nvSpPr>
        <p:spPr>
          <a:xfrm>
            <a:off x="914400" y="2194560"/>
            <a:ext cx="5212080" cy="685800"/>
          </a:xfrm>
          <a:prstGeom prst="rect">
            <a:avLst/>
          </a:prstGeom>
          <a:noFill/>
          <a:ln/>
        </p:spPr>
        <p:txBody>
          <a:bodyPr wrap="square" lIns="0" tIns="0" rIns="0" bIns="0" rtlCol="0" anchor="ctr"/>
          <a:lstStyle/>
          <a:p>
            <a:pPr indent="0" marL="0">
              <a:buNone/>
            </a:pPr>
            <a:r>
              <a:rPr lang="en-US" sz="4000" b="1" dirty="0">
                <a:solidFill>
                  <a:srgbClr val="ECEBE6"/>
                </a:solidFill>
                <a:latin typeface="Cambria" pitchFamily="34" charset="0"/>
                <a:ea typeface="Cambria" pitchFamily="34" charset="-122"/>
                <a:cs typeface="Cambria" pitchFamily="34" charset="-120"/>
              </a:rPr>
              <a:t>3.07 – 3.35 m</a:t>
            </a:r>
            <a:endParaRPr lang="en-US" sz="4000" dirty="0"/>
          </a:p>
        </p:txBody>
      </p:sp>
      <p:sp>
        <p:nvSpPr>
          <p:cNvPr id="9" name="Text 7"/>
          <p:cNvSpPr/>
          <p:nvPr/>
        </p:nvSpPr>
        <p:spPr>
          <a:xfrm>
            <a:off x="914400" y="2926080"/>
            <a:ext cx="5212080" cy="457200"/>
          </a:xfrm>
          <a:prstGeom prst="rect">
            <a:avLst/>
          </a:prstGeom>
          <a:noFill/>
          <a:ln/>
        </p:spPr>
        <p:txBody>
          <a:bodyPr wrap="square" lIns="0" tIns="0" rIns="0" bIns="0" rtlCol="0" anchor="t"/>
          <a:lstStyle/>
          <a:p>
            <a:pPr indent="0" marL="0">
              <a:buNone/>
            </a:pPr>
            <a:r>
              <a:rPr lang="en-US" sz="1200" dirty="0">
                <a:solidFill>
                  <a:srgbClr val="8B949E"/>
                </a:solidFill>
                <a:latin typeface="Calibri" pitchFamily="34" charset="0"/>
                <a:ea typeface="Calibri" pitchFamily="34" charset="-122"/>
                <a:cs typeface="Calibri" pitchFamily="34" charset="-120"/>
              </a:rPr>
              <a:t>Lo que un Baoli KBE 20 necesita para girar a 90° con carga (Ast, ficha VDI 2198)</a:t>
            </a:r>
            <a:endParaRPr lang="en-US" sz="1200" dirty="0"/>
          </a:p>
        </p:txBody>
      </p:sp>
      <p:sp>
        <p:nvSpPr>
          <p:cNvPr id="10" name="Text 8"/>
          <p:cNvSpPr/>
          <p:nvPr/>
        </p:nvSpPr>
        <p:spPr>
          <a:xfrm>
            <a:off x="914400" y="3474720"/>
            <a:ext cx="5212080" cy="640080"/>
          </a:xfrm>
          <a:prstGeom prst="rect">
            <a:avLst/>
          </a:prstGeom>
          <a:noFill/>
          <a:ln/>
        </p:spPr>
        <p:txBody>
          <a:bodyPr wrap="square" lIns="0" tIns="0" rIns="0" bIns="0" rtlCol="0" anchor="ctr"/>
          <a:lstStyle/>
          <a:p>
            <a:pPr indent="0" marL="0">
              <a:buNone/>
            </a:pPr>
            <a:r>
              <a:rPr lang="en-US" sz="3800" b="1" dirty="0">
                <a:solidFill>
                  <a:srgbClr val="FF5A52"/>
                </a:solidFill>
                <a:latin typeface="Cambria" pitchFamily="34" charset="0"/>
                <a:ea typeface="Cambria" pitchFamily="34" charset="-122"/>
                <a:cs typeface="Cambria" pitchFamily="34" charset="-120"/>
              </a:rPr>
              <a:t>3.82 m</a:t>
            </a:r>
            <a:endParaRPr lang="en-US" sz="3800" dirty="0"/>
          </a:p>
        </p:txBody>
      </p:sp>
      <p:pic>
        <p:nvPicPr>
          <p:cNvPr id="11" name="Image 0" descr="im_pasillo.jpg">    </p:cNvPr>
          <p:cNvPicPr>
            <a:picLocks noChangeAspect="1"/>
          </p:cNvPicPr>
          <p:nvPr/>
        </p:nvPicPr>
        <p:blipFill>
          <a:blip r:embed="rId1"/>
          <a:srcRect l="0" r="0" t="0" b="0"/>
          <a:stretch/>
        </p:blipFill>
        <p:spPr>
          <a:xfrm>
            <a:off x="6903720" y="1691640"/>
            <a:ext cx="4663440" cy="2624328"/>
          </a:xfrm>
          <a:prstGeom prst="rect">
            <a:avLst/>
          </a:prstGeom>
          <a:effectLst>
            <a:outerShdw sx="100000" sy="100000" kx="0" ky="0" algn="bl" rotWithShape="0" blurRad="152400" dist="38100" dir="5400000">
              <a:srgbClr val="000000">
                <a:alpha val="28000"/>
              </a:srgbClr>
            </a:outerShdw>
          </a:effectLst>
        </p:spPr>
      </p:pic>
      <p:sp>
        <p:nvSpPr>
          <p:cNvPr id="12" name="Shape 9"/>
          <p:cNvSpPr/>
          <p:nvPr/>
        </p:nvSpPr>
        <p:spPr>
          <a:xfrm>
            <a:off x="594360" y="4526280"/>
            <a:ext cx="10972800" cy="512064"/>
          </a:xfrm>
          <a:prstGeom prst="roundRect">
            <a:avLst>
              <a:gd name="adj" fmla="val 16071"/>
            </a:avLst>
          </a:prstGeom>
          <a:solidFill>
            <a:srgbClr val="20242B"/>
          </a:solidFill>
          <a:ln/>
          <a:effectLst>
            <a:outerShdw sx="100000" sy="100000" kx="0" ky="0" algn="bl" rotWithShape="0" blurRad="152400" dist="38100" dir="5400000">
              <a:srgbClr val="000000">
                <a:alpha val="28000"/>
              </a:srgbClr>
            </a:outerShdw>
          </a:effectLst>
        </p:spPr>
      </p:sp>
      <p:sp>
        <p:nvSpPr>
          <p:cNvPr id="13" name="Text 10"/>
          <p:cNvSpPr/>
          <p:nvPr/>
        </p:nvSpPr>
        <p:spPr>
          <a:xfrm>
            <a:off x="914400" y="4526280"/>
            <a:ext cx="3200400" cy="512064"/>
          </a:xfrm>
          <a:prstGeom prst="rect">
            <a:avLst/>
          </a:prstGeom>
          <a:noFill/>
          <a:ln/>
        </p:spPr>
        <p:txBody>
          <a:bodyPr wrap="square" lIns="0" tIns="0" rIns="0" bIns="0" rtlCol="0" anchor="ctr"/>
          <a:lstStyle/>
          <a:p>
            <a:pPr indent="0" marL="0">
              <a:buNone/>
            </a:pPr>
            <a:r>
              <a:rPr lang="en-US" sz="1250" b="1" dirty="0">
                <a:solidFill>
                  <a:srgbClr val="ECEBE6"/>
                </a:solidFill>
                <a:latin typeface="Calibri" pitchFamily="34" charset="0"/>
                <a:ea typeface="Calibri" pitchFamily="34" charset="-122"/>
                <a:cs typeface="Calibri" pitchFamily="34" charset="-120"/>
              </a:rPr>
              <a:t>Baoli KBE 20 · 2.0 t</a:t>
            </a:r>
            <a:endParaRPr lang="en-US" sz="1250" dirty="0"/>
          </a:p>
        </p:txBody>
      </p:sp>
      <p:sp>
        <p:nvSpPr>
          <p:cNvPr id="14" name="Text 11"/>
          <p:cNvSpPr/>
          <p:nvPr/>
        </p:nvSpPr>
        <p:spPr>
          <a:xfrm>
            <a:off x="4480560" y="4526280"/>
            <a:ext cx="1463040" cy="512064"/>
          </a:xfrm>
          <a:prstGeom prst="rect">
            <a:avLst/>
          </a:prstGeom>
          <a:noFill/>
          <a:ln/>
        </p:spPr>
        <p:txBody>
          <a:bodyPr wrap="square" lIns="0" tIns="0" rIns="0" bIns="0" rtlCol="0" anchor="ctr"/>
          <a:lstStyle/>
          <a:p>
            <a:pPr indent="0" marL="0">
              <a:buNone/>
            </a:pPr>
            <a:r>
              <a:rPr lang="en-US" sz="1350" b="1" dirty="0">
                <a:solidFill>
                  <a:srgbClr val="FF5A52"/>
                </a:solidFill>
                <a:latin typeface="Cambria" pitchFamily="34" charset="0"/>
                <a:ea typeface="Cambria" pitchFamily="34" charset="-122"/>
                <a:cs typeface="Cambria" pitchFamily="34" charset="-120"/>
              </a:rPr>
              <a:t>3.82 m</a:t>
            </a:r>
            <a:endParaRPr lang="en-US" sz="1350" dirty="0"/>
          </a:p>
        </p:txBody>
      </p:sp>
      <p:sp>
        <p:nvSpPr>
          <p:cNvPr id="15" name="Text 12"/>
          <p:cNvSpPr/>
          <p:nvPr/>
        </p:nvSpPr>
        <p:spPr>
          <a:xfrm>
            <a:off x="6126480" y="4526280"/>
            <a:ext cx="5120640" cy="512064"/>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no entra en ninguno de los 25</a:t>
            </a:r>
            <a:endParaRPr lang="en-US" sz="1200" dirty="0"/>
          </a:p>
        </p:txBody>
      </p:sp>
      <p:sp>
        <p:nvSpPr>
          <p:cNvPr id="16" name="Shape 13"/>
          <p:cNvSpPr/>
          <p:nvPr/>
        </p:nvSpPr>
        <p:spPr>
          <a:xfrm>
            <a:off x="594360" y="5129784"/>
            <a:ext cx="10972800" cy="512064"/>
          </a:xfrm>
          <a:prstGeom prst="roundRect">
            <a:avLst>
              <a:gd name="adj" fmla="val 16071"/>
            </a:avLst>
          </a:prstGeom>
          <a:solidFill>
            <a:srgbClr val="20242B"/>
          </a:solidFill>
          <a:ln/>
          <a:effectLst>
            <a:outerShdw sx="100000" sy="100000" kx="0" ky="0" algn="bl" rotWithShape="0" blurRad="152400" dist="38100" dir="5400000">
              <a:srgbClr val="000000">
                <a:alpha val="28000"/>
              </a:srgbClr>
            </a:outerShdw>
          </a:effectLst>
        </p:spPr>
      </p:sp>
      <p:sp>
        <p:nvSpPr>
          <p:cNvPr id="17" name="Text 14"/>
          <p:cNvSpPr/>
          <p:nvPr/>
        </p:nvSpPr>
        <p:spPr>
          <a:xfrm>
            <a:off x="914400" y="5129784"/>
            <a:ext cx="3200400" cy="512064"/>
          </a:xfrm>
          <a:prstGeom prst="rect">
            <a:avLst/>
          </a:prstGeom>
          <a:noFill/>
          <a:ln/>
        </p:spPr>
        <p:txBody>
          <a:bodyPr wrap="square" lIns="0" tIns="0" rIns="0" bIns="0" rtlCol="0" anchor="ctr"/>
          <a:lstStyle/>
          <a:p>
            <a:pPr indent="0" marL="0">
              <a:buNone/>
            </a:pPr>
            <a:r>
              <a:rPr lang="en-US" sz="1250" b="1" dirty="0">
                <a:solidFill>
                  <a:srgbClr val="ECEBE6"/>
                </a:solidFill>
                <a:latin typeface="Calibri" pitchFamily="34" charset="0"/>
                <a:ea typeface="Calibri" pitchFamily="34" charset="-122"/>
                <a:cs typeface="Calibri" pitchFamily="34" charset="-120"/>
              </a:rPr>
              <a:t>Baoli KBE 18 · 1.75 t</a:t>
            </a:r>
            <a:endParaRPr lang="en-US" sz="1250" dirty="0"/>
          </a:p>
        </p:txBody>
      </p:sp>
      <p:sp>
        <p:nvSpPr>
          <p:cNvPr id="18" name="Text 15"/>
          <p:cNvSpPr/>
          <p:nvPr/>
        </p:nvSpPr>
        <p:spPr>
          <a:xfrm>
            <a:off x="4480560" y="5129784"/>
            <a:ext cx="1463040" cy="512064"/>
          </a:xfrm>
          <a:prstGeom prst="rect">
            <a:avLst/>
          </a:prstGeom>
          <a:noFill/>
          <a:ln/>
        </p:spPr>
        <p:txBody>
          <a:bodyPr wrap="square" lIns="0" tIns="0" rIns="0" bIns="0" rtlCol="0" anchor="ctr"/>
          <a:lstStyle/>
          <a:p>
            <a:pPr indent="0" marL="0">
              <a:buNone/>
            </a:pPr>
            <a:r>
              <a:rPr lang="en-US" sz="1350" b="1" dirty="0">
                <a:solidFill>
                  <a:srgbClr val="F5C518"/>
                </a:solidFill>
                <a:latin typeface="Cambria" pitchFamily="34" charset="0"/>
                <a:ea typeface="Cambria" pitchFamily="34" charset="-122"/>
                <a:cs typeface="Cambria" pitchFamily="34" charset="-120"/>
              </a:rPr>
              <a:t>3.55 m</a:t>
            </a:r>
            <a:endParaRPr lang="en-US" sz="1350" dirty="0"/>
          </a:p>
        </p:txBody>
      </p:sp>
      <p:sp>
        <p:nvSpPr>
          <p:cNvPr id="19" name="Text 16"/>
          <p:cNvSpPr/>
          <p:nvPr/>
        </p:nvSpPr>
        <p:spPr>
          <a:xfrm>
            <a:off x="6126480" y="5129784"/>
            <a:ext cx="5120640" cy="512064"/>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tampoco, ni en el más ancho</a:t>
            </a:r>
            <a:endParaRPr lang="en-US" sz="1200" dirty="0"/>
          </a:p>
        </p:txBody>
      </p:sp>
      <p:sp>
        <p:nvSpPr>
          <p:cNvPr id="20" name="Shape 17"/>
          <p:cNvSpPr/>
          <p:nvPr/>
        </p:nvSpPr>
        <p:spPr>
          <a:xfrm>
            <a:off x="594360" y="5733288"/>
            <a:ext cx="10972800" cy="512064"/>
          </a:xfrm>
          <a:prstGeom prst="roundRect">
            <a:avLst>
              <a:gd name="adj" fmla="val 16071"/>
            </a:avLst>
          </a:prstGeom>
          <a:solidFill>
            <a:srgbClr val="20242B"/>
          </a:solidFill>
          <a:ln/>
          <a:effectLst>
            <a:outerShdw sx="100000" sy="100000" kx="0" ky="0" algn="bl" rotWithShape="0" blurRad="152400" dist="38100" dir="5400000">
              <a:srgbClr val="000000">
                <a:alpha val="28000"/>
              </a:srgbClr>
            </a:outerShdw>
          </a:effectLst>
        </p:spPr>
      </p:sp>
      <p:sp>
        <p:nvSpPr>
          <p:cNvPr id="21" name="Text 18"/>
          <p:cNvSpPr/>
          <p:nvPr/>
        </p:nvSpPr>
        <p:spPr>
          <a:xfrm>
            <a:off x="914400" y="5733288"/>
            <a:ext cx="3200400" cy="512064"/>
          </a:xfrm>
          <a:prstGeom prst="rect">
            <a:avLst/>
          </a:prstGeom>
          <a:noFill/>
          <a:ln/>
        </p:spPr>
        <p:txBody>
          <a:bodyPr wrap="square" lIns="0" tIns="0" rIns="0" bIns="0" rtlCol="0" anchor="ctr"/>
          <a:lstStyle/>
          <a:p>
            <a:pPr indent="0" marL="0">
              <a:buNone/>
            </a:pPr>
            <a:r>
              <a:rPr lang="en-US" sz="1250" b="1" dirty="0">
                <a:solidFill>
                  <a:srgbClr val="ECEBE6"/>
                </a:solidFill>
                <a:latin typeface="Calibri" pitchFamily="34" charset="0"/>
                <a:ea typeface="Calibri" pitchFamily="34" charset="-122"/>
                <a:cs typeface="Calibri" pitchFamily="34" charset="-120"/>
              </a:rPr>
              <a:t>Reach truck típico</a:t>
            </a:r>
            <a:endParaRPr lang="en-US" sz="1250" dirty="0"/>
          </a:p>
        </p:txBody>
      </p:sp>
      <p:sp>
        <p:nvSpPr>
          <p:cNvPr id="22" name="Text 19"/>
          <p:cNvSpPr/>
          <p:nvPr/>
        </p:nvSpPr>
        <p:spPr>
          <a:xfrm>
            <a:off x="4480560" y="5733288"/>
            <a:ext cx="1463040" cy="512064"/>
          </a:xfrm>
          <a:prstGeom prst="rect">
            <a:avLst/>
          </a:prstGeom>
          <a:noFill/>
          <a:ln/>
        </p:spPr>
        <p:txBody>
          <a:bodyPr wrap="square" lIns="0" tIns="0" rIns="0" bIns="0" rtlCol="0" anchor="ctr"/>
          <a:lstStyle/>
          <a:p>
            <a:pPr indent="0" marL="0">
              <a:buNone/>
            </a:pPr>
            <a:r>
              <a:rPr lang="en-US" sz="1350" b="1" dirty="0">
                <a:solidFill>
                  <a:srgbClr val="39D98A"/>
                </a:solidFill>
                <a:latin typeface="Cambria" pitchFamily="34" charset="0"/>
                <a:ea typeface="Cambria" pitchFamily="34" charset="-122"/>
                <a:cs typeface="Cambria" pitchFamily="34" charset="-120"/>
              </a:rPr>
              <a:t>~2.80 m</a:t>
            </a:r>
            <a:endParaRPr lang="en-US" sz="1350" dirty="0"/>
          </a:p>
        </p:txBody>
      </p:sp>
      <p:sp>
        <p:nvSpPr>
          <p:cNvPr id="23" name="Text 20"/>
          <p:cNvSpPr/>
          <p:nvPr/>
        </p:nvSpPr>
        <p:spPr>
          <a:xfrm>
            <a:off x="6126480" y="5733288"/>
            <a:ext cx="5120640" cy="512064"/>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entra con holgura de sobra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1A1D23"/>
                </a:solidFill>
                <a:latin typeface="Cambria" pitchFamily="34" charset="0"/>
                <a:ea typeface="Cambria" pitchFamily="34" charset="-122"/>
                <a:cs typeface="Cambria" pitchFamily="34" charset="-120"/>
              </a:rPr>
              <a:t>Pero ojo, no todos los pasillos son iguales</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Antes de que alguien nos diga "no es cierto, por ahí sí pasan" — tienen razón, y aquí está el detalle</a:t>
            </a:r>
            <a:endParaRPr lang="en-US" sz="1350" dirty="0"/>
          </a:p>
        </p:txBody>
      </p:sp>
      <p:sp>
        <p:nvSpPr>
          <p:cNvPr id="4" name="Text 2"/>
          <p:cNvSpPr/>
          <p:nvPr/>
        </p:nvSpPr>
        <p:spPr>
          <a:xfrm>
            <a:off x="594360" y="1783080"/>
            <a:ext cx="2651760" cy="658368"/>
          </a:xfrm>
          <a:prstGeom prst="rect">
            <a:avLst/>
          </a:prstGeom>
          <a:noFill/>
          <a:ln/>
        </p:spPr>
        <p:txBody>
          <a:bodyPr wrap="square" lIns="0" tIns="0" rIns="0" bIns="0" rtlCol="0" anchor="ctr"/>
          <a:lstStyle/>
          <a:p>
            <a:pPr algn="l" indent="0" marL="0">
              <a:buNone/>
            </a:pPr>
            <a:r>
              <a:rPr lang="en-US" sz="4000" b="1" dirty="0">
                <a:solidFill>
                  <a:srgbClr val="FF5A52"/>
                </a:solidFill>
                <a:latin typeface="Cambria" pitchFamily="34" charset="0"/>
                <a:ea typeface="Cambria" pitchFamily="34" charset="-122"/>
                <a:cs typeface="Cambria" pitchFamily="34" charset="-120"/>
              </a:rPr>
              <a:t>3.07 m</a:t>
            </a:r>
            <a:endParaRPr lang="en-US" sz="4000" dirty="0"/>
          </a:p>
        </p:txBody>
      </p:sp>
      <p:sp>
        <p:nvSpPr>
          <p:cNvPr id="5" name="Text 3"/>
          <p:cNvSpPr/>
          <p:nvPr/>
        </p:nvSpPr>
        <p:spPr>
          <a:xfrm>
            <a:off x="594360" y="2441448"/>
            <a:ext cx="2651760" cy="457200"/>
          </a:xfrm>
          <a:prstGeom prst="rect">
            <a:avLst/>
          </a:prstGeom>
          <a:noFill/>
          <a:ln/>
        </p:spPr>
        <p:txBody>
          <a:bodyPr wrap="square" lIns="0" tIns="0" rIns="0" bIns="0" rtlCol="0" anchor="ctr"/>
          <a:lstStyle/>
          <a:p>
            <a:pPr indent="0" marL="0">
              <a:buNone/>
            </a:pPr>
            <a:r>
              <a:rPr lang="en-US" sz="1150" dirty="0">
                <a:solidFill>
                  <a:srgbClr val="5B6470"/>
                </a:solidFill>
                <a:latin typeface="Calibri" pitchFamily="34" charset="0"/>
                <a:ea typeface="Calibri" pitchFamily="34" charset="-122"/>
                <a:cs typeface="Calibri" pitchFamily="34" charset="-120"/>
              </a:rPr>
              <a:t>el más angosto</a:t>
            </a:r>
            <a:endParaRPr lang="en-US" sz="1150" dirty="0"/>
          </a:p>
        </p:txBody>
      </p:sp>
      <p:sp>
        <p:nvSpPr>
          <p:cNvPr id="6" name="Text 4"/>
          <p:cNvSpPr/>
          <p:nvPr/>
        </p:nvSpPr>
        <p:spPr>
          <a:xfrm>
            <a:off x="3429000" y="1783080"/>
            <a:ext cx="2651760" cy="658368"/>
          </a:xfrm>
          <a:prstGeom prst="rect">
            <a:avLst/>
          </a:prstGeom>
          <a:noFill/>
          <a:ln/>
        </p:spPr>
        <p:txBody>
          <a:bodyPr wrap="square" lIns="0" tIns="0" rIns="0" bIns="0" rtlCol="0" anchor="ctr"/>
          <a:lstStyle/>
          <a:p>
            <a:pPr algn="l" indent="0" marL="0">
              <a:buNone/>
            </a:pPr>
            <a:r>
              <a:rPr lang="en-US" sz="4000" b="1" dirty="0">
                <a:solidFill>
                  <a:srgbClr val="1A1D23"/>
                </a:solidFill>
                <a:latin typeface="Cambria" pitchFamily="34" charset="0"/>
                <a:ea typeface="Cambria" pitchFamily="34" charset="-122"/>
                <a:cs typeface="Cambria" pitchFamily="34" charset="-120"/>
              </a:rPr>
              <a:t>3.17 m</a:t>
            </a:r>
            <a:endParaRPr lang="en-US" sz="4000" dirty="0"/>
          </a:p>
        </p:txBody>
      </p:sp>
      <p:sp>
        <p:nvSpPr>
          <p:cNvPr id="7" name="Text 5"/>
          <p:cNvSpPr/>
          <p:nvPr/>
        </p:nvSpPr>
        <p:spPr>
          <a:xfrm>
            <a:off x="3429000" y="2441448"/>
            <a:ext cx="2651760" cy="457200"/>
          </a:xfrm>
          <a:prstGeom prst="rect">
            <a:avLst/>
          </a:prstGeom>
          <a:noFill/>
          <a:ln/>
        </p:spPr>
        <p:txBody>
          <a:bodyPr wrap="square" lIns="0" tIns="0" rIns="0" bIns="0" rtlCol="0" anchor="ctr"/>
          <a:lstStyle/>
          <a:p>
            <a:pPr indent="0" marL="0">
              <a:buNone/>
            </a:pPr>
            <a:r>
              <a:rPr lang="en-US" sz="1150" dirty="0">
                <a:solidFill>
                  <a:srgbClr val="5B6470"/>
                </a:solidFill>
                <a:latin typeface="Calibri" pitchFamily="34" charset="0"/>
                <a:ea typeface="Calibri" pitchFamily="34" charset="-122"/>
                <a:cs typeface="Calibri" pitchFamily="34" charset="-120"/>
              </a:rPr>
              <a:t>la mediana de los 29</a:t>
            </a:r>
            <a:endParaRPr lang="en-US" sz="1150" dirty="0"/>
          </a:p>
        </p:txBody>
      </p:sp>
      <p:sp>
        <p:nvSpPr>
          <p:cNvPr id="8" name="Text 6"/>
          <p:cNvSpPr/>
          <p:nvPr/>
        </p:nvSpPr>
        <p:spPr>
          <a:xfrm>
            <a:off x="594360" y="3246120"/>
            <a:ext cx="2651760" cy="658368"/>
          </a:xfrm>
          <a:prstGeom prst="rect">
            <a:avLst/>
          </a:prstGeom>
          <a:noFill/>
          <a:ln/>
        </p:spPr>
        <p:txBody>
          <a:bodyPr wrap="square" lIns="0" tIns="0" rIns="0" bIns="0" rtlCol="0" anchor="ctr"/>
          <a:lstStyle/>
          <a:p>
            <a:pPr algn="l" indent="0" marL="0">
              <a:buNone/>
            </a:pPr>
            <a:r>
              <a:rPr lang="en-US" sz="4000" b="1" dirty="0">
                <a:solidFill>
                  <a:srgbClr val="1A1D23"/>
                </a:solidFill>
                <a:latin typeface="Cambria" pitchFamily="34" charset="0"/>
                <a:ea typeface="Cambria" pitchFamily="34" charset="-122"/>
                <a:cs typeface="Cambria" pitchFamily="34" charset="-120"/>
              </a:rPr>
              <a:t>25 de 29</a:t>
            </a:r>
            <a:endParaRPr lang="en-US" sz="4000" dirty="0"/>
          </a:p>
        </p:txBody>
      </p:sp>
      <p:sp>
        <p:nvSpPr>
          <p:cNvPr id="9" name="Text 7"/>
          <p:cNvSpPr/>
          <p:nvPr/>
        </p:nvSpPr>
        <p:spPr>
          <a:xfrm>
            <a:off x="594360" y="3904488"/>
            <a:ext cx="2651760" cy="457200"/>
          </a:xfrm>
          <a:prstGeom prst="rect">
            <a:avLst/>
          </a:prstGeom>
          <a:noFill/>
          <a:ln/>
        </p:spPr>
        <p:txBody>
          <a:bodyPr wrap="square" lIns="0" tIns="0" rIns="0" bIns="0" rtlCol="0" anchor="ctr"/>
          <a:lstStyle/>
          <a:p>
            <a:pPr indent="0" marL="0">
              <a:buNone/>
            </a:pPr>
            <a:r>
              <a:rPr lang="en-US" sz="1150" dirty="0">
                <a:solidFill>
                  <a:srgbClr val="5B6470"/>
                </a:solidFill>
                <a:latin typeface="Calibri" pitchFamily="34" charset="0"/>
                <a:ea typeface="Calibri" pitchFamily="34" charset="-122"/>
                <a:cs typeface="Calibri" pitchFamily="34" charset="-120"/>
              </a:rPr>
              <a:t>entre 3.07 y 3.35 m</a:t>
            </a:r>
            <a:endParaRPr lang="en-US" sz="1150" dirty="0"/>
          </a:p>
        </p:txBody>
      </p:sp>
      <p:sp>
        <p:nvSpPr>
          <p:cNvPr id="10" name="Text 8"/>
          <p:cNvSpPr/>
          <p:nvPr/>
        </p:nvSpPr>
        <p:spPr>
          <a:xfrm>
            <a:off x="3429000" y="3246120"/>
            <a:ext cx="2651760" cy="658368"/>
          </a:xfrm>
          <a:prstGeom prst="rect">
            <a:avLst/>
          </a:prstGeom>
          <a:noFill/>
          <a:ln/>
        </p:spPr>
        <p:txBody>
          <a:bodyPr wrap="square" lIns="0" tIns="0" rIns="0" bIns="0" rtlCol="0" anchor="ctr"/>
          <a:lstStyle/>
          <a:p>
            <a:pPr algn="l" indent="0" marL="0">
              <a:buNone/>
            </a:pPr>
            <a:r>
              <a:rPr lang="en-US" sz="4000" b="1" dirty="0">
                <a:solidFill>
                  <a:srgbClr val="39D98A"/>
                </a:solidFill>
                <a:latin typeface="Cambria" pitchFamily="34" charset="0"/>
                <a:ea typeface="Cambria" pitchFamily="34" charset="-122"/>
                <a:cs typeface="Cambria" pitchFamily="34" charset="-120"/>
              </a:rPr>
              <a:t>4</a:t>
            </a:r>
            <a:endParaRPr lang="en-US" sz="4000" dirty="0"/>
          </a:p>
        </p:txBody>
      </p:sp>
      <p:sp>
        <p:nvSpPr>
          <p:cNvPr id="11" name="Text 9"/>
          <p:cNvSpPr/>
          <p:nvPr/>
        </p:nvSpPr>
        <p:spPr>
          <a:xfrm>
            <a:off x="3429000" y="3904488"/>
            <a:ext cx="2651760" cy="457200"/>
          </a:xfrm>
          <a:prstGeom prst="rect">
            <a:avLst/>
          </a:prstGeom>
          <a:noFill/>
          <a:ln/>
        </p:spPr>
        <p:txBody>
          <a:bodyPr wrap="square" lIns="0" tIns="0" rIns="0" bIns="0" rtlCol="0" anchor="ctr"/>
          <a:lstStyle/>
          <a:p>
            <a:pPr indent="0" marL="0">
              <a:buNone/>
            </a:pPr>
            <a:r>
              <a:rPr lang="en-US" sz="1150" dirty="0">
                <a:solidFill>
                  <a:srgbClr val="5B6470"/>
                </a:solidFill>
                <a:latin typeface="Calibri" pitchFamily="34" charset="0"/>
                <a:ea typeface="Calibri" pitchFamily="34" charset="-122"/>
                <a:cs typeface="Calibri" pitchFamily="34" charset="-120"/>
              </a:rPr>
              <a:t>pasillos de 4.40 a 4.48 m</a:t>
            </a:r>
            <a:endParaRPr lang="en-US" sz="1150" dirty="0"/>
          </a:p>
        </p:txBody>
      </p:sp>
      <p:pic>
        <p:nvPicPr>
          <p:cNvPr id="12" name="Image 0" descr="im_prop.jpg">    </p:cNvPr>
          <p:cNvPicPr>
            <a:picLocks noChangeAspect="1"/>
          </p:cNvPicPr>
          <p:nvPr/>
        </p:nvPicPr>
        <p:blipFill>
          <a:blip r:embed="rId1"/>
          <a:srcRect l="0" r="0" t="0" b="0"/>
          <a:stretch/>
        </p:blipFill>
        <p:spPr>
          <a:xfrm>
            <a:off x="6309360" y="1783080"/>
            <a:ext cx="5257800" cy="2926080"/>
          </a:xfrm>
          <a:prstGeom prst="rect">
            <a:avLst/>
          </a:prstGeom>
          <a:effectLst>
            <a:outerShdw sx="100000" sy="100000" kx="0" ky="0" algn="bl" rotWithShape="0" blurRad="152400" dist="38100" dir="5400000">
              <a:srgbClr val="000000">
                <a:alpha val="28000"/>
              </a:srgbClr>
            </a:outerShdw>
          </a:effectLst>
        </p:spPr>
      </p:pic>
      <p:sp>
        <p:nvSpPr>
          <p:cNvPr id="13" name="Shape 10"/>
          <p:cNvSpPr/>
          <p:nvPr/>
        </p:nvSpPr>
        <p:spPr>
          <a:xfrm>
            <a:off x="594360" y="4892040"/>
            <a:ext cx="10972800" cy="1417320"/>
          </a:xfrm>
          <a:prstGeom prst="roundRect">
            <a:avLst>
              <a:gd name="adj" fmla="val 5806"/>
            </a:avLst>
          </a:prstGeom>
          <a:solidFill>
            <a:srgbClr val="1A1D23"/>
          </a:solidFill>
          <a:ln/>
          <a:effectLst>
            <a:outerShdw sx="100000" sy="100000" kx="0" ky="0" algn="bl" rotWithShape="0" blurRad="152400" dist="38100" dir="5400000">
              <a:srgbClr val="000000">
                <a:alpha val="28000"/>
              </a:srgbClr>
            </a:outerShdw>
          </a:effectLst>
        </p:spPr>
      </p:sp>
      <p:sp>
        <p:nvSpPr>
          <p:cNvPr id="14" name="Text 11"/>
          <p:cNvSpPr/>
          <p:nvPr/>
        </p:nvSpPr>
        <p:spPr>
          <a:xfrm>
            <a:off x="1005840" y="4892040"/>
            <a:ext cx="10149840" cy="1417320"/>
          </a:xfrm>
          <a:prstGeom prst="rect">
            <a:avLst/>
          </a:prstGeom>
          <a:noFill/>
          <a:ln/>
        </p:spPr>
        <p:txBody>
          <a:bodyPr wrap="square" lIns="0" tIns="0" rIns="0" bIns="0" rtlCol="0" anchor="ctr"/>
          <a:lstStyle/>
          <a:p>
            <a:pPr indent="0" marL="0">
              <a:lnSpc>
                <a:spcPts val="2200"/>
              </a:lnSpc>
              <a:buNone/>
            </a:pPr>
            <a:r>
              <a:rPr lang="en-US" sz="1400" b="1" dirty="0">
                <a:solidFill>
                  <a:srgbClr val="F5C518"/>
                </a:solidFill>
                <a:latin typeface="Calibri" pitchFamily="34" charset="0"/>
                <a:ea typeface="Calibri" pitchFamily="34" charset="-122"/>
                <a:cs typeface="Calibri" pitchFamily="34" charset="-120"/>
              </a:rPr>
              <a:t>Sí hay cuatro corredores donde un KBE 20 entra bien. Son de circulación, no de almacenaje.</a:t>
            </a:r>
            <a:endParaRPr lang="en-US" sz="1400" dirty="0"/>
          </a:p>
          <a:p>
            <a:pPr indent="0" marL="0">
              <a:lnSpc>
                <a:spcPts val="2200"/>
              </a:lnSpc>
              <a:buNone/>
            </a:pPr>
            <a:r>
              <a:rPr lang="en-US" sz="1400" b="1" dirty="0">
                <a:solidFill>
                  <a:srgbClr val="F5C518"/>
                </a:solidFill>
                <a:latin typeface="Calibri" pitchFamily="34" charset="0"/>
                <a:ea typeface="Calibri" pitchFamily="34" charset="-122"/>
                <a:cs typeface="Calibri" pitchFamily="34" charset="-120"/>
              </a:rPr>
              <a:t>El almacén se puede recorrer. Lo que no se puede es estibar en las filas.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71C"/>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ECEBE6"/>
                </a:solidFill>
                <a:latin typeface="Cambria" pitchFamily="34" charset="0"/>
                <a:ea typeface="Cambria" pitchFamily="34" charset="-122"/>
                <a:cs typeface="Cambria" pitchFamily="34" charset="-120"/>
              </a:rPr>
              <a:t>Eso les abre tres caminos</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8B949E"/>
                </a:solidFill>
                <a:latin typeface="Calibri" pitchFamily="34" charset="0"/>
                <a:ea typeface="Calibri" pitchFamily="34" charset="-122"/>
                <a:cs typeface="Calibri" pitchFamily="34" charset="-120"/>
              </a:rPr>
              <a:t>Ninguno es malo. Lo malo sería automatizar sin escoger.</a:t>
            </a:r>
            <a:endParaRPr lang="en-US" sz="1350" dirty="0"/>
          </a:p>
        </p:txBody>
      </p:sp>
      <p:sp>
        <p:nvSpPr>
          <p:cNvPr id="4" name="Shape 2"/>
          <p:cNvSpPr/>
          <p:nvPr/>
        </p:nvSpPr>
        <p:spPr>
          <a:xfrm>
            <a:off x="594360" y="1965960"/>
            <a:ext cx="3493008" cy="2971800"/>
          </a:xfrm>
          <a:prstGeom prst="roundRect">
            <a:avLst>
              <a:gd name="adj" fmla="val 2769"/>
            </a:avLst>
          </a:prstGeom>
          <a:solidFill>
            <a:srgbClr val="20242B"/>
          </a:solidFill>
          <a:ln/>
          <a:effectLst>
            <a:outerShdw sx="100000" sy="100000" kx="0" ky="0" algn="bl" rotWithShape="0" blurRad="152400" dist="38100" dir="5400000">
              <a:srgbClr val="000000">
                <a:alpha val="28000"/>
              </a:srgbClr>
            </a:outerShdw>
          </a:effectLst>
        </p:spPr>
      </p:sp>
      <p:sp>
        <p:nvSpPr>
          <p:cNvPr id="5" name="Shape 3"/>
          <p:cNvSpPr/>
          <p:nvPr/>
        </p:nvSpPr>
        <p:spPr>
          <a:xfrm>
            <a:off x="886968" y="2267712"/>
            <a:ext cx="384048" cy="384048"/>
          </a:xfrm>
          <a:prstGeom prst="ellipse">
            <a:avLst/>
          </a:prstGeom>
          <a:solidFill>
            <a:srgbClr val="37C3FF"/>
          </a:solidFill>
          <a:ln/>
        </p:spPr>
      </p:sp>
      <p:sp>
        <p:nvSpPr>
          <p:cNvPr id="6" name="Text 4"/>
          <p:cNvSpPr/>
          <p:nvPr/>
        </p:nvSpPr>
        <p:spPr>
          <a:xfrm>
            <a:off x="886968" y="2267712"/>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886968" y="2834640"/>
            <a:ext cx="2926080" cy="457200"/>
          </a:xfrm>
          <a:prstGeom prst="rect">
            <a:avLst/>
          </a:prstGeom>
          <a:noFill/>
          <a:ln/>
        </p:spPr>
        <p:txBody>
          <a:bodyPr wrap="square" lIns="0" tIns="0" rIns="0" bIns="0" rtlCol="0" anchor="ctr"/>
          <a:lstStyle/>
          <a:p>
            <a:pPr indent="0" marL="0">
              <a:buNone/>
            </a:pPr>
            <a:r>
              <a:rPr lang="en-US" sz="1900" b="1" dirty="0">
                <a:solidFill>
                  <a:srgbClr val="37C3FF"/>
                </a:solidFill>
                <a:latin typeface="Cambria" pitchFamily="34" charset="0"/>
                <a:ea typeface="Cambria" pitchFamily="34" charset="-122"/>
                <a:cs typeface="Cambria" pitchFamily="34" charset="-120"/>
              </a:rPr>
              <a:t>Medir y salir de dudas</a:t>
            </a:r>
            <a:endParaRPr lang="en-US" sz="1900" dirty="0"/>
          </a:p>
        </p:txBody>
      </p:sp>
      <p:sp>
        <p:nvSpPr>
          <p:cNvPr id="8" name="Text 6"/>
          <p:cNvSpPr/>
          <p:nvPr/>
        </p:nvSpPr>
        <p:spPr>
          <a:xfrm>
            <a:off x="886968" y="3364992"/>
            <a:ext cx="2926080" cy="1371600"/>
          </a:xfrm>
          <a:prstGeom prst="rect">
            <a:avLst/>
          </a:prstGeom>
          <a:noFill/>
          <a:ln/>
        </p:spPr>
        <p:txBody>
          <a:bodyPr wrap="square" lIns="0" tIns="0" rIns="0" bIns="0" rtlCol="0" anchor="t"/>
          <a:lstStyle/>
          <a:p>
            <a:pPr indent="0" marL="0">
              <a:buNone/>
            </a:pPr>
            <a:r>
              <a:rPr lang="en-US" sz="1250" dirty="0">
                <a:solidFill>
                  <a:srgbClr val="8B949E"/>
                </a:solidFill>
                <a:latin typeface="Calibri" pitchFamily="34" charset="0"/>
                <a:ea typeface="Calibri" pitchFamily="34" charset="-122"/>
                <a:cs typeface="Calibri" pitchFamily="34" charset="-120"/>
              </a:rPr>
              <a:t>Con cinta, hoy mismo. Si el pasillo real da 3.9 y el plano dice 3.17, entonces el plano está mal acotado y hay que revisar todo lo demás.</a:t>
            </a:r>
            <a:endParaRPr lang="en-US" sz="1250" dirty="0"/>
          </a:p>
        </p:txBody>
      </p:sp>
      <p:sp>
        <p:nvSpPr>
          <p:cNvPr id="9" name="Shape 7"/>
          <p:cNvSpPr/>
          <p:nvPr/>
        </p:nvSpPr>
        <p:spPr>
          <a:xfrm>
            <a:off x="4306824" y="1965960"/>
            <a:ext cx="3493008" cy="2971800"/>
          </a:xfrm>
          <a:prstGeom prst="roundRect">
            <a:avLst>
              <a:gd name="adj" fmla="val 2769"/>
            </a:avLst>
          </a:prstGeom>
          <a:solidFill>
            <a:srgbClr val="20242B"/>
          </a:solidFill>
          <a:ln/>
          <a:effectLst>
            <a:outerShdw sx="100000" sy="100000" kx="0" ky="0" algn="bl" rotWithShape="0" blurRad="152400" dist="38100" dir="5400000">
              <a:srgbClr val="000000">
                <a:alpha val="28000"/>
              </a:srgbClr>
            </a:outerShdw>
          </a:effectLst>
        </p:spPr>
      </p:sp>
      <p:sp>
        <p:nvSpPr>
          <p:cNvPr id="10" name="Shape 8"/>
          <p:cNvSpPr/>
          <p:nvPr/>
        </p:nvSpPr>
        <p:spPr>
          <a:xfrm>
            <a:off x="4599432" y="2267712"/>
            <a:ext cx="384048" cy="384048"/>
          </a:xfrm>
          <a:prstGeom prst="ellipse">
            <a:avLst/>
          </a:prstGeom>
          <a:solidFill>
            <a:srgbClr val="F5C518"/>
          </a:solidFill>
          <a:ln/>
        </p:spPr>
      </p:sp>
      <p:sp>
        <p:nvSpPr>
          <p:cNvPr id="11" name="Text 9"/>
          <p:cNvSpPr/>
          <p:nvPr/>
        </p:nvSpPr>
        <p:spPr>
          <a:xfrm>
            <a:off x="4599432" y="2267712"/>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4599432" y="2834640"/>
            <a:ext cx="2926080" cy="457200"/>
          </a:xfrm>
          <a:prstGeom prst="rect">
            <a:avLst/>
          </a:prstGeom>
          <a:noFill/>
          <a:ln/>
        </p:spPr>
        <p:txBody>
          <a:bodyPr wrap="square" lIns="0" tIns="0" rIns="0" bIns="0" rtlCol="0" anchor="ctr"/>
          <a:lstStyle/>
          <a:p>
            <a:pPr indent="0" marL="0">
              <a:buNone/>
            </a:pPr>
            <a:r>
              <a:rPr lang="en-US" sz="1900" b="1" dirty="0">
                <a:solidFill>
                  <a:srgbClr val="F5C518"/>
                </a:solidFill>
                <a:latin typeface="Cambria" pitchFamily="34" charset="0"/>
                <a:ea typeface="Cambria" pitchFamily="34" charset="-122"/>
                <a:cs typeface="Cambria" pitchFamily="34" charset="-120"/>
              </a:rPr>
              <a:t>Cambiar de equipo</a:t>
            </a:r>
            <a:endParaRPr lang="en-US" sz="1900" dirty="0"/>
          </a:p>
        </p:txBody>
      </p:sp>
      <p:sp>
        <p:nvSpPr>
          <p:cNvPr id="13" name="Text 11"/>
          <p:cNvSpPr/>
          <p:nvPr/>
        </p:nvSpPr>
        <p:spPr>
          <a:xfrm>
            <a:off x="4599432" y="3364992"/>
            <a:ext cx="2926080" cy="1371600"/>
          </a:xfrm>
          <a:prstGeom prst="rect">
            <a:avLst/>
          </a:prstGeom>
          <a:noFill/>
          <a:ln/>
        </p:spPr>
        <p:txBody>
          <a:bodyPr wrap="square" lIns="0" tIns="0" rIns="0" bIns="0" rtlCol="0" anchor="t"/>
          <a:lstStyle/>
          <a:p>
            <a:pPr indent="0" marL="0">
              <a:buNone/>
            </a:pPr>
            <a:r>
              <a:rPr lang="en-US" sz="1250" dirty="0">
                <a:solidFill>
                  <a:srgbClr val="8B949E"/>
                </a:solidFill>
                <a:latin typeface="Calibri" pitchFamily="34" charset="0"/>
                <a:ea typeface="Calibri" pitchFamily="34" charset="-122"/>
                <a:cs typeface="Calibri" pitchFamily="34" charset="-120"/>
              </a:rPr>
              <a:t>Un reach truck opera con holgura en 3.1 m. Cambia la inversión, pero también les sube la altura de servicio: el rack llega a 7 m.</a:t>
            </a:r>
            <a:endParaRPr lang="en-US" sz="1250" dirty="0"/>
          </a:p>
        </p:txBody>
      </p:sp>
      <p:sp>
        <p:nvSpPr>
          <p:cNvPr id="14" name="Shape 12"/>
          <p:cNvSpPr/>
          <p:nvPr/>
        </p:nvSpPr>
        <p:spPr>
          <a:xfrm>
            <a:off x="8019288" y="1965960"/>
            <a:ext cx="3493008" cy="2971800"/>
          </a:xfrm>
          <a:prstGeom prst="roundRect">
            <a:avLst>
              <a:gd name="adj" fmla="val 2769"/>
            </a:avLst>
          </a:prstGeom>
          <a:solidFill>
            <a:srgbClr val="20242B"/>
          </a:solidFill>
          <a:ln/>
          <a:effectLst>
            <a:outerShdw sx="100000" sy="100000" kx="0" ky="0" algn="bl" rotWithShape="0" blurRad="152400" dist="38100" dir="5400000">
              <a:srgbClr val="000000">
                <a:alpha val="28000"/>
              </a:srgbClr>
            </a:outerShdw>
          </a:effectLst>
        </p:spPr>
      </p:sp>
      <p:sp>
        <p:nvSpPr>
          <p:cNvPr id="15" name="Shape 13"/>
          <p:cNvSpPr/>
          <p:nvPr/>
        </p:nvSpPr>
        <p:spPr>
          <a:xfrm>
            <a:off x="8311896" y="2267712"/>
            <a:ext cx="384048" cy="384048"/>
          </a:xfrm>
          <a:prstGeom prst="ellipse">
            <a:avLst/>
          </a:prstGeom>
          <a:solidFill>
            <a:srgbClr val="39D98A"/>
          </a:solidFill>
          <a:ln/>
        </p:spPr>
      </p:sp>
      <p:sp>
        <p:nvSpPr>
          <p:cNvPr id="16" name="Text 14"/>
          <p:cNvSpPr/>
          <p:nvPr/>
        </p:nvSpPr>
        <p:spPr>
          <a:xfrm>
            <a:off x="8311896" y="2267712"/>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8311896" y="2834640"/>
            <a:ext cx="2926080" cy="457200"/>
          </a:xfrm>
          <a:prstGeom prst="rect">
            <a:avLst/>
          </a:prstGeom>
          <a:noFill/>
          <a:ln/>
        </p:spPr>
        <p:txBody>
          <a:bodyPr wrap="square" lIns="0" tIns="0" rIns="0" bIns="0" rtlCol="0" anchor="ctr"/>
          <a:lstStyle/>
          <a:p>
            <a:pPr indent="0" marL="0">
              <a:buNone/>
            </a:pPr>
            <a:r>
              <a:rPr lang="en-US" sz="1900" b="1" dirty="0">
                <a:solidFill>
                  <a:srgbClr val="39D98A"/>
                </a:solidFill>
                <a:latin typeface="Cambria" pitchFamily="34" charset="0"/>
                <a:ea typeface="Cambria" pitchFamily="34" charset="-122"/>
                <a:cs typeface="Cambria" pitchFamily="34" charset="-120"/>
              </a:rPr>
              <a:t>Rediseñar el layout</a:t>
            </a:r>
            <a:endParaRPr lang="en-US" sz="1900" dirty="0"/>
          </a:p>
        </p:txBody>
      </p:sp>
      <p:sp>
        <p:nvSpPr>
          <p:cNvPr id="18" name="Text 16"/>
          <p:cNvSpPr/>
          <p:nvPr/>
        </p:nvSpPr>
        <p:spPr>
          <a:xfrm>
            <a:off x="8311896" y="3364992"/>
            <a:ext cx="2926080" cy="1371600"/>
          </a:xfrm>
          <a:prstGeom prst="rect">
            <a:avLst/>
          </a:prstGeom>
          <a:noFill/>
          <a:ln/>
        </p:spPr>
        <p:txBody>
          <a:bodyPr wrap="square" lIns="0" tIns="0" rIns="0" bIns="0" rtlCol="0" anchor="t"/>
          <a:lstStyle/>
          <a:p>
            <a:pPr indent="0" marL="0">
              <a:buNone/>
            </a:pPr>
            <a:r>
              <a:rPr lang="en-US" sz="1250" dirty="0">
                <a:solidFill>
                  <a:srgbClr val="8B949E"/>
                </a:solidFill>
                <a:latin typeface="Calibri" pitchFamily="34" charset="0"/>
                <a:ea typeface="Calibri" pitchFamily="34" charset="-122"/>
                <a:cs typeface="Calibri" pitchFamily="34" charset="-120"/>
              </a:rPr>
              <a:t>Aplica al sector C, que todavía no tiene racks dibujados. Ahí sí se puede hacer bien desde cero.</a:t>
            </a:r>
            <a:endParaRPr lang="en-US" sz="1250" dirty="0"/>
          </a:p>
        </p:txBody>
      </p:sp>
      <p:sp>
        <p:nvSpPr>
          <p:cNvPr id="19" name="Shape 17"/>
          <p:cNvSpPr/>
          <p:nvPr/>
        </p:nvSpPr>
        <p:spPr>
          <a:xfrm>
            <a:off x="594360" y="5440680"/>
            <a:ext cx="10972800" cy="731520"/>
          </a:xfrm>
          <a:prstGeom prst="roundRect">
            <a:avLst>
              <a:gd name="adj" fmla="val 11250"/>
            </a:avLst>
          </a:prstGeom>
          <a:solidFill>
            <a:srgbClr val="20242B"/>
          </a:solidFill>
          <a:ln/>
          <a:effectLst>
            <a:outerShdw sx="100000" sy="100000" kx="0" ky="0" algn="bl" rotWithShape="0" blurRad="152400" dist="38100" dir="5400000">
              <a:srgbClr val="000000">
                <a:alpha val="28000"/>
              </a:srgbClr>
            </a:outerShdw>
          </a:effectLst>
        </p:spPr>
      </p:sp>
      <p:sp>
        <p:nvSpPr>
          <p:cNvPr id="20" name="Text 18"/>
          <p:cNvSpPr/>
          <p:nvPr/>
        </p:nvSpPr>
        <p:spPr>
          <a:xfrm>
            <a:off x="914400" y="5440680"/>
            <a:ext cx="10332720" cy="731520"/>
          </a:xfrm>
          <a:prstGeom prst="rect">
            <a:avLst/>
          </a:prstGeom>
          <a:noFill/>
          <a:ln/>
        </p:spPr>
        <p:txBody>
          <a:bodyPr wrap="square" lIns="0" tIns="0" rIns="0" bIns="0" rtlCol="0" anchor="ctr"/>
          <a:lstStyle/>
          <a:p>
            <a:pPr indent="0" marL="0">
              <a:buNone/>
            </a:pPr>
            <a:r>
              <a:rPr lang="en-US" sz="1400" b="1" dirty="0">
                <a:solidFill>
                  <a:srgbClr val="F5C518"/>
                </a:solidFill>
                <a:latin typeface="Calibri" pitchFamily="34" charset="0"/>
                <a:ea typeface="Calibri" pitchFamily="34" charset="-122"/>
                <a:cs typeface="Calibri" pitchFamily="34" charset="-120"/>
              </a:rPr>
              <a:t>Se lo decimos de frente: el kit TaTa no arregla un pasillo angosto. Preferimos decírselo antes de venderles nada.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594360" y="420624"/>
            <a:ext cx="384048" cy="384048"/>
          </a:xfrm>
          <a:prstGeom prst="ellipse">
            <a:avLst/>
          </a:prstGeom>
          <a:solidFill>
            <a:srgbClr val="FF5A52"/>
          </a:solidFill>
          <a:ln/>
        </p:spPr>
      </p:sp>
      <p:sp>
        <p:nvSpPr>
          <p:cNvPr id="3" name="Text 1"/>
          <p:cNvSpPr/>
          <p:nvPr/>
        </p:nvSpPr>
        <p:spPr>
          <a:xfrm>
            <a:off x="594360" y="420624"/>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3</a:t>
            </a:r>
            <a:endParaRPr lang="en-US" sz="1500" dirty="0"/>
          </a:p>
        </p:txBody>
      </p:sp>
      <p:sp>
        <p:nvSpPr>
          <p:cNvPr id="4" name="Text 2"/>
          <p:cNvSpPr/>
          <p:nvPr/>
        </p:nvSpPr>
        <p:spPr>
          <a:xfrm>
            <a:off x="1161288" y="384048"/>
            <a:ext cx="10424160" cy="548640"/>
          </a:xfrm>
          <a:prstGeom prst="rect">
            <a:avLst/>
          </a:prstGeom>
          <a:noFill/>
          <a:ln/>
        </p:spPr>
        <p:txBody>
          <a:bodyPr wrap="square" lIns="0" tIns="0" rIns="0" bIns="0" rtlCol="0" anchor="ctr"/>
          <a:lstStyle/>
          <a:p>
            <a:pPr indent="0" marL="0">
              <a:buNone/>
            </a:pPr>
            <a:r>
              <a:rPr lang="en-US" sz="2900" b="1" dirty="0">
                <a:solidFill>
                  <a:srgbClr val="1A1D23"/>
                </a:solidFill>
                <a:latin typeface="Cambria" pitchFamily="34" charset="0"/>
                <a:ea typeface="Cambria" pitchFamily="34" charset="-122"/>
                <a:cs typeface="Cambria" pitchFamily="34" charset="-120"/>
              </a:rPr>
              <a:t>Y hay racks a los que no se puede llegar</a:t>
            </a:r>
            <a:endParaRPr lang="en-US" sz="2900" dirty="0"/>
          </a:p>
        </p:txBody>
      </p:sp>
      <p:sp>
        <p:nvSpPr>
          <p:cNvPr id="5" name="Text 3"/>
          <p:cNvSpPr/>
          <p:nvPr/>
        </p:nvSpPr>
        <p:spPr>
          <a:xfrm>
            <a:off x="1161288" y="1024128"/>
            <a:ext cx="1042416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Estos dos los encontramos manejando la simulación, no mirando el plano. Es la mejor prueba de para qué sirve.</a:t>
            </a:r>
            <a:endParaRPr lang="en-US" sz="1350" dirty="0"/>
          </a:p>
        </p:txBody>
      </p:sp>
      <p:sp>
        <p:nvSpPr>
          <p:cNvPr id="6" name="Shape 4"/>
          <p:cNvSpPr/>
          <p:nvPr/>
        </p:nvSpPr>
        <p:spPr>
          <a:xfrm>
            <a:off x="594360" y="1783080"/>
            <a:ext cx="10972800" cy="1965960"/>
          </a:xfrm>
          <a:prstGeom prst="roundRect">
            <a:avLst>
              <a:gd name="adj" fmla="val 4186"/>
            </a:avLst>
          </a:prstGeom>
          <a:solidFill>
            <a:srgbClr val="FFFFFF"/>
          </a:solidFill>
          <a:ln/>
          <a:effectLst>
            <a:outerShdw sx="100000" sy="100000" kx="0" ky="0" algn="bl" rotWithShape="0" blurRad="152400" dist="38100" dir="5400000">
              <a:srgbClr val="000000">
                <a:alpha val="28000"/>
              </a:srgbClr>
            </a:outerShdw>
          </a:effectLst>
        </p:spPr>
      </p:sp>
      <p:sp>
        <p:nvSpPr>
          <p:cNvPr id="7" name="Text 5"/>
          <p:cNvSpPr/>
          <p:nvPr/>
        </p:nvSpPr>
        <p:spPr>
          <a:xfrm>
            <a:off x="914400" y="1984248"/>
            <a:ext cx="10332720" cy="384048"/>
          </a:xfrm>
          <a:prstGeom prst="rect">
            <a:avLst/>
          </a:prstGeom>
          <a:noFill/>
          <a:ln/>
        </p:spPr>
        <p:txBody>
          <a:bodyPr wrap="square" lIns="0" tIns="0" rIns="0" bIns="0" rtlCol="0" anchor="ctr"/>
          <a:lstStyle/>
          <a:p>
            <a:pPr indent="0" marL="0">
              <a:buNone/>
            </a:pPr>
            <a:r>
              <a:rPr lang="en-US" sz="1800" b="1" dirty="0">
                <a:solidFill>
                  <a:srgbClr val="1A1D23"/>
                </a:solidFill>
                <a:latin typeface="Cambria" pitchFamily="34" charset="0"/>
                <a:ea typeface="Cambria" pitchFamily="34" charset="-122"/>
                <a:cs typeface="Cambria" pitchFamily="34" charset="-120"/>
              </a:rPr>
              <a:t>El muro que parte el sector IT</a:t>
            </a:r>
            <a:endParaRPr lang="en-US" sz="1800" dirty="0"/>
          </a:p>
        </p:txBody>
      </p:sp>
      <p:sp>
        <p:nvSpPr>
          <p:cNvPr id="8" name="Text 6"/>
          <p:cNvSpPr/>
          <p:nvPr/>
        </p:nvSpPr>
        <p:spPr>
          <a:xfrm>
            <a:off x="914400" y="2441448"/>
            <a:ext cx="10332720" cy="658368"/>
          </a:xfrm>
          <a:prstGeom prst="rect">
            <a:avLst/>
          </a:prstGeom>
          <a:noFill/>
          <a:ln/>
        </p:spPr>
        <p:txBody>
          <a:bodyPr wrap="square" lIns="0" tIns="0" rIns="0" bIns="0" rtlCol="0" anchor="t"/>
          <a:lstStyle/>
          <a:p>
            <a:pPr indent="0" marL="0">
              <a:buNone/>
            </a:pPr>
            <a:r>
              <a:rPr lang="en-US" sz="1300" dirty="0">
                <a:solidFill>
                  <a:srgbClr val="5B6470"/>
                </a:solidFill>
                <a:latin typeface="Calibri" pitchFamily="34" charset="0"/>
                <a:ea typeface="Calibri" pitchFamily="34" charset="-122"/>
                <a:cs typeface="Calibri" pitchFamily="34" charset="-120"/>
              </a:rPr>
              <a:t>Hay un muro en x≈868 que divide la bodega en dos naves. La nave oeste queda encerrada: el único paso está por detrás de las filas de rack.</a:t>
            </a:r>
            <a:endParaRPr lang="en-US" sz="1300" dirty="0"/>
          </a:p>
        </p:txBody>
      </p:sp>
      <p:sp>
        <p:nvSpPr>
          <p:cNvPr id="9" name="Text 7"/>
          <p:cNvSpPr/>
          <p:nvPr/>
        </p:nvSpPr>
        <p:spPr>
          <a:xfrm>
            <a:off x="914400" y="3172968"/>
            <a:ext cx="10332720" cy="384048"/>
          </a:xfrm>
          <a:prstGeom prst="rect">
            <a:avLst/>
          </a:prstGeom>
          <a:noFill/>
          <a:ln/>
        </p:spPr>
        <p:txBody>
          <a:bodyPr wrap="square" lIns="0" tIns="0" rIns="0" bIns="0" rtlCol="0" anchor="ctr"/>
          <a:lstStyle/>
          <a:p>
            <a:pPr indent="0" marL="0">
              <a:buNone/>
            </a:pPr>
            <a:r>
              <a:rPr lang="en-US" sz="1300" b="1" dirty="0">
                <a:solidFill>
                  <a:srgbClr val="FF5A52"/>
                </a:solidFill>
                <a:latin typeface="Calibri" pitchFamily="34" charset="0"/>
                <a:ea typeface="Calibri" pitchFamily="34" charset="-122"/>
                <a:cs typeface="Calibri" pitchFamily="34" charset="-120"/>
              </a:rPr>
              <a:t>O se le abre acceso propio, o se tumba el muro</a:t>
            </a:r>
            <a:endParaRPr lang="en-US" sz="1300" dirty="0"/>
          </a:p>
        </p:txBody>
      </p:sp>
      <p:sp>
        <p:nvSpPr>
          <p:cNvPr id="10" name="Shape 8"/>
          <p:cNvSpPr/>
          <p:nvPr/>
        </p:nvSpPr>
        <p:spPr>
          <a:xfrm>
            <a:off x="594360" y="3995928"/>
            <a:ext cx="10972800" cy="1965960"/>
          </a:xfrm>
          <a:prstGeom prst="roundRect">
            <a:avLst>
              <a:gd name="adj" fmla="val 4186"/>
            </a:avLst>
          </a:prstGeom>
          <a:solidFill>
            <a:srgbClr val="FFFFFF"/>
          </a:solidFill>
          <a:ln/>
          <a:effectLst>
            <a:outerShdw sx="100000" sy="100000" kx="0" ky="0" algn="bl" rotWithShape="0" blurRad="152400" dist="38100" dir="5400000">
              <a:srgbClr val="000000">
                <a:alpha val="28000"/>
              </a:srgbClr>
            </a:outerShdw>
          </a:effectLst>
        </p:spPr>
      </p:sp>
      <p:sp>
        <p:nvSpPr>
          <p:cNvPr id="11" name="Text 9"/>
          <p:cNvSpPr/>
          <p:nvPr/>
        </p:nvSpPr>
        <p:spPr>
          <a:xfrm>
            <a:off x="914400" y="4197096"/>
            <a:ext cx="10332720" cy="384048"/>
          </a:xfrm>
          <a:prstGeom prst="rect">
            <a:avLst/>
          </a:prstGeom>
          <a:noFill/>
          <a:ln/>
        </p:spPr>
        <p:txBody>
          <a:bodyPr wrap="square" lIns="0" tIns="0" rIns="0" bIns="0" rtlCol="0" anchor="ctr"/>
          <a:lstStyle/>
          <a:p>
            <a:pPr indent="0" marL="0">
              <a:buNone/>
            </a:pPr>
            <a:r>
              <a:rPr lang="en-US" sz="1800" b="1" dirty="0">
                <a:solidFill>
                  <a:srgbClr val="1A1D23"/>
                </a:solidFill>
                <a:latin typeface="Cambria" pitchFamily="34" charset="0"/>
                <a:ea typeface="Cambria" pitchFamily="34" charset="-122"/>
                <a:cs typeface="Cambria" pitchFamily="34" charset="-120"/>
              </a:rPr>
              <a:t>Pasillos sin salida</a:t>
            </a:r>
            <a:endParaRPr lang="en-US" sz="1800" dirty="0"/>
          </a:p>
        </p:txBody>
      </p:sp>
      <p:sp>
        <p:nvSpPr>
          <p:cNvPr id="12" name="Text 10"/>
          <p:cNvSpPr/>
          <p:nvPr/>
        </p:nvSpPr>
        <p:spPr>
          <a:xfrm>
            <a:off x="914400" y="4654296"/>
            <a:ext cx="10332720" cy="658368"/>
          </a:xfrm>
          <a:prstGeom prst="rect">
            <a:avLst/>
          </a:prstGeom>
          <a:noFill/>
          <a:ln/>
        </p:spPr>
        <p:txBody>
          <a:bodyPr wrap="square" lIns="0" tIns="0" rIns="0" bIns="0" rtlCol="0" anchor="t"/>
          <a:lstStyle/>
          <a:p>
            <a:pPr indent="0" marL="0">
              <a:buNone/>
            </a:pPr>
            <a:r>
              <a:rPr lang="en-US" sz="1300" dirty="0">
                <a:solidFill>
                  <a:srgbClr val="5B6470"/>
                </a:solidFill>
                <a:latin typeface="Calibri" pitchFamily="34" charset="0"/>
                <a:ea typeface="Calibri" pitchFamily="34" charset="-122"/>
                <a:cs typeface="Calibri" pitchFamily="34" charset="-120"/>
              </a:rPr>
              <a:t>Si las filas van de pared a pared sin un corredor transversal, no hay forma de pasar de un pasillo al de al lado. El operador tendría que salir 25 metros en reversa.</a:t>
            </a:r>
            <a:endParaRPr lang="en-US" sz="1300" dirty="0"/>
          </a:p>
        </p:txBody>
      </p:sp>
      <p:sp>
        <p:nvSpPr>
          <p:cNvPr id="13" name="Text 11"/>
          <p:cNvSpPr/>
          <p:nvPr/>
        </p:nvSpPr>
        <p:spPr>
          <a:xfrm>
            <a:off x="914400" y="5385816"/>
            <a:ext cx="10332720" cy="384048"/>
          </a:xfrm>
          <a:prstGeom prst="rect">
            <a:avLst/>
          </a:prstGeom>
          <a:noFill/>
          <a:ln/>
        </p:spPr>
        <p:txBody>
          <a:bodyPr wrap="square" lIns="0" tIns="0" rIns="0" bIns="0" rtlCol="0" anchor="ctr"/>
          <a:lstStyle/>
          <a:p>
            <a:pPr indent="0" marL="0">
              <a:buNone/>
            </a:pPr>
            <a:r>
              <a:rPr lang="en-US" sz="1300" b="1" dirty="0">
                <a:solidFill>
                  <a:srgbClr val="FF5A52"/>
                </a:solidFill>
                <a:latin typeface="Calibri" pitchFamily="34" charset="0"/>
                <a:ea typeface="Calibri" pitchFamily="34" charset="-122"/>
                <a:cs typeface="Calibri" pitchFamily="34" charset="-120"/>
              </a:rPr>
              <a:t>Todo layout necesita transversal, aunque cueste ubicaciones</a:t>
            </a:r>
            <a:endParaRPr lang="en-US" sz="1300" dirty="0"/>
          </a:p>
        </p:txBody>
      </p:sp>
      <p:sp>
        <p:nvSpPr>
          <p:cNvPr id="14" name="Text 12"/>
          <p:cNvSpPr/>
          <p:nvPr/>
        </p:nvSpPr>
        <p:spPr>
          <a:xfrm>
            <a:off x="594360" y="6263640"/>
            <a:ext cx="10972800" cy="411480"/>
          </a:xfrm>
          <a:prstGeom prst="rect">
            <a:avLst/>
          </a:prstGeom>
          <a:noFill/>
          <a:ln/>
        </p:spPr>
        <p:txBody>
          <a:bodyPr wrap="square" lIns="0" tIns="0" rIns="0" bIns="0" rtlCol="0" anchor="ctr"/>
          <a:lstStyle/>
          <a:p>
            <a:pPr indent="0" marL="0">
              <a:buNone/>
            </a:pPr>
            <a:r>
              <a:rPr lang="en-US" sz="1500" b="1" i="1" dirty="0">
                <a:solidFill>
                  <a:srgbClr val="1A1D23"/>
                </a:solidFill>
                <a:latin typeface="Cambria" pitchFamily="34" charset="0"/>
                <a:ea typeface="Cambria" pitchFamily="34" charset="-122"/>
                <a:cs typeface="Cambria" pitchFamily="34" charset="-120"/>
              </a:rPr>
              <a:t>Un rack al que no se puede llegar no es capacidad. Es un dibujo.</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71C"/>
        </a:solidFill>
      </p:bgPr>
    </p:bg>
    <p:spTree>
      <p:nvGrpSpPr>
        <p:cNvPr id="1" name=""/>
        <p:cNvGrpSpPr/>
        <p:nvPr/>
      </p:nvGrpSpPr>
      <p:grpSpPr>
        <a:xfrm>
          <a:off x="0" y="0"/>
          <a:ext cx="0" cy="0"/>
          <a:chOff x="0" y="0"/>
          <a:chExt cx="0" cy="0"/>
        </a:xfrm>
      </p:grpSpPr>
      <p:pic>
        <p:nvPicPr>
          <p:cNvPr id="2" name="Image 0" descr="im_botoni.jpg">    </p:cNvPr>
          <p:cNvPicPr>
            <a:picLocks noChangeAspect="1"/>
          </p:cNvPicPr>
          <p:nvPr/>
        </p:nvPicPr>
        <p:blipFill>
          <a:blip r:embed="rId1">
            <a:alphaModFix amt="45000"/>
          </a:blip>
          <a:srcRect l="0" r="0" t="0" b="0"/>
          <a:stretch/>
        </p:blipFill>
        <p:spPr>
          <a:xfrm>
            <a:off x="0" y="0"/>
            <a:ext cx="12161520" cy="6858000"/>
          </a:xfrm>
          <a:prstGeom prst="rect">
            <a:avLst/>
          </a:prstGeom>
        </p:spPr>
      </p:pic>
      <p:sp>
        <p:nvSpPr>
          <p:cNvPr id="3" name="Shape 0"/>
          <p:cNvSpPr/>
          <p:nvPr/>
        </p:nvSpPr>
        <p:spPr>
          <a:xfrm>
            <a:off x="0" y="0"/>
            <a:ext cx="12161520" cy="6858000"/>
          </a:xfrm>
          <a:prstGeom prst="rect">
            <a:avLst/>
          </a:prstGeom>
          <a:solidFill>
            <a:srgbClr val="14171C">
              <a:alpha val="82000"/>
            </a:srgbClr>
          </a:solidFill>
          <a:ln/>
        </p:spPr>
      </p:sp>
      <p:sp>
        <p:nvSpPr>
          <p:cNvPr id="4" name="Shape 1"/>
          <p:cNvSpPr/>
          <p:nvPr/>
        </p:nvSpPr>
        <p:spPr>
          <a:xfrm>
            <a:off x="594360" y="1371600"/>
            <a:ext cx="5852160" cy="3154680"/>
          </a:xfrm>
          <a:prstGeom prst="roundRect">
            <a:avLst>
              <a:gd name="adj" fmla="val 2609"/>
            </a:avLst>
          </a:prstGeom>
          <a:solidFill>
            <a:srgbClr val="20242B"/>
          </a:solidFill>
          <a:ln/>
          <a:effectLst>
            <a:outerShdw sx="100000" sy="100000" kx="0" ky="0" algn="bl" rotWithShape="0" blurRad="152400" dist="38100" dir="5400000">
              <a:srgbClr val="000000">
                <a:alpha val="28000"/>
              </a:srgbClr>
            </a:outerShdw>
          </a:effectLst>
        </p:spPr>
      </p:sp>
      <p:sp>
        <p:nvSpPr>
          <p:cNvPr id="5" name="Text 2"/>
          <p:cNvSpPr/>
          <p:nvPr/>
        </p:nvSpPr>
        <p:spPr>
          <a:xfrm>
            <a:off x="914400" y="1645920"/>
            <a:ext cx="5212080" cy="320040"/>
          </a:xfrm>
          <a:prstGeom prst="rect">
            <a:avLst/>
          </a:prstGeom>
          <a:noFill/>
          <a:ln/>
        </p:spPr>
        <p:txBody>
          <a:bodyPr wrap="square" lIns="0" tIns="0" rIns="0" bIns="0" rtlCol="0" anchor="ctr"/>
          <a:lstStyle/>
          <a:p>
            <a:pPr indent="0" marL="0">
              <a:buNone/>
            </a:pPr>
            <a:r>
              <a:rPr lang="en-US" sz="1150" b="1" spc="200" kern="0" dirty="0">
                <a:solidFill>
                  <a:srgbClr val="F5C518"/>
                </a:solidFill>
                <a:latin typeface="Calibri" pitchFamily="34" charset="0"/>
                <a:ea typeface="Calibri" pitchFamily="34" charset="-122"/>
                <a:cs typeface="Calibri" pitchFamily="34" charset="-120"/>
              </a:rPr>
              <a:t>AHORA MANÉJENLO USTEDES</a:t>
            </a:r>
            <a:endParaRPr lang="en-US" sz="1150" dirty="0"/>
          </a:p>
        </p:txBody>
      </p:sp>
      <p:sp>
        <p:nvSpPr>
          <p:cNvPr id="6" name="Text 3"/>
          <p:cNvSpPr/>
          <p:nvPr/>
        </p:nvSpPr>
        <p:spPr>
          <a:xfrm>
            <a:off x="914400" y="1993392"/>
            <a:ext cx="5212080" cy="548640"/>
          </a:xfrm>
          <a:prstGeom prst="rect">
            <a:avLst/>
          </a:prstGeom>
          <a:noFill/>
          <a:ln/>
        </p:spPr>
        <p:txBody>
          <a:bodyPr wrap="square" lIns="0" tIns="0" rIns="0" bIns="0" rtlCol="0" anchor="t"/>
          <a:lstStyle/>
          <a:p>
            <a:pPr indent="0" marL="0">
              <a:buNone/>
            </a:pPr>
            <a:r>
              <a:rPr lang="en-US" sz="3000" b="1" dirty="0">
                <a:solidFill>
                  <a:srgbClr val="ECEBE6"/>
                </a:solidFill>
                <a:latin typeface="Cambria" pitchFamily="34" charset="0"/>
                <a:ea typeface="Cambria" pitchFamily="34" charset="-122"/>
                <a:cs typeface="Cambria" pitchFamily="34" charset="-120"/>
              </a:rPr>
              <a:t>Su almacén, jugable</a:t>
            </a:r>
            <a:endParaRPr lang="en-US" sz="3000" dirty="0"/>
          </a:p>
        </p:txBody>
      </p:sp>
      <p:sp>
        <p:nvSpPr>
          <p:cNvPr id="7" name="Text 4"/>
          <p:cNvSpPr/>
          <p:nvPr/>
        </p:nvSpPr>
        <p:spPr>
          <a:xfrm>
            <a:off x="914400" y="2788920"/>
            <a:ext cx="5212080" cy="214884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ECEBE6"/>
                </a:solidFill>
                <a:latin typeface="Calibri" pitchFamily="34" charset="0"/>
                <a:ea typeface="Calibri" pitchFamily="34" charset="-122"/>
                <a:cs typeface="Calibri" pitchFamily="34" charset="-120"/>
              </a:rPr>
              <a:t>Es un Baoli KBE 20 con las cotas de fábrica, no un cubo genérico</a:t>
            </a:r>
            <a:endParaRPr lang="en-US" sz="1300" dirty="0"/>
          </a:p>
          <a:p>
            <a:pPr marL="342900" indent="-342900">
              <a:spcAft>
                <a:spcPts val="900"/>
              </a:spcAft>
              <a:buSzPct val="100000"/>
              <a:buChar char="•"/>
            </a:pPr>
            <a:r>
              <a:rPr lang="en-US" sz="1300" dirty="0">
                <a:solidFill>
                  <a:srgbClr val="ECEBE6"/>
                </a:solidFill>
                <a:latin typeface="Calibri" pitchFamily="34" charset="0"/>
                <a:ea typeface="Calibri" pitchFamily="34" charset="-122"/>
                <a:cs typeface="Calibri" pitchFamily="34" charset="-120"/>
              </a:rPr>
              <a:t>Agarren y dejen maxicubos en las ubicaciones, con su código</a:t>
            </a:r>
            <a:endParaRPr lang="en-US" sz="1300" dirty="0"/>
          </a:p>
          <a:p>
            <a:pPr marL="342900" indent="-342900">
              <a:spcAft>
                <a:spcPts val="900"/>
              </a:spcAft>
              <a:buSzPct val="100000"/>
              <a:buChar char="•"/>
            </a:pPr>
            <a:r>
              <a:rPr lang="en-US" sz="1300" dirty="0">
                <a:solidFill>
                  <a:srgbClr val="ECEBE6"/>
                </a:solidFill>
                <a:latin typeface="Calibri" pitchFamily="34" charset="0"/>
                <a:ea typeface="Calibri" pitchFamily="34" charset="-122"/>
                <a:cs typeface="Calibri" pitchFamily="34" charset="-120"/>
              </a:rPr>
              <a:t>Intenten el giro de 90° en su propio pasillo. A ver si les sale.</a:t>
            </a:r>
            <a:endParaRPr lang="en-US" sz="1300" dirty="0"/>
          </a:p>
          <a:p>
            <a:pPr marL="342900" indent="-342900">
              <a:spcAft>
                <a:spcPts val="900"/>
              </a:spcAft>
              <a:buSzPct val="100000"/>
              <a:buChar char="•"/>
            </a:pPr>
            <a:r>
              <a:rPr lang="en-US" sz="1300" dirty="0">
                <a:solidFill>
                  <a:srgbClr val="ECEBE6"/>
                </a:solidFill>
                <a:latin typeface="Calibri" pitchFamily="34" charset="0"/>
                <a:ea typeface="Calibri" pitchFamily="34" charset="-122"/>
                <a:cs typeface="Calibri" pitchFamily="34" charset="-120"/>
              </a:rPr>
              <a:t>Y véanlo con tres unidades coordinándose sin chocarse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1A1D23"/>
                </a:solidFill>
                <a:latin typeface="Cambria" pitchFamily="34" charset="0"/>
                <a:ea typeface="Cambria" pitchFamily="34" charset="-122"/>
                <a:cs typeface="Cambria" pitchFamily="34" charset="-120"/>
              </a:rPr>
              <a:t>Y así se vería el sector IT bien hecho</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La bodega que hoy está vacía, dibujada para que un montacargas de verdad pueda trabajar ahí</a:t>
            </a:r>
            <a:endParaRPr lang="en-US" sz="1350" dirty="0"/>
          </a:p>
        </p:txBody>
      </p:sp>
      <p:pic>
        <p:nvPicPr>
          <p:cNvPr id="4" name="Image 0" descr="im_prop.jpg">    </p:cNvPr>
          <p:cNvPicPr>
            <a:picLocks noChangeAspect="1"/>
          </p:cNvPicPr>
          <p:nvPr/>
        </p:nvPicPr>
        <p:blipFill>
          <a:blip r:embed="rId1"/>
          <a:srcRect l="0" r="0" t="0" b="0"/>
          <a:stretch/>
        </p:blipFill>
        <p:spPr>
          <a:xfrm>
            <a:off x="5806440" y="1737360"/>
            <a:ext cx="5760720" cy="3904488"/>
          </a:xfrm>
          <a:prstGeom prst="rect">
            <a:avLst/>
          </a:prstGeom>
          <a:effectLst>
            <a:outerShdw sx="100000" sy="100000" kx="0" ky="0" algn="bl" rotWithShape="0" blurRad="152400" dist="38100" dir="5400000">
              <a:srgbClr val="000000">
                <a:alpha val="28000"/>
              </a:srgbClr>
            </a:outerShdw>
          </a:effectLst>
        </p:spPr>
      </p:pic>
      <p:sp>
        <p:nvSpPr>
          <p:cNvPr id="5" name="Text 2"/>
          <p:cNvSpPr/>
          <p:nvPr/>
        </p:nvSpPr>
        <p:spPr>
          <a:xfrm>
            <a:off x="594360" y="1737360"/>
            <a:ext cx="2651760" cy="658368"/>
          </a:xfrm>
          <a:prstGeom prst="rect">
            <a:avLst/>
          </a:prstGeom>
          <a:noFill/>
          <a:ln/>
        </p:spPr>
        <p:txBody>
          <a:bodyPr wrap="square" lIns="0" tIns="0" rIns="0" bIns="0" rtlCol="0" anchor="ctr"/>
          <a:lstStyle/>
          <a:p>
            <a:pPr algn="l" indent="0" marL="0">
              <a:buNone/>
            </a:pPr>
            <a:r>
              <a:rPr lang="en-US" sz="4000" b="1" dirty="0">
                <a:solidFill>
                  <a:srgbClr val="39D98A"/>
                </a:solidFill>
                <a:latin typeface="Cambria" pitchFamily="34" charset="0"/>
                <a:ea typeface="Cambria" pitchFamily="34" charset="-122"/>
                <a:cs typeface="Cambria" pitchFamily="34" charset="-120"/>
              </a:rPr>
              <a:t>790</a:t>
            </a:r>
            <a:endParaRPr lang="en-US" sz="4000" dirty="0"/>
          </a:p>
        </p:txBody>
      </p:sp>
      <p:sp>
        <p:nvSpPr>
          <p:cNvPr id="6" name="Text 3"/>
          <p:cNvSpPr/>
          <p:nvPr/>
        </p:nvSpPr>
        <p:spPr>
          <a:xfrm>
            <a:off x="594360" y="2395728"/>
            <a:ext cx="2651760" cy="457200"/>
          </a:xfrm>
          <a:prstGeom prst="rect">
            <a:avLst/>
          </a:prstGeom>
          <a:noFill/>
          <a:ln/>
        </p:spPr>
        <p:txBody>
          <a:bodyPr wrap="square" lIns="0" tIns="0" rIns="0" bIns="0" rtlCol="0" anchor="ctr"/>
          <a:lstStyle/>
          <a:p>
            <a:pPr indent="0" marL="0">
              <a:buNone/>
            </a:pPr>
            <a:r>
              <a:rPr lang="en-US" sz="1150" dirty="0">
                <a:solidFill>
                  <a:srgbClr val="5B6470"/>
                </a:solidFill>
                <a:latin typeface="Calibri" pitchFamily="34" charset="0"/>
                <a:ea typeface="Calibri" pitchFamily="34" charset="-122"/>
                <a:cs typeface="Calibri" pitchFamily="34" charset="-120"/>
              </a:rPr>
              <a:t>ubicaciones nuevas, en 2 naves</a:t>
            </a:r>
            <a:endParaRPr lang="en-US" sz="1150" dirty="0"/>
          </a:p>
        </p:txBody>
      </p:sp>
      <p:sp>
        <p:nvSpPr>
          <p:cNvPr id="7" name="Text 4"/>
          <p:cNvSpPr/>
          <p:nvPr/>
        </p:nvSpPr>
        <p:spPr>
          <a:xfrm>
            <a:off x="3429000" y="1737360"/>
            <a:ext cx="2651760" cy="658368"/>
          </a:xfrm>
          <a:prstGeom prst="rect">
            <a:avLst/>
          </a:prstGeom>
          <a:noFill/>
          <a:ln/>
        </p:spPr>
        <p:txBody>
          <a:bodyPr wrap="square" lIns="0" tIns="0" rIns="0" bIns="0" rtlCol="0" anchor="ctr"/>
          <a:lstStyle/>
          <a:p>
            <a:pPr algn="l" indent="0" marL="0">
              <a:buNone/>
            </a:pPr>
            <a:r>
              <a:rPr lang="en-US" sz="4000" b="1" dirty="0">
                <a:solidFill>
                  <a:srgbClr val="1A1D23"/>
                </a:solidFill>
                <a:latin typeface="Cambria" pitchFamily="34" charset="0"/>
                <a:ea typeface="Cambria" pitchFamily="34" charset="-122"/>
                <a:cs typeface="Cambria" pitchFamily="34" charset="-120"/>
              </a:rPr>
              <a:t>5.54 m</a:t>
            </a:r>
            <a:endParaRPr lang="en-US" sz="4000" dirty="0"/>
          </a:p>
        </p:txBody>
      </p:sp>
      <p:sp>
        <p:nvSpPr>
          <p:cNvPr id="8" name="Text 5"/>
          <p:cNvSpPr/>
          <p:nvPr/>
        </p:nvSpPr>
        <p:spPr>
          <a:xfrm>
            <a:off x="3429000" y="2395728"/>
            <a:ext cx="2651760" cy="457200"/>
          </a:xfrm>
          <a:prstGeom prst="rect">
            <a:avLst/>
          </a:prstGeom>
          <a:noFill/>
          <a:ln/>
        </p:spPr>
        <p:txBody>
          <a:bodyPr wrap="square" lIns="0" tIns="0" rIns="0" bIns="0" rtlCol="0" anchor="ctr"/>
          <a:lstStyle/>
          <a:p>
            <a:pPr indent="0" marL="0">
              <a:buNone/>
            </a:pPr>
            <a:r>
              <a:rPr lang="en-US" sz="1150" dirty="0">
                <a:solidFill>
                  <a:srgbClr val="5B6470"/>
                </a:solidFill>
                <a:latin typeface="Calibri" pitchFamily="34" charset="0"/>
                <a:ea typeface="Calibri" pitchFamily="34" charset="-122"/>
                <a:cs typeface="Calibri" pitchFamily="34" charset="-120"/>
              </a:rPr>
              <a:t>de pasillo en la nave este</a:t>
            </a:r>
            <a:endParaRPr lang="en-US" sz="1150" dirty="0"/>
          </a:p>
        </p:txBody>
      </p:sp>
      <p:sp>
        <p:nvSpPr>
          <p:cNvPr id="9" name="Text 6"/>
          <p:cNvSpPr/>
          <p:nvPr/>
        </p:nvSpPr>
        <p:spPr>
          <a:xfrm>
            <a:off x="594360" y="3200400"/>
            <a:ext cx="2651760" cy="658368"/>
          </a:xfrm>
          <a:prstGeom prst="rect">
            <a:avLst/>
          </a:prstGeom>
          <a:noFill/>
          <a:ln/>
        </p:spPr>
        <p:txBody>
          <a:bodyPr wrap="square" lIns="0" tIns="0" rIns="0" bIns="0" rtlCol="0" anchor="ctr"/>
          <a:lstStyle/>
          <a:p>
            <a:pPr algn="l" indent="0" marL="0">
              <a:buNone/>
            </a:pPr>
            <a:r>
              <a:rPr lang="en-US" sz="4000" b="1" dirty="0">
                <a:solidFill>
                  <a:srgbClr val="1A1D23"/>
                </a:solidFill>
                <a:latin typeface="Cambria" pitchFamily="34" charset="0"/>
                <a:ea typeface="Cambria" pitchFamily="34" charset="-122"/>
                <a:cs typeface="Cambria" pitchFamily="34" charset="-120"/>
              </a:rPr>
              <a:t>6.34 m</a:t>
            </a:r>
            <a:endParaRPr lang="en-US" sz="4000" dirty="0"/>
          </a:p>
        </p:txBody>
      </p:sp>
      <p:sp>
        <p:nvSpPr>
          <p:cNvPr id="10" name="Text 7"/>
          <p:cNvSpPr/>
          <p:nvPr/>
        </p:nvSpPr>
        <p:spPr>
          <a:xfrm>
            <a:off x="594360" y="3858768"/>
            <a:ext cx="2651760" cy="457200"/>
          </a:xfrm>
          <a:prstGeom prst="rect">
            <a:avLst/>
          </a:prstGeom>
          <a:noFill/>
          <a:ln/>
        </p:spPr>
        <p:txBody>
          <a:bodyPr wrap="square" lIns="0" tIns="0" rIns="0" bIns="0" rtlCol="0" anchor="ctr"/>
          <a:lstStyle/>
          <a:p>
            <a:pPr indent="0" marL="0">
              <a:buNone/>
            </a:pPr>
            <a:r>
              <a:rPr lang="en-US" sz="1150" dirty="0">
                <a:solidFill>
                  <a:srgbClr val="5B6470"/>
                </a:solidFill>
                <a:latin typeface="Calibri" pitchFamily="34" charset="0"/>
                <a:ea typeface="Calibri" pitchFamily="34" charset="-122"/>
                <a:cs typeface="Calibri" pitchFamily="34" charset="-120"/>
              </a:rPr>
              <a:t>de pasillo en la nave oeste</a:t>
            </a:r>
            <a:endParaRPr lang="en-US" sz="1150" dirty="0"/>
          </a:p>
        </p:txBody>
      </p:sp>
      <p:sp>
        <p:nvSpPr>
          <p:cNvPr id="11" name="Text 8"/>
          <p:cNvSpPr/>
          <p:nvPr/>
        </p:nvSpPr>
        <p:spPr>
          <a:xfrm>
            <a:off x="3429000" y="3200400"/>
            <a:ext cx="2651760" cy="658368"/>
          </a:xfrm>
          <a:prstGeom prst="rect">
            <a:avLst/>
          </a:prstGeom>
          <a:noFill/>
          <a:ln/>
        </p:spPr>
        <p:txBody>
          <a:bodyPr wrap="square" lIns="0" tIns="0" rIns="0" bIns="0" rtlCol="0" anchor="ctr"/>
          <a:lstStyle/>
          <a:p>
            <a:pPr algn="l" indent="0" marL="0">
              <a:buNone/>
            </a:pPr>
            <a:r>
              <a:rPr lang="en-US" sz="4000" b="1" dirty="0">
                <a:solidFill>
                  <a:srgbClr val="1A1D23"/>
                </a:solidFill>
                <a:latin typeface="Cambria" pitchFamily="34" charset="0"/>
                <a:ea typeface="Cambria" pitchFamily="34" charset="-122"/>
                <a:cs typeface="Cambria" pitchFamily="34" charset="-120"/>
              </a:rPr>
              <a:t>4.50 m</a:t>
            </a:r>
            <a:endParaRPr lang="en-US" sz="4000" dirty="0"/>
          </a:p>
        </p:txBody>
      </p:sp>
      <p:sp>
        <p:nvSpPr>
          <p:cNvPr id="12" name="Text 9"/>
          <p:cNvSpPr/>
          <p:nvPr/>
        </p:nvSpPr>
        <p:spPr>
          <a:xfrm>
            <a:off x="3429000" y="3858768"/>
            <a:ext cx="2651760" cy="457200"/>
          </a:xfrm>
          <a:prstGeom prst="rect">
            <a:avLst/>
          </a:prstGeom>
          <a:noFill/>
          <a:ln/>
        </p:spPr>
        <p:txBody>
          <a:bodyPr wrap="square" lIns="0" tIns="0" rIns="0" bIns="0" rtlCol="0" anchor="ctr"/>
          <a:lstStyle/>
          <a:p>
            <a:pPr indent="0" marL="0">
              <a:buNone/>
            </a:pPr>
            <a:r>
              <a:rPr lang="en-US" sz="1150" dirty="0">
                <a:solidFill>
                  <a:srgbClr val="5B6470"/>
                </a:solidFill>
                <a:latin typeface="Calibri" pitchFamily="34" charset="0"/>
                <a:ea typeface="Calibri" pitchFamily="34" charset="-122"/>
                <a:cs typeface="Calibri" pitchFamily="34" charset="-120"/>
              </a:rPr>
              <a:t>de corredor transversal</a:t>
            </a:r>
            <a:endParaRPr lang="en-US" sz="1150" dirty="0"/>
          </a:p>
        </p:txBody>
      </p:sp>
      <p:sp>
        <p:nvSpPr>
          <p:cNvPr id="13" name="Shape 10"/>
          <p:cNvSpPr/>
          <p:nvPr/>
        </p:nvSpPr>
        <p:spPr>
          <a:xfrm>
            <a:off x="594360" y="4754880"/>
            <a:ext cx="5257800" cy="1371600"/>
          </a:xfrm>
          <a:prstGeom prst="roundRect">
            <a:avLst>
              <a:gd name="adj" fmla="val 6000"/>
            </a:avLst>
          </a:prstGeom>
          <a:solidFill>
            <a:srgbClr val="1A1D23"/>
          </a:solidFill>
          <a:ln/>
          <a:effectLst>
            <a:outerShdw sx="100000" sy="100000" kx="0" ky="0" algn="bl" rotWithShape="0" blurRad="152400" dist="38100" dir="5400000">
              <a:srgbClr val="000000">
                <a:alpha val="28000"/>
              </a:srgbClr>
            </a:outerShdw>
          </a:effectLst>
        </p:spPr>
      </p:sp>
      <p:sp>
        <p:nvSpPr>
          <p:cNvPr id="14" name="Text 11"/>
          <p:cNvSpPr/>
          <p:nvPr/>
        </p:nvSpPr>
        <p:spPr>
          <a:xfrm>
            <a:off x="914400" y="4754880"/>
            <a:ext cx="4663440" cy="1371600"/>
          </a:xfrm>
          <a:prstGeom prst="rect">
            <a:avLst/>
          </a:prstGeom>
          <a:noFill/>
          <a:ln/>
        </p:spPr>
        <p:txBody>
          <a:bodyPr wrap="square" lIns="0" tIns="0" rIns="0" bIns="0" rtlCol="0" anchor="ctr"/>
          <a:lstStyle/>
          <a:p>
            <a:pPr indent="0" marL="0">
              <a:buNone/>
            </a:pPr>
            <a:r>
              <a:rPr lang="en-US" sz="1250" b="1" dirty="0">
                <a:solidFill>
                  <a:srgbClr val="39D98A"/>
                </a:solidFill>
                <a:latin typeface="Calibri" pitchFamily="34" charset="0"/>
                <a:ea typeface="Calibri" pitchFamily="34" charset="-122"/>
                <a:cs typeface="Calibri" pitchFamily="34" charset="-120"/>
              </a:rPr>
              <a:t>Contra los 3.82 m que pide el KBE 20 les sobra metro y medio. El giro sale de una sola pasada, sin maniobrar.</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1A1D23"/>
                </a:solidFill>
                <a:latin typeface="Cambria" pitchFamily="34" charset="0"/>
                <a:ea typeface="Cambria" pitchFamily="34" charset="-122"/>
                <a:cs typeface="Cambria" pitchFamily="34" charset="-120"/>
              </a:rPr>
              <a:t>Bueno, y ¿qué es el kit TaTa?</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Un solo hardware que se instala una vez. La autonomía se prende por software cuando ustedes quieran.</a:t>
            </a:r>
            <a:endParaRPr lang="en-US" sz="1350" dirty="0"/>
          </a:p>
        </p:txBody>
      </p:sp>
      <p:sp>
        <p:nvSpPr>
          <p:cNvPr id="4" name="Shape 2"/>
          <p:cNvSpPr/>
          <p:nvPr/>
        </p:nvSpPr>
        <p:spPr>
          <a:xfrm>
            <a:off x="594360" y="1783080"/>
            <a:ext cx="3493008" cy="3977640"/>
          </a:xfrm>
          <a:prstGeom prst="roundRect">
            <a:avLst>
              <a:gd name="adj" fmla="val 2356"/>
            </a:avLst>
          </a:prstGeom>
          <a:solidFill>
            <a:srgbClr val="FFFFFF"/>
          </a:solidFill>
          <a:ln/>
          <a:effectLst>
            <a:outerShdw sx="100000" sy="100000" kx="0" ky="0" algn="bl" rotWithShape="0" blurRad="152400" dist="38100" dir="5400000">
              <a:srgbClr val="000000">
                <a:alpha val="28000"/>
              </a:srgbClr>
            </a:outerShdw>
          </a:effectLst>
        </p:spPr>
      </p:sp>
      <p:sp>
        <p:nvSpPr>
          <p:cNvPr id="5" name="Text 3"/>
          <p:cNvSpPr/>
          <p:nvPr/>
        </p:nvSpPr>
        <p:spPr>
          <a:xfrm>
            <a:off x="886968" y="1965960"/>
            <a:ext cx="2926080" cy="411480"/>
          </a:xfrm>
          <a:prstGeom prst="rect">
            <a:avLst/>
          </a:prstGeom>
          <a:noFill/>
          <a:ln/>
        </p:spPr>
        <p:txBody>
          <a:bodyPr wrap="square" lIns="0" tIns="0" rIns="0" bIns="0" rtlCol="0" anchor="ctr"/>
          <a:lstStyle/>
          <a:p>
            <a:pPr indent="0" marL="0">
              <a:buNone/>
            </a:pPr>
            <a:r>
              <a:rPr lang="en-US" sz="2000" b="1" dirty="0">
                <a:solidFill>
                  <a:srgbClr val="1A1D23"/>
                </a:solidFill>
                <a:latin typeface="Cambria" pitchFamily="34" charset="0"/>
                <a:ea typeface="Cambria" pitchFamily="34" charset="-122"/>
                <a:cs typeface="Cambria" pitchFamily="34" charset="-120"/>
              </a:rPr>
              <a:t>TaTa Watch</a:t>
            </a:r>
            <a:endParaRPr lang="en-US" sz="2000" dirty="0"/>
          </a:p>
        </p:txBody>
      </p:sp>
      <p:sp>
        <p:nvSpPr>
          <p:cNvPr id="6" name="Text 4"/>
          <p:cNvSpPr/>
          <p:nvPr/>
        </p:nvSpPr>
        <p:spPr>
          <a:xfrm>
            <a:off x="886968" y="2395728"/>
            <a:ext cx="2926080" cy="320040"/>
          </a:xfrm>
          <a:prstGeom prst="rect">
            <a:avLst/>
          </a:prstGeom>
          <a:noFill/>
          <a:ln/>
        </p:spPr>
        <p:txBody>
          <a:bodyPr wrap="square" lIns="0" tIns="0" rIns="0" bIns="0" rtlCol="0" anchor="ctr"/>
          <a:lstStyle/>
          <a:p>
            <a:pPr indent="0" marL="0">
              <a:buNone/>
            </a:pPr>
            <a:r>
              <a:rPr lang="en-US" sz="1100" b="1" spc="60" kern="0" dirty="0">
                <a:solidFill>
                  <a:srgbClr val="37C3FF"/>
                </a:solidFill>
                <a:latin typeface="Calibri" pitchFamily="34" charset="0"/>
                <a:ea typeface="Calibri" pitchFamily="34" charset="-122"/>
                <a:cs typeface="Calibri" pitchFamily="34" charset="-120"/>
              </a:rPr>
              <a:t>Nivel 1 · Ve y avisa</a:t>
            </a:r>
            <a:endParaRPr lang="en-US" sz="1100" dirty="0"/>
          </a:p>
        </p:txBody>
      </p:sp>
      <p:sp>
        <p:nvSpPr>
          <p:cNvPr id="7" name="Text 5"/>
          <p:cNvSpPr/>
          <p:nvPr/>
        </p:nvSpPr>
        <p:spPr>
          <a:xfrm>
            <a:off x="886968" y="2880360"/>
            <a:ext cx="2926080" cy="137160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5B6470"/>
                </a:solidFill>
                <a:latin typeface="Calibri" pitchFamily="34" charset="0"/>
                <a:ea typeface="Calibri" pitchFamily="34" charset="-122"/>
                <a:cs typeface="Calibri" pitchFamily="34" charset="-120"/>
              </a:rPr>
              <a:t>El operador sigue manejando</a:t>
            </a:r>
            <a:endParaRPr lang="en-US" sz="1150" dirty="0"/>
          </a:p>
          <a:p>
            <a:pPr marL="342900" indent="-342900">
              <a:spcAft>
                <a:spcPts val="500"/>
              </a:spcAft>
              <a:buSzPct val="100000"/>
              <a:buChar char="•"/>
            </a:pPr>
            <a:r>
              <a:rPr lang="en-US" sz="1150" dirty="0">
                <a:solidFill>
                  <a:srgbClr val="5B6470"/>
                </a:solidFill>
                <a:latin typeface="Calibri" pitchFamily="34" charset="0"/>
                <a:ea typeface="Calibri" pitchFamily="34" charset="-122"/>
                <a:cs typeface="Calibri" pitchFamily="34" charset="-120"/>
              </a:rPr>
              <a:t>Alerta y frena en emergencia</a:t>
            </a:r>
            <a:endParaRPr lang="en-US" sz="1150" dirty="0"/>
          </a:p>
          <a:p>
            <a:pPr marL="342900" indent="-342900">
              <a:spcAft>
                <a:spcPts val="500"/>
              </a:spcAft>
              <a:buSzPct val="100000"/>
              <a:buChar char="•"/>
            </a:pPr>
            <a:r>
              <a:rPr lang="en-US" sz="1150" dirty="0">
                <a:solidFill>
                  <a:srgbClr val="5B6470"/>
                </a:solidFill>
                <a:latin typeface="Calibri" pitchFamily="34" charset="0"/>
                <a:ea typeface="Calibri" pitchFamily="34" charset="-122"/>
                <a:cs typeface="Calibri" pitchFamily="34" charset="-120"/>
              </a:rPr>
              <a:t>El inventario se registra solo</a:t>
            </a:r>
            <a:endParaRPr lang="en-US" sz="1150" dirty="0"/>
          </a:p>
          <a:p>
            <a:pPr marL="342900" indent="-342900">
              <a:spcAft>
                <a:spcPts val="500"/>
              </a:spcAft>
              <a:buSzPct val="100000"/>
              <a:buChar char="•"/>
            </a:pPr>
            <a:r>
              <a:rPr lang="en-US" sz="1150" dirty="0">
                <a:solidFill>
                  <a:srgbClr val="5B6470"/>
                </a:solidFill>
                <a:latin typeface="Calibri" pitchFamily="34" charset="0"/>
                <a:ea typeface="Calibri" pitchFamily="34" charset="-122"/>
                <a:cs typeface="Calibri" pitchFamily="34" charset="-120"/>
              </a:rPr>
              <a:t>Reporta ciclos y casi-accidentes</a:t>
            </a:r>
            <a:endParaRPr lang="en-US" sz="1150" dirty="0"/>
          </a:p>
        </p:txBody>
      </p:sp>
      <p:sp>
        <p:nvSpPr>
          <p:cNvPr id="8" name="Text 6"/>
          <p:cNvSpPr/>
          <p:nvPr/>
        </p:nvSpPr>
        <p:spPr>
          <a:xfrm>
            <a:off x="886968" y="4937760"/>
            <a:ext cx="2926080" cy="548640"/>
          </a:xfrm>
          <a:prstGeom prst="rect">
            <a:avLst/>
          </a:prstGeom>
          <a:noFill/>
          <a:ln/>
        </p:spPr>
        <p:txBody>
          <a:bodyPr wrap="square" lIns="0" tIns="0" rIns="0" bIns="0" rtlCol="0" anchor="ctr"/>
          <a:lstStyle/>
          <a:p>
            <a:pPr indent="0" marL="0">
              <a:buNone/>
            </a:pPr>
            <a:r>
              <a:rPr lang="en-US" sz="2600" b="1" dirty="0">
                <a:solidFill>
                  <a:srgbClr val="1A1D23"/>
                </a:solidFill>
                <a:latin typeface="Cambria" pitchFamily="34" charset="0"/>
                <a:ea typeface="Cambria" pitchFamily="34" charset="-122"/>
                <a:cs typeface="Cambria" pitchFamily="34" charset="-120"/>
              </a:rPr>
              <a:t>$8,548</a:t>
            </a:r>
            <a:endParaRPr lang="en-US" sz="2600" dirty="0"/>
          </a:p>
        </p:txBody>
      </p:sp>
      <p:sp>
        <p:nvSpPr>
          <p:cNvPr id="9" name="Text 7"/>
          <p:cNvSpPr/>
          <p:nvPr/>
        </p:nvSpPr>
        <p:spPr>
          <a:xfrm>
            <a:off x="886968" y="5440680"/>
            <a:ext cx="292608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en hardware, por montacargas</a:t>
            </a:r>
            <a:endParaRPr lang="en-US" sz="1000" dirty="0"/>
          </a:p>
        </p:txBody>
      </p:sp>
      <p:sp>
        <p:nvSpPr>
          <p:cNvPr id="10" name="Shape 8"/>
          <p:cNvSpPr/>
          <p:nvPr/>
        </p:nvSpPr>
        <p:spPr>
          <a:xfrm>
            <a:off x="4306824" y="1783080"/>
            <a:ext cx="3493008" cy="3977640"/>
          </a:xfrm>
          <a:prstGeom prst="roundRect">
            <a:avLst>
              <a:gd name="adj" fmla="val 2356"/>
            </a:avLst>
          </a:prstGeom>
          <a:solidFill>
            <a:srgbClr val="FFFFFF"/>
          </a:solidFill>
          <a:ln/>
          <a:effectLst>
            <a:outerShdw sx="100000" sy="100000" kx="0" ky="0" algn="bl" rotWithShape="0" blurRad="152400" dist="38100" dir="5400000">
              <a:srgbClr val="000000">
                <a:alpha val="28000"/>
              </a:srgbClr>
            </a:outerShdw>
          </a:effectLst>
        </p:spPr>
      </p:sp>
      <p:sp>
        <p:nvSpPr>
          <p:cNvPr id="11" name="Text 9"/>
          <p:cNvSpPr/>
          <p:nvPr/>
        </p:nvSpPr>
        <p:spPr>
          <a:xfrm>
            <a:off x="4599432" y="1965960"/>
            <a:ext cx="2926080" cy="411480"/>
          </a:xfrm>
          <a:prstGeom prst="rect">
            <a:avLst/>
          </a:prstGeom>
          <a:noFill/>
          <a:ln/>
        </p:spPr>
        <p:txBody>
          <a:bodyPr wrap="square" lIns="0" tIns="0" rIns="0" bIns="0" rtlCol="0" anchor="ctr"/>
          <a:lstStyle/>
          <a:p>
            <a:pPr indent="0" marL="0">
              <a:buNone/>
            </a:pPr>
            <a:r>
              <a:rPr lang="en-US" sz="2000" b="1" dirty="0">
                <a:solidFill>
                  <a:srgbClr val="1A1D23"/>
                </a:solidFill>
                <a:latin typeface="Cambria" pitchFamily="34" charset="0"/>
                <a:ea typeface="Cambria" pitchFamily="34" charset="-122"/>
                <a:cs typeface="Cambria" pitchFamily="34" charset="-120"/>
              </a:rPr>
              <a:t>TaTa Assist</a:t>
            </a:r>
            <a:endParaRPr lang="en-US" sz="2000" dirty="0"/>
          </a:p>
        </p:txBody>
      </p:sp>
      <p:sp>
        <p:nvSpPr>
          <p:cNvPr id="12" name="Text 10"/>
          <p:cNvSpPr/>
          <p:nvPr/>
        </p:nvSpPr>
        <p:spPr>
          <a:xfrm>
            <a:off x="4599432" y="2395728"/>
            <a:ext cx="2926080" cy="320040"/>
          </a:xfrm>
          <a:prstGeom prst="rect">
            <a:avLst/>
          </a:prstGeom>
          <a:noFill/>
          <a:ln/>
        </p:spPr>
        <p:txBody>
          <a:bodyPr wrap="square" lIns="0" tIns="0" rIns="0" bIns="0" rtlCol="0" anchor="ctr"/>
          <a:lstStyle/>
          <a:p>
            <a:pPr indent="0" marL="0">
              <a:buNone/>
            </a:pPr>
            <a:r>
              <a:rPr lang="en-US" sz="1100" b="1" spc="60" kern="0" dirty="0">
                <a:solidFill>
                  <a:srgbClr val="F5C518"/>
                </a:solidFill>
                <a:latin typeface="Calibri" pitchFamily="34" charset="0"/>
                <a:ea typeface="Calibri" pitchFamily="34" charset="-122"/>
                <a:cs typeface="Calibri" pitchFamily="34" charset="-120"/>
              </a:rPr>
              <a:t>Nivel 2 · Se maneja solo, con supervisión</a:t>
            </a:r>
            <a:endParaRPr lang="en-US" sz="1100" dirty="0"/>
          </a:p>
        </p:txBody>
      </p:sp>
      <p:sp>
        <p:nvSpPr>
          <p:cNvPr id="13" name="Text 11"/>
          <p:cNvSpPr/>
          <p:nvPr/>
        </p:nvSpPr>
        <p:spPr>
          <a:xfrm>
            <a:off x="4599432" y="2880360"/>
            <a:ext cx="2926080" cy="137160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5B6470"/>
                </a:solidFill>
                <a:latin typeface="Calibri" pitchFamily="34" charset="0"/>
                <a:ea typeface="Calibri" pitchFamily="34" charset="-122"/>
                <a:cs typeface="Calibri" pitchFamily="34" charset="-120"/>
              </a:rPr>
              <a:t>Todo lo de Watch</a:t>
            </a:r>
            <a:endParaRPr lang="en-US" sz="1150" dirty="0"/>
          </a:p>
          <a:p>
            <a:pPr marL="342900" indent="-342900">
              <a:spcAft>
                <a:spcPts val="500"/>
              </a:spcAft>
              <a:buSzPct val="100000"/>
              <a:buChar char="•"/>
            </a:pPr>
            <a:r>
              <a:rPr lang="en-US" sz="1150" dirty="0">
                <a:solidFill>
                  <a:srgbClr val="5B6470"/>
                </a:solidFill>
                <a:latin typeface="Calibri" pitchFamily="34" charset="0"/>
                <a:ea typeface="Calibri" pitchFamily="34" charset="-122"/>
                <a:cs typeface="Calibri" pitchFamily="34" charset="-120"/>
              </a:rPr>
              <a:t>Se traslada solo de punto a punto</a:t>
            </a:r>
            <a:endParaRPr lang="en-US" sz="1150" dirty="0"/>
          </a:p>
          <a:p>
            <a:pPr marL="342900" indent="-342900">
              <a:spcAft>
                <a:spcPts val="500"/>
              </a:spcAft>
              <a:buSzPct val="100000"/>
              <a:buChar char="•"/>
            </a:pPr>
            <a:r>
              <a:rPr lang="en-US" sz="1150" dirty="0">
                <a:solidFill>
                  <a:srgbClr val="5B6470"/>
                </a:solidFill>
                <a:latin typeface="Calibri" pitchFamily="34" charset="0"/>
                <a:ea typeface="Calibri" pitchFamily="34" charset="-122"/>
                <a:cs typeface="Calibri" pitchFamily="34" charset="-120"/>
              </a:rPr>
              <a:t>Agarra y deja asistido</a:t>
            </a:r>
            <a:endParaRPr lang="en-US" sz="1150" dirty="0"/>
          </a:p>
          <a:p>
            <a:pPr marL="342900" indent="-342900">
              <a:spcAft>
                <a:spcPts val="500"/>
              </a:spcAft>
              <a:buSzPct val="100000"/>
              <a:buChar char="•"/>
            </a:pPr>
            <a:r>
              <a:rPr lang="en-US" sz="1150" dirty="0">
                <a:solidFill>
                  <a:srgbClr val="5B6470"/>
                </a:solidFill>
                <a:latin typeface="Calibri" pitchFamily="34" charset="0"/>
                <a:ea typeface="Calibri" pitchFamily="34" charset="-122"/>
                <a:cs typeface="Calibri" pitchFamily="34" charset="-120"/>
              </a:rPr>
              <a:t>Recibe tareas del WMS</a:t>
            </a:r>
            <a:endParaRPr lang="en-US" sz="1150" dirty="0"/>
          </a:p>
        </p:txBody>
      </p:sp>
      <p:sp>
        <p:nvSpPr>
          <p:cNvPr id="14" name="Text 12"/>
          <p:cNvSpPr/>
          <p:nvPr/>
        </p:nvSpPr>
        <p:spPr>
          <a:xfrm>
            <a:off x="4599432" y="4937760"/>
            <a:ext cx="2926080" cy="548640"/>
          </a:xfrm>
          <a:prstGeom prst="rect">
            <a:avLst/>
          </a:prstGeom>
          <a:noFill/>
          <a:ln/>
        </p:spPr>
        <p:txBody>
          <a:bodyPr wrap="square" lIns="0" tIns="0" rIns="0" bIns="0" rtlCol="0" anchor="ctr"/>
          <a:lstStyle/>
          <a:p>
            <a:pPr indent="0" marL="0">
              <a:buNone/>
            </a:pPr>
            <a:r>
              <a:rPr lang="en-US" sz="2600" b="1" dirty="0">
                <a:solidFill>
                  <a:srgbClr val="1A1D23"/>
                </a:solidFill>
                <a:latin typeface="Cambria" pitchFamily="34" charset="0"/>
                <a:ea typeface="Cambria" pitchFamily="34" charset="-122"/>
                <a:cs typeface="Cambria" pitchFamily="34" charset="-120"/>
              </a:rPr>
              <a:t>$14,538</a:t>
            </a:r>
            <a:endParaRPr lang="en-US" sz="2600" dirty="0"/>
          </a:p>
        </p:txBody>
      </p:sp>
      <p:sp>
        <p:nvSpPr>
          <p:cNvPr id="15" name="Text 13"/>
          <p:cNvSpPr/>
          <p:nvPr/>
        </p:nvSpPr>
        <p:spPr>
          <a:xfrm>
            <a:off x="4599432" y="5440680"/>
            <a:ext cx="292608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en hardware, por montacargas</a:t>
            </a:r>
            <a:endParaRPr lang="en-US" sz="1000" dirty="0"/>
          </a:p>
        </p:txBody>
      </p:sp>
      <p:sp>
        <p:nvSpPr>
          <p:cNvPr id="16" name="Shape 14"/>
          <p:cNvSpPr/>
          <p:nvPr/>
        </p:nvSpPr>
        <p:spPr>
          <a:xfrm>
            <a:off x="8019288" y="1783080"/>
            <a:ext cx="3493008" cy="3977640"/>
          </a:xfrm>
          <a:prstGeom prst="roundRect">
            <a:avLst>
              <a:gd name="adj" fmla="val 2356"/>
            </a:avLst>
          </a:prstGeom>
          <a:solidFill>
            <a:srgbClr val="FFFFFF"/>
          </a:solidFill>
          <a:ln/>
          <a:effectLst>
            <a:outerShdw sx="100000" sy="100000" kx="0" ky="0" algn="bl" rotWithShape="0" blurRad="152400" dist="38100" dir="5400000">
              <a:srgbClr val="000000">
                <a:alpha val="28000"/>
              </a:srgbClr>
            </a:outerShdw>
          </a:effectLst>
        </p:spPr>
      </p:sp>
      <p:sp>
        <p:nvSpPr>
          <p:cNvPr id="17" name="Text 15"/>
          <p:cNvSpPr/>
          <p:nvPr/>
        </p:nvSpPr>
        <p:spPr>
          <a:xfrm>
            <a:off x="8311896" y="1965960"/>
            <a:ext cx="2926080" cy="411480"/>
          </a:xfrm>
          <a:prstGeom prst="rect">
            <a:avLst/>
          </a:prstGeom>
          <a:noFill/>
          <a:ln/>
        </p:spPr>
        <p:txBody>
          <a:bodyPr wrap="square" lIns="0" tIns="0" rIns="0" bIns="0" rtlCol="0" anchor="ctr"/>
          <a:lstStyle/>
          <a:p>
            <a:pPr indent="0" marL="0">
              <a:buNone/>
            </a:pPr>
            <a:r>
              <a:rPr lang="en-US" sz="2000" b="1" dirty="0">
                <a:solidFill>
                  <a:srgbClr val="1A1D23"/>
                </a:solidFill>
                <a:latin typeface="Cambria" pitchFamily="34" charset="0"/>
                <a:ea typeface="Cambria" pitchFamily="34" charset="-122"/>
                <a:cs typeface="Cambria" pitchFamily="34" charset="-120"/>
              </a:rPr>
              <a:t>TaTa Auto</a:t>
            </a:r>
            <a:endParaRPr lang="en-US" sz="2000" dirty="0"/>
          </a:p>
        </p:txBody>
      </p:sp>
      <p:sp>
        <p:nvSpPr>
          <p:cNvPr id="18" name="Text 16"/>
          <p:cNvSpPr/>
          <p:nvPr/>
        </p:nvSpPr>
        <p:spPr>
          <a:xfrm>
            <a:off x="8311896" y="2395728"/>
            <a:ext cx="2926080" cy="320040"/>
          </a:xfrm>
          <a:prstGeom prst="rect">
            <a:avLst/>
          </a:prstGeom>
          <a:noFill/>
          <a:ln/>
        </p:spPr>
        <p:txBody>
          <a:bodyPr wrap="square" lIns="0" tIns="0" rIns="0" bIns="0" rtlCol="0" anchor="ctr"/>
          <a:lstStyle/>
          <a:p>
            <a:pPr indent="0" marL="0">
              <a:buNone/>
            </a:pPr>
            <a:r>
              <a:rPr lang="en-US" sz="1100" b="1" spc="60" kern="0" dirty="0">
                <a:solidFill>
                  <a:srgbClr val="39D98A"/>
                </a:solidFill>
                <a:latin typeface="Calibri" pitchFamily="34" charset="0"/>
                <a:ea typeface="Calibri" pitchFamily="34" charset="-122"/>
                <a:cs typeface="Calibri" pitchFamily="34" charset="-120"/>
              </a:rPr>
              <a:t>Nivel 3 · Sin nadie arriba</a:t>
            </a:r>
            <a:endParaRPr lang="en-US" sz="1100" dirty="0"/>
          </a:p>
        </p:txBody>
      </p:sp>
      <p:sp>
        <p:nvSpPr>
          <p:cNvPr id="19" name="Text 17"/>
          <p:cNvSpPr/>
          <p:nvPr/>
        </p:nvSpPr>
        <p:spPr>
          <a:xfrm>
            <a:off x="8311896" y="2880360"/>
            <a:ext cx="2926080" cy="137160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5B6470"/>
                </a:solidFill>
                <a:latin typeface="Calibri" pitchFamily="34" charset="0"/>
                <a:ea typeface="Calibri" pitchFamily="34" charset="-122"/>
                <a:cs typeface="Calibri" pitchFamily="34" charset="-120"/>
              </a:rPr>
              <a:t>Todo lo de Assist</a:t>
            </a:r>
            <a:endParaRPr lang="en-US" sz="1150" dirty="0"/>
          </a:p>
          <a:p>
            <a:pPr marL="342900" indent="-342900">
              <a:spcAft>
                <a:spcPts val="500"/>
              </a:spcAft>
              <a:buSzPct val="100000"/>
              <a:buChar char="•"/>
            </a:pPr>
            <a:r>
              <a:rPr lang="en-US" sz="1150" dirty="0">
                <a:solidFill>
                  <a:srgbClr val="5B6470"/>
                </a:solidFill>
                <a:latin typeface="Calibri" pitchFamily="34" charset="0"/>
                <a:ea typeface="Calibri" pitchFamily="34" charset="-122"/>
                <a:cs typeface="Calibri" pitchFamily="34" charset="-120"/>
              </a:rPr>
              <a:t>Opera desatendido</a:t>
            </a:r>
            <a:endParaRPr lang="en-US" sz="1150" dirty="0"/>
          </a:p>
          <a:p>
            <a:pPr marL="342900" indent="-342900">
              <a:spcAft>
                <a:spcPts val="500"/>
              </a:spcAft>
              <a:buSzPct val="100000"/>
              <a:buChar char="•"/>
            </a:pPr>
            <a:r>
              <a:rPr lang="en-US" sz="1150" dirty="0">
                <a:solidFill>
                  <a:srgbClr val="5B6470"/>
                </a:solidFill>
                <a:latin typeface="Calibri" pitchFamily="34" charset="0"/>
                <a:ea typeface="Calibri" pitchFamily="34" charset="-122"/>
                <a:cs typeface="Calibri" pitchFamily="34" charset="-120"/>
              </a:rPr>
              <a:t>Escáneres certificables PL d</a:t>
            </a:r>
            <a:endParaRPr lang="en-US" sz="1150" dirty="0"/>
          </a:p>
          <a:p>
            <a:pPr marL="342900" indent="-342900">
              <a:spcAft>
                <a:spcPts val="500"/>
              </a:spcAft>
              <a:buSzPct val="100000"/>
              <a:buChar char="•"/>
            </a:pPr>
            <a:r>
              <a:rPr lang="en-US" sz="1150" dirty="0">
                <a:solidFill>
                  <a:srgbClr val="5B6470"/>
                </a:solidFill>
                <a:latin typeface="Calibri" pitchFamily="34" charset="0"/>
                <a:ea typeface="Calibri" pitchFamily="34" charset="-122"/>
                <a:cs typeface="Calibri" pitchFamily="34" charset="-120"/>
              </a:rPr>
              <a:t>Turnos sin personal</a:t>
            </a:r>
            <a:endParaRPr lang="en-US" sz="1150" dirty="0"/>
          </a:p>
        </p:txBody>
      </p:sp>
      <p:sp>
        <p:nvSpPr>
          <p:cNvPr id="20" name="Text 18"/>
          <p:cNvSpPr/>
          <p:nvPr/>
        </p:nvSpPr>
        <p:spPr>
          <a:xfrm>
            <a:off x="8311896" y="4937760"/>
            <a:ext cx="2926080" cy="548640"/>
          </a:xfrm>
          <a:prstGeom prst="rect">
            <a:avLst/>
          </a:prstGeom>
          <a:noFill/>
          <a:ln/>
        </p:spPr>
        <p:txBody>
          <a:bodyPr wrap="square" lIns="0" tIns="0" rIns="0" bIns="0" rtlCol="0" anchor="ctr"/>
          <a:lstStyle/>
          <a:p>
            <a:pPr indent="0" marL="0">
              <a:buNone/>
            </a:pPr>
            <a:r>
              <a:rPr lang="en-US" sz="2600" b="1" dirty="0">
                <a:solidFill>
                  <a:srgbClr val="1A1D23"/>
                </a:solidFill>
                <a:latin typeface="Cambria" pitchFamily="34" charset="0"/>
                <a:ea typeface="Cambria" pitchFamily="34" charset="-122"/>
                <a:cs typeface="Cambria" pitchFamily="34" charset="-120"/>
              </a:rPr>
              <a:t>$23,738</a:t>
            </a:r>
            <a:endParaRPr lang="en-US" sz="2600" dirty="0"/>
          </a:p>
        </p:txBody>
      </p:sp>
      <p:sp>
        <p:nvSpPr>
          <p:cNvPr id="21" name="Text 19"/>
          <p:cNvSpPr/>
          <p:nvPr/>
        </p:nvSpPr>
        <p:spPr>
          <a:xfrm>
            <a:off x="8311896" y="5440680"/>
            <a:ext cx="2926080" cy="274320"/>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en hardware, por montacargas</a:t>
            </a:r>
            <a:endParaRPr lang="en-US" sz="1000" dirty="0"/>
          </a:p>
        </p:txBody>
      </p:sp>
      <p:sp>
        <p:nvSpPr>
          <p:cNvPr id="22" name="Text 20"/>
          <p:cNvSpPr/>
          <p:nvPr/>
        </p:nvSpPr>
        <p:spPr>
          <a:xfrm>
            <a:off x="594360" y="5943600"/>
            <a:ext cx="10972800" cy="365760"/>
          </a:xfrm>
          <a:prstGeom prst="rect">
            <a:avLst/>
          </a:prstGeom>
          <a:noFill/>
          <a:ln/>
        </p:spPr>
        <p:txBody>
          <a:bodyPr wrap="square" lIns="0" tIns="0" rIns="0" bIns="0" rtlCol="0" anchor="ctr"/>
          <a:lstStyle/>
          <a:p>
            <a:pPr indent="0" marL="0">
              <a:buNone/>
            </a:pPr>
            <a:r>
              <a:rPr lang="en-US" sz="1150" i="1" dirty="0">
                <a:solidFill>
                  <a:srgbClr val="5B6470"/>
                </a:solidFill>
                <a:latin typeface="Calibri" pitchFamily="34" charset="0"/>
                <a:ea typeface="Calibri" pitchFamily="34" charset="-122"/>
                <a:cs typeface="Calibri" pitchFamily="34" charset="-120"/>
              </a:rPr>
              <a:t>Son costos de hardware, sin impuestos, flete, instalación ni ingeniería. La infraestructura del almacén va aparte: $14,288, una sola vez por sitio.</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1A1D23"/>
                </a:solidFill>
                <a:latin typeface="Cambria" pitchFamily="34" charset="0"/>
                <a:ea typeface="Cambria" pitchFamily="34" charset="-122"/>
                <a:cs typeface="Cambria" pitchFamily="34" charset="-120"/>
              </a:rPr>
              <a:t>Qué se le monta encima al montacargas</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Dibujado sobre las cotas del Baoli KBE 20: 3.36 m de largo, techo de protección a 2.177 m</a:t>
            </a:r>
            <a:endParaRPr lang="en-US" sz="1350" dirty="0"/>
          </a:p>
        </p:txBody>
      </p:sp>
      <p:pic>
        <p:nvPicPr>
          <p:cNvPr id="4" name="Image 0" descr="im_kit.jpg">    </p:cNvPr>
          <p:cNvPicPr>
            <a:picLocks noChangeAspect="1"/>
          </p:cNvPicPr>
          <p:nvPr/>
        </p:nvPicPr>
        <p:blipFill>
          <a:blip r:embed="rId1"/>
          <a:srcRect l="0" r="0" t="0" b="0"/>
          <a:stretch/>
        </p:blipFill>
        <p:spPr>
          <a:xfrm>
            <a:off x="594360" y="1783080"/>
            <a:ext cx="6858000" cy="2807208"/>
          </a:xfrm>
          <a:prstGeom prst="rect">
            <a:avLst/>
          </a:prstGeom>
          <a:effectLst>
            <a:outerShdw sx="100000" sy="100000" kx="0" ky="0" algn="bl" rotWithShape="0" blurRad="152400" dist="38100" dir="5400000">
              <a:srgbClr val="000000">
                <a:alpha val="28000"/>
              </a:srgbClr>
            </a:outerShdw>
          </a:effectLst>
        </p:spPr>
      </p:pic>
      <p:sp>
        <p:nvSpPr>
          <p:cNvPr id="5" name="Shape 2"/>
          <p:cNvSpPr/>
          <p:nvPr/>
        </p:nvSpPr>
        <p:spPr>
          <a:xfrm>
            <a:off x="7726680" y="1783080"/>
            <a:ext cx="3840480" cy="987552"/>
          </a:xfrm>
          <a:prstGeom prst="roundRect">
            <a:avLst>
              <a:gd name="adj" fmla="val 8333"/>
            </a:avLst>
          </a:prstGeom>
          <a:solidFill>
            <a:srgbClr val="FFFFFF"/>
          </a:solidFill>
          <a:ln/>
          <a:effectLst>
            <a:outerShdw sx="100000" sy="100000" kx="0" ky="0" algn="bl" rotWithShape="0" blurRad="152400" dist="38100" dir="5400000">
              <a:srgbClr val="000000">
                <a:alpha val="28000"/>
              </a:srgbClr>
            </a:outerShdw>
          </a:effectLst>
        </p:spPr>
      </p:sp>
      <p:sp>
        <p:nvSpPr>
          <p:cNvPr id="6" name="Shape 3"/>
          <p:cNvSpPr/>
          <p:nvPr/>
        </p:nvSpPr>
        <p:spPr>
          <a:xfrm>
            <a:off x="7973568" y="1929384"/>
            <a:ext cx="256032" cy="256032"/>
          </a:xfrm>
          <a:prstGeom prst="ellipse">
            <a:avLst/>
          </a:prstGeom>
          <a:solidFill>
            <a:srgbClr val="37C3FF"/>
          </a:solidFill>
          <a:ln/>
        </p:spPr>
      </p:sp>
      <p:sp>
        <p:nvSpPr>
          <p:cNvPr id="7" name="Text 4"/>
          <p:cNvSpPr/>
          <p:nvPr/>
        </p:nvSpPr>
        <p:spPr>
          <a:xfrm>
            <a:off x="8339328" y="1901952"/>
            <a:ext cx="3017520" cy="292608"/>
          </a:xfrm>
          <a:prstGeom prst="rect">
            <a:avLst/>
          </a:prstGeom>
          <a:noFill/>
          <a:ln/>
        </p:spPr>
        <p:txBody>
          <a:bodyPr wrap="square" lIns="0" tIns="0" rIns="0" bIns="0" rtlCol="0" anchor="ctr"/>
          <a:lstStyle/>
          <a:p>
            <a:pPr indent="0" marL="0">
              <a:buNone/>
            </a:pPr>
            <a:r>
              <a:rPr lang="en-US" sz="1300" b="1" dirty="0">
                <a:solidFill>
                  <a:srgbClr val="1A1D23"/>
                </a:solidFill>
                <a:latin typeface="Calibri" pitchFamily="34" charset="0"/>
                <a:ea typeface="Calibri" pitchFamily="34" charset="-122"/>
                <a:cs typeface="Calibri" pitchFamily="34" charset="-120"/>
              </a:rPr>
              <a:t>Cómo se ubica</a:t>
            </a:r>
            <a:endParaRPr lang="en-US" sz="1300" dirty="0"/>
          </a:p>
        </p:txBody>
      </p:sp>
      <p:sp>
        <p:nvSpPr>
          <p:cNvPr id="8" name="Text 5"/>
          <p:cNvSpPr/>
          <p:nvPr/>
        </p:nvSpPr>
        <p:spPr>
          <a:xfrm>
            <a:off x="7973568" y="2221992"/>
            <a:ext cx="3383280" cy="50292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Un LiDAR 3D en el techo y los encoders de tracción y dirección — o el bus CAN, si el Baoli lo deja</a:t>
            </a:r>
            <a:endParaRPr lang="en-US" sz="1000" dirty="0"/>
          </a:p>
        </p:txBody>
      </p:sp>
      <p:sp>
        <p:nvSpPr>
          <p:cNvPr id="9" name="Shape 6"/>
          <p:cNvSpPr/>
          <p:nvPr/>
        </p:nvSpPr>
        <p:spPr>
          <a:xfrm>
            <a:off x="7726680" y="2916936"/>
            <a:ext cx="3840480" cy="987552"/>
          </a:xfrm>
          <a:prstGeom prst="roundRect">
            <a:avLst>
              <a:gd name="adj" fmla="val 8333"/>
            </a:avLst>
          </a:prstGeom>
          <a:solidFill>
            <a:srgbClr val="FFFFFF"/>
          </a:solidFill>
          <a:ln/>
          <a:effectLst>
            <a:outerShdw sx="100000" sy="100000" kx="0" ky="0" algn="bl" rotWithShape="0" blurRad="152400" dist="38100" dir="5400000">
              <a:srgbClr val="000000">
                <a:alpha val="28000"/>
              </a:srgbClr>
            </a:outerShdw>
          </a:effectLst>
        </p:spPr>
      </p:sp>
      <p:sp>
        <p:nvSpPr>
          <p:cNvPr id="10" name="Shape 7"/>
          <p:cNvSpPr/>
          <p:nvPr/>
        </p:nvSpPr>
        <p:spPr>
          <a:xfrm>
            <a:off x="7973568" y="3063240"/>
            <a:ext cx="256032" cy="256032"/>
          </a:xfrm>
          <a:prstGeom prst="ellipse">
            <a:avLst/>
          </a:prstGeom>
          <a:solidFill>
            <a:srgbClr val="39D98A"/>
          </a:solidFill>
          <a:ln/>
        </p:spPr>
      </p:sp>
      <p:sp>
        <p:nvSpPr>
          <p:cNvPr id="11" name="Text 8"/>
          <p:cNvSpPr/>
          <p:nvPr/>
        </p:nvSpPr>
        <p:spPr>
          <a:xfrm>
            <a:off x="8339328" y="3035808"/>
            <a:ext cx="3017520" cy="292608"/>
          </a:xfrm>
          <a:prstGeom prst="rect">
            <a:avLst/>
          </a:prstGeom>
          <a:noFill/>
          <a:ln/>
        </p:spPr>
        <p:txBody>
          <a:bodyPr wrap="square" lIns="0" tIns="0" rIns="0" bIns="0" rtlCol="0" anchor="ctr"/>
          <a:lstStyle/>
          <a:p>
            <a:pPr indent="0" marL="0">
              <a:buNone/>
            </a:pPr>
            <a:r>
              <a:rPr lang="en-US" sz="1300" b="1" dirty="0">
                <a:solidFill>
                  <a:srgbClr val="1A1D23"/>
                </a:solidFill>
                <a:latin typeface="Calibri" pitchFamily="34" charset="0"/>
                <a:ea typeface="Calibri" pitchFamily="34" charset="-122"/>
                <a:cs typeface="Calibri" pitchFamily="34" charset="-120"/>
              </a:rPr>
              <a:t>Cómo ve</a:t>
            </a:r>
            <a:endParaRPr lang="en-US" sz="1300" dirty="0"/>
          </a:p>
        </p:txBody>
      </p:sp>
      <p:sp>
        <p:nvSpPr>
          <p:cNvPr id="12" name="Text 9"/>
          <p:cNvSpPr/>
          <p:nvPr/>
        </p:nvSpPr>
        <p:spPr>
          <a:xfrm>
            <a:off x="7973568" y="3355848"/>
            <a:ext cx="3383280" cy="50292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3 cámaras. La del mástil sube con el carro y lee la ubicación a 6 m de altura</a:t>
            </a:r>
            <a:endParaRPr lang="en-US" sz="1000" dirty="0"/>
          </a:p>
        </p:txBody>
      </p:sp>
      <p:sp>
        <p:nvSpPr>
          <p:cNvPr id="13" name="Shape 10"/>
          <p:cNvSpPr/>
          <p:nvPr/>
        </p:nvSpPr>
        <p:spPr>
          <a:xfrm>
            <a:off x="7726680" y="4050792"/>
            <a:ext cx="3840480" cy="987552"/>
          </a:xfrm>
          <a:prstGeom prst="roundRect">
            <a:avLst>
              <a:gd name="adj" fmla="val 8333"/>
            </a:avLst>
          </a:prstGeom>
          <a:solidFill>
            <a:srgbClr val="FFFFFF"/>
          </a:solidFill>
          <a:ln/>
          <a:effectLst>
            <a:outerShdw sx="100000" sy="100000" kx="0" ky="0" algn="bl" rotWithShape="0" blurRad="152400" dist="38100" dir="5400000">
              <a:srgbClr val="000000">
                <a:alpha val="28000"/>
              </a:srgbClr>
            </a:outerShdw>
          </a:effectLst>
        </p:spPr>
      </p:sp>
      <p:sp>
        <p:nvSpPr>
          <p:cNvPr id="14" name="Shape 11"/>
          <p:cNvSpPr/>
          <p:nvPr/>
        </p:nvSpPr>
        <p:spPr>
          <a:xfrm>
            <a:off x="7973568" y="4197096"/>
            <a:ext cx="256032" cy="256032"/>
          </a:xfrm>
          <a:prstGeom prst="ellipse">
            <a:avLst/>
          </a:prstGeom>
          <a:solidFill>
            <a:srgbClr val="F5C518"/>
          </a:solidFill>
          <a:ln/>
        </p:spPr>
      </p:sp>
      <p:sp>
        <p:nvSpPr>
          <p:cNvPr id="15" name="Text 12"/>
          <p:cNvSpPr/>
          <p:nvPr/>
        </p:nvSpPr>
        <p:spPr>
          <a:xfrm>
            <a:off x="8339328" y="4169664"/>
            <a:ext cx="3017520" cy="292608"/>
          </a:xfrm>
          <a:prstGeom prst="rect">
            <a:avLst/>
          </a:prstGeom>
          <a:noFill/>
          <a:ln/>
        </p:spPr>
        <p:txBody>
          <a:bodyPr wrap="square" lIns="0" tIns="0" rIns="0" bIns="0" rtlCol="0" anchor="ctr"/>
          <a:lstStyle/>
          <a:p>
            <a:pPr indent="0" marL="0">
              <a:buNone/>
            </a:pPr>
            <a:r>
              <a:rPr lang="en-US" sz="1300" b="1" dirty="0">
                <a:solidFill>
                  <a:srgbClr val="1A1D23"/>
                </a:solidFill>
                <a:latin typeface="Calibri" pitchFamily="34" charset="0"/>
                <a:ea typeface="Calibri" pitchFamily="34" charset="-122"/>
                <a:cs typeface="Calibri" pitchFamily="34" charset="-120"/>
              </a:rPr>
              <a:t>Cómo agarra</a:t>
            </a:r>
            <a:endParaRPr lang="en-US" sz="1300" dirty="0"/>
          </a:p>
        </p:txBody>
      </p:sp>
      <p:sp>
        <p:nvSpPr>
          <p:cNvPr id="16" name="Text 13"/>
          <p:cNvSpPr/>
          <p:nvPr/>
        </p:nvSpPr>
        <p:spPr>
          <a:xfrm>
            <a:off x="7973568" y="4489704"/>
            <a:ext cx="3383280" cy="50292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Altura de uñas, presión hidráulica y una fotocélula que confirma que sí trae carga</a:t>
            </a:r>
            <a:endParaRPr lang="en-US" sz="1000" dirty="0"/>
          </a:p>
        </p:txBody>
      </p:sp>
      <p:sp>
        <p:nvSpPr>
          <p:cNvPr id="17" name="Shape 14"/>
          <p:cNvSpPr/>
          <p:nvPr/>
        </p:nvSpPr>
        <p:spPr>
          <a:xfrm>
            <a:off x="7726680" y="5184648"/>
            <a:ext cx="3840480" cy="987552"/>
          </a:xfrm>
          <a:prstGeom prst="roundRect">
            <a:avLst>
              <a:gd name="adj" fmla="val 8333"/>
            </a:avLst>
          </a:prstGeom>
          <a:solidFill>
            <a:srgbClr val="FFFFFF"/>
          </a:solidFill>
          <a:ln/>
          <a:effectLst>
            <a:outerShdw sx="100000" sy="100000" kx="0" ky="0" algn="bl" rotWithShape="0" blurRad="152400" dist="38100" dir="5400000">
              <a:srgbClr val="000000">
                <a:alpha val="28000"/>
              </a:srgbClr>
            </a:outerShdw>
          </a:effectLst>
        </p:spPr>
      </p:sp>
      <p:sp>
        <p:nvSpPr>
          <p:cNvPr id="18" name="Shape 15"/>
          <p:cNvSpPr/>
          <p:nvPr/>
        </p:nvSpPr>
        <p:spPr>
          <a:xfrm>
            <a:off x="7973568" y="5330952"/>
            <a:ext cx="256032" cy="256032"/>
          </a:xfrm>
          <a:prstGeom prst="ellipse">
            <a:avLst/>
          </a:prstGeom>
          <a:solidFill>
            <a:srgbClr val="FF5A52"/>
          </a:solidFill>
          <a:ln/>
        </p:spPr>
      </p:sp>
      <p:sp>
        <p:nvSpPr>
          <p:cNvPr id="19" name="Text 16"/>
          <p:cNvSpPr/>
          <p:nvPr/>
        </p:nvSpPr>
        <p:spPr>
          <a:xfrm>
            <a:off x="8339328" y="5303520"/>
            <a:ext cx="3017520" cy="292608"/>
          </a:xfrm>
          <a:prstGeom prst="rect">
            <a:avLst/>
          </a:prstGeom>
          <a:noFill/>
          <a:ln/>
        </p:spPr>
        <p:txBody>
          <a:bodyPr wrap="square" lIns="0" tIns="0" rIns="0" bIns="0" rtlCol="0" anchor="ctr"/>
          <a:lstStyle/>
          <a:p>
            <a:pPr indent="0" marL="0">
              <a:buNone/>
            </a:pPr>
            <a:r>
              <a:rPr lang="en-US" sz="1300" b="1" dirty="0">
                <a:solidFill>
                  <a:srgbClr val="1A1D23"/>
                </a:solidFill>
                <a:latin typeface="Calibri" pitchFamily="34" charset="0"/>
                <a:ea typeface="Calibri" pitchFamily="34" charset="-122"/>
                <a:cs typeface="Calibri" pitchFamily="34" charset="-120"/>
              </a:rPr>
              <a:t>Cómo no atropella</a:t>
            </a:r>
            <a:endParaRPr lang="en-US" sz="1300" dirty="0"/>
          </a:p>
        </p:txBody>
      </p:sp>
      <p:sp>
        <p:nvSpPr>
          <p:cNvPr id="20" name="Text 17"/>
          <p:cNvSpPr/>
          <p:nvPr/>
        </p:nvSpPr>
        <p:spPr>
          <a:xfrm>
            <a:off x="7973568" y="5623560"/>
            <a:ext cx="3383280" cy="502920"/>
          </a:xfrm>
          <a:prstGeom prst="rect">
            <a:avLst/>
          </a:prstGeom>
          <a:noFill/>
          <a:ln/>
        </p:spPr>
        <p:txBody>
          <a:bodyPr wrap="square" lIns="0" tIns="0" rIns="0" bIns="0" rtlCol="0" anchor="t"/>
          <a:lstStyle/>
          <a:p>
            <a:pPr indent="0" marL="0">
              <a:buNone/>
            </a:pPr>
            <a:r>
              <a:rPr lang="en-US" sz="1000" dirty="0">
                <a:solidFill>
                  <a:srgbClr val="5B6470"/>
                </a:solidFill>
                <a:latin typeface="Calibri" pitchFamily="34" charset="0"/>
                <a:ea typeface="Calibri" pitchFamily="34" charset="-122"/>
                <a:cs typeface="Calibri" pitchFamily="34" charset="-120"/>
              </a:rPr>
              <a:t>Escáneres certificables PL d y controlador de seguridad — sólo en el nivel Auto</a:t>
            </a:r>
            <a:endParaRPr lang="en-US" sz="1000" dirty="0"/>
          </a:p>
        </p:txBody>
      </p:sp>
      <p:sp>
        <p:nvSpPr>
          <p:cNvPr id="21" name="Shape 18"/>
          <p:cNvSpPr/>
          <p:nvPr/>
        </p:nvSpPr>
        <p:spPr>
          <a:xfrm>
            <a:off x="594360" y="4800600"/>
            <a:ext cx="6858000" cy="1417320"/>
          </a:xfrm>
          <a:prstGeom prst="roundRect">
            <a:avLst>
              <a:gd name="adj" fmla="val 5806"/>
            </a:avLst>
          </a:prstGeom>
          <a:solidFill>
            <a:srgbClr val="1A1D23"/>
          </a:solidFill>
          <a:ln/>
          <a:effectLst>
            <a:outerShdw sx="100000" sy="100000" kx="0" ky="0" algn="bl" rotWithShape="0" blurRad="152400" dist="38100" dir="5400000">
              <a:srgbClr val="000000">
                <a:alpha val="28000"/>
              </a:srgbClr>
            </a:outerShdw>
          </a:effectLst>
        </p:spPr>
      </p:sp>
      <p:sp>
        <p:nvSpPr>
          <p:cNvPr id="22" name="Text 19"/>
          <p:cNvSpPr/>
          <p:nvPr/>
        </p:nvSpPr>
        <p:spPr>
          <a:xfrm>
            <a:off x="914400" y="4800600"/>
            <a:ext cx="6309360" cy="1417320"/>
          </a:xfrm>
          <a:prstGeom prst="rect">
            <a:avLst/>
          </a:prstGeom>
          <a:noFill/>
          <a:ln/>
        </p:spPr>
        <p:txBody>
          <a:bodyPr wrap="square" lIns="0" tIns="0" rIns="0" bIns="0" rtlCol="0" anchor="ctr"/>
          <a:lstStyle/>
          <a:p>
            <a:pPr indent="0" marL="0">
              <a:buNone/>
            </a:pPr>
            <a:r>
              <a:rPr lang="en-US" sz="1250" b="1" dirty="0">
                <a:solidFill>
                  <a:srgbClr val="F5C518"/>
                </a:solidFill>
                <a:latin typeface="Calibri" pitchFamily="34" charset="0"/>
                <a:ea typeface="Calibri" pitchFamily="34" charset="-122"/>
                <a:cs typeface="Calibri" pitchFamily="34" charset="-120"/>
              </a:rPr>
              <a:t>La cámara de mástil es la pieza que convierte esto en inventario y no solo en navegación. Es lo que hace que el nivel 1 valga la pena desde el primer día.</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1A1D23"/>
                </a:solidFill>
                <a:latin typeface="Cambria" pitchFamily="34" charset="0"/>
                <a:ea typeface="Cambria" pitchFamily="34" charset="-122"/>
                <a:cs typeface="Cambria" pitchFamily="34" charset="-120"/>
              </a:rPr>
              <a:t>Y qué se le monta al almacén</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Calculado sobre la geometría de su plano, no sobre un estándar genérico</a:t>
            </a:r>
            <a:endParaRPr lang="en-US" sz="1350" dirty="0"/>
          </a:p>
        </p:txBody>
      </p:sp>
      <p:pic>
        <p:nvPicPr>
          <p:cNvPr id="4" name="Image 0" descr="im_sensores.jpg">    </p:cNvPr>
          <p:cNvPicPr>
            <a:picLocks noChangeAspect="1"/>
          </p:cNvPicPr>
          <p:nvPr/>
        </p:nvPicPr>
        <p:blipFill>
          <a:blip r:embed="rId1"/>
          <a:srcRect l="0" r="0" t="0" b="0"/>
          <a:stretch/>
        </p:blipFill>
        <p:spPr>
          <a:xfrm>
            <a:off x="594360" y="1737360"/>
            <a:ext cx="10972800" cy="2395728"/>
          </a:xfrm>
          <a:prstGeom prst="rect">
            <a:avLst/>
          </a:prstGeom>
          <a:effectLst>
            <a:outerShdw sx="100000" sy="100000" kx="0" ky="0" algn="bl" rotWithShape="0" blurRad="152400" dist="38100" dir="5400000">
              <a:srgbClr val="000000">
                <a:alpha val="28000"/>
              </a:srgbClr>
            </a:outerShdw>
          </a:effectLst>
        </p:spPr>
      </p:pic>
      <p:sp>
        <p:nvSpPr>
          <p:cNvPr id="5" name="Shape 2"/>
          <p:cNvSpPr/>
          <p:nvPr/>
        </p:nvSpPr>
        <p:spPr>
          <a:xfrm>
            <a:off x="594360" y="4343400"/>
            <a:ext cx="2606040" cy="1234440"/>
          </a:xfrm>
          <a:prstGeom prst="roundRect">
            <a:avLst>
              <a:gd name="adj" fmla="val 6667"/>
            </a:avLst>
          </a:prstGeom>
          <a:solidFill>
            <a:srgbClr val="FFFFFF"/>
          </a:solidFill>
          <a:ln/>
          <a:effectLst>
            <a:outerShdw sx="100000" sy="100000" kx="0" ky="0" algn="bl" rotWithShape="0" blurRad="152400" dist="38100" dir="5400000">
              <a:srgbClr val="000000">
                <a:alpha val="28000"/>
              </a:srgbClr>
            </a:outerShdw>
          </a:effectLst>
        </p:spPr>
      </p:sp>
      <p:sp>
        <p:nvSpPr>
          <p:cNvPr id="6" name="Text 3"/>
          <p:cNvSpPr/>
          <p:nvPr/>
        </p:nvSpPr>
        <p:spPr>
          <a:xfrm>
            <a:off x="868680" y="4480560"/>
            <a:ext cx="2103120" cy="548640"/>
          </a:xfrm>
          <a:prstGeom prst="rect">
            <a:avLst/>
          </a:prstGeom>
          <a:noFill/>
          <a:ln/>
        </p:spPr>
        <p:txBody>
          <a:bodyPr wrap="square" lIns="0" tIns="0" rIns="0" bIns="0" rtlCol="0" anchor="ctr"/>
          <a:lstStyle/>
          <a:p>
            <a:pPr indent="0" marL="0">
              <a:buNone/>
            </a:pPr>
            <a:r>
              <a:rPr lang="en-US" sz="3000" b="1" dirty="0">
                <a:solidFill>
                  <a:srgbClr val="F5C518"/>
                </a:solidFill>
                <a:latin typeface="Cambria" pitchFamily="34" charset="0"/>
                <a:ea typeface="Cambria" pitchFamily="34" charset="-122"/>
                <a:cs typeface="Cambria" pitchFamily="34" charset="-120"/>
              </a:rPr>
              <a:t>13</a:t>
            </a:r>
            <a:endParaRPr lang="en-US" sz="3000" dirty="0"/>
          </a:p>
        </p:txBody>
      </p:sp>
      <p:sp>
        <p:nvSpPr>
          <p:cNvPr id="7" name="Text 4"/>
          <p:cNvSpPr/>
          <p:nvPr/>
        </p:nvSpPr>
        <p:spPr>
          <a:xfrm>
            <a:off x="868680" y="5029200"/>
            <a:ext cx="2103120" cy="365760"/>
          </a:xfrm>
          <a:prstGeom prst="rect">
            <a:avLst/>
          </a:prstGeom>
          <a:noFill/>
          <a:ln/>
        </p:spPr>
        <p:txBody>
          <a:bodyPr wrap="square" lIns="0" tIns="0" rIns="0" bIns="0" rtlCol="0" anchor="ctr"/>
          <a:lstStyle/>
          <a:p>
            <a:pPr indent="0" marL="0">
              <a:buNone/>
            </a:pPr>
            <a:r>
              <a:rPr lang="en-US" sz="1100" dirty="0">
                <a:solidFill>
                  <a:srgbClr val="5B6470"/>
                </a:solidFill>
                <a:latin typeface="Calibri" pitchFamily="34" charset="0"/>
                <a:ea typeface="Calibri" pitchFamily="34" charset="-122"/>
                <a:cs typeface="Calibri" pitchFamily="34" charset="-120"/>
              </a:rPr>
              <a:t>cámaras en el techo</a:t>
            </a:r>
            <a:endParaRPr lang="en-US" sz="1100" dirty="0"/>
          </a:p>
        </p:txBody>
      </p:sp>
      <p:sp>
        <p:nvSpPr>
          <p:cNvPr id="8" name="Shape 5"/>
          <p:cNvSpPr/>
          <p:nvPr/>
        </p:nvSpPr>
        <p:spPr>
          <a:xfrm>
            <a:off x="3410712" y="4343400"/>
            <a:ext cx="2606040" cy="1234440"/>
          </a:xfrm>
          <a:prstGeom prst="roundRect">
            <a:avLst>
              <a:gd name="adj" fmla="val 6667"/>
            </a:avLst>
          </a:prstGeom>
          <a:solidFill>
            <a:srgbClr val="FFFFFF"/>
          </a:solidFill>
          <a:ln/>
          <a:effectLst>
            <a:outerShdw sx="100000" sy="100000" kx="0" ky="0" algn="bl" rotWithShape="0" blurRad="152400" dist="38100" dir="5400000">
              <a:srgbClr val="000000">
                <a:alpha val="28000"/>
              </a:srgbClr>
            </a:outerShdw>
          </a:effectLst>
        </p:spPr>
      </p:sp>
      <p:sp>
        <p:nvSpPr>
          <p:cNvPr id="9" name="Text 6"/>
          <p:cNvSpPr/>
          <p:nvPr/>
        </p:nvSpPr>
        <p:spPr>
          <a:xfrm>
            <a:off x="3685032" y="4480560"/>
            <a:ext cx="2103120" cy="548640"/>
          </a:xfrm>
          <a:prstGeom prst="rect">
            <a:avLst/>
          </a:prstGeom>
          <a:noFill/>
          <a:ln/>
        </p:spPr>
        <p:txBody>
          <a:bodyPr wrap="square" lIns="0" tIns="0" rIns="0" bIns="0" rtlCol="0" anchor="ctr"/>
          <a:lstStyle/>
          <a:p>
            <a:pPr indent="0" marL="0">
              <a:buNone/>
            </a:pPr>
            <a:r>
              <a:rPr lang="en-US" sz="3000" b="1" dirty="0">
                <a:solidFill>
                  <a:srgbClr val="F5C518"/>
                </a:solidFill>
                <a:latin typeface="Cambria" pitchFamily="34" charset="0"/>
                <a:ea typeface="Cambria" pitchFamily="34" charset="-122"/>
                <a:cs typeface="Cambria" pitchFamily="34" charset="-120"/>
              </a:rPr>
              <a:t>56</a:t>
            </a:r>
            <a:endParaRPr lang="en-US" sz="3000" dirty="0"/>
          </a:p>
        </p:txBody>
      </p:sp>
      <p:sp>
        <p:nvSpPr>
          <p:cNvPr id="10" name="Text 7"/>
          <p:cNvSpPr/>
          <p:nvPr/>
        </p:nvSpPr>
        <p:spPr>
          <a:xfrm>
            <a:off x="3685032" y="5029200"/>
            <a:ext cx="2103120" cy="365760"/>
          </a:xfrm>
          <a:prstGeom prst="rect">
            <a:avLst/>
          </a:prstGeom>
          <a:noFill/>
          <a:ln/>
        </p:spPr>
        <p:txBody>
          <a:bodyPr wrap="square" lIns="0" tIns="0" rIns="0" bIns="0" rtlCol="0" anchor="ctr"/>
          <a:lstStyle/>
          <a:p>
            <a:pPr indent="0" marL="0">
              <a:buNone/>
            </a:pPr>
            <a:r>
              <a:rPr lang="en-US" sz="1100" dirty="0">
                <a:solidFill>
                  <a:srgbClr val="5B6470"/>
                </a:solidFill>
                <a:latin typeface="Calibri" pitchFamily="34" charset="0"/>
                <a:ea typeface="Calibri" pitchFamily="34" charset="-122"/>
                <a:cs typeface="Calibri" pitchFamily="34" charset="-120"/>
              </a:rPr>
              <a:t>marcadores en los racks</a:t>
            </a:r>
            <a:endParaRPr lang="en-US" sz="1100" dirty="0"/>
          </a:p>
        </p:txBody>
      </p:sp>
      <p:sp>
        <p:nvSpPr>
          <p:cNvPr id="11" name="Shape 8"/>
          <p:cNvSpPr/>
          <p:nvPr/>
        </p:nvSpPr>
        <p:spPr>
          <a:xfrm>
            <a:off x="6227064" y="4343400"/>
            <a:ext cx="2606040" cy="1234440"/>
          </a:xfrm>
          <a:prstGeom prst="roundRect">
            <a:avLst>
              <a:gd name="adj" fmla="val 6667"/>
            </a:avLst>
          </a:prstGeom>
          <a:solidFill>
            <a:srgbClr val="FFFFFF"/>
          </a:solidFill>
          <a:ln/>
          <a:effectLst>
            <a:outerShdw sx="100000" sy="100000" kx="0" ky="0" algn="bl" rotWithShape="0" blurRad="152400" dist="38100" dir="5400000">
              <a:srgbClr val="000000">
                <a:alpha val="28000"/>
              </a:srgbClr>
            </a:outerShdw>
          </a:effectLst>
        </p:spPr>
      </p:sp>
      <p:sp>
        <p:nvSpPr>
          <p:cNvPr id="12" name="Text 9"/>
          <p:cNvSpPr/>
          <p:nvPr/>
        </p:nvSpPr>
        <p:spPr>
          <a:xfrm>
            <a:off x="6501384" y="4480560"/>
            <a:ext cx="2103120" cy="548640"/>
          </a:xfrm>
          <a:prstGeom prst="rect">
            <a:avLst/>
          </a:prstGeom>
          <a:noFill/>
          <a:ln/>
        </p:spPr>
        <p:txBody>
          <a:bodyPr wrap="square" lIns="0" tIns="0" rIns="0" bIns="0" rtlCol="0" anchor="ctr"/>
          <a:lstStyle/>
          <a:p>
            <a:pPr indent="0" marL="0">
              <a:buNone/>
            </a:pPr>
            <a:r>
              <a:rPr lang="en-US" sz="3000" b="1" dirty="0">
                <a:solidFill>
                  <a:srgbClr val="F5C518"/>
                </a:solidFill>
                <a:latin typeface="Cambria" pitchFamily="34" charset="0"/>
                <a:ea typeface="Cambria" pitchFamily="34" charset="-122"/>
                <a:cs typeface="Cambria" pitchFamily="34" charset="-120"/>
              </a:rPr>
              <a:t>7</a:t>
            </a:r>
            <a:endParaRPr lang="en-US" sz="3000" dirty="0"/>
          </a:p>
        </p:txBody>
      </p:sp>
      <p:sp>
        <p:nvSpPr>
          <p:cNvPr id="13" name="Text 10"/>
          <p:cNvSpPr/>
          <p:nvPr/>
        </p:nvSpPr>
        <p:spPr>
          <a:xfrm>
            <a:off x="6501384" y="5029200"/>
            <a:ext cx="2103120" cy="365760"/>
          </a:xfrm>
          <a:prstGeom prst="rect">
            <a:avLst/>
          </a:prstGeom>
          <a:noFill/>
          <a:ln/>
        </p:spPr>
        <p:txBody>
          <a:bodyPr wrap="square" lIns="0" tIns="0" rIns="0" bIns="0" rtlCol="0" anchor="ctr"/>
          <a:lstStyle/>
          <a:p>
            <a:pPr indent="0" marL="0">
              <a:buNone/>
            </a:pPr>
            <a:r>
              <a:rPr lang="en-US" sz="1100" dirty="0">
                <a:solidFill>
                  <a:srgbClr val="5B6470"/>
                </a:solidFill>
                <a:latin typeface="Calibri" pitchFamily="34" charset="0"/>
                <a:ea typeface="Calibri" pitchFamily="34" charset="-122"/>
                <a:cs typeface="Calibri" pitchFamily="34" charset="-120"/>
              </a:rPr>
              <a:t>puntos de acceso</a:t>
            </a:r>
            <a:endParaRPr lang="en-US" sz="1100" dirty="0"/>
          </a:p>
        </p:txBody>
      </p:sp>
      <p:sp>
        <p:nvSpPr>
          <p:cNvPr id="14" name="Shape 11"/>
          <p:cNvSpPr/>
          <p:nvPr/>
        </p:nvSpPr>
        <p:spPr>
          <a:xfrm>
            <a:off x="9043416" y="4343400"/>
            <a:ext cx="2606040" cy="1234440"/>
          </a:xfrm>
          <a:prstGeom prst="roundRect">
            <a:avLst>
              <a:gd name="adj" fmla="val 6667"/>
            </a:avLst>
          </a:prstGeom>
          <a:solidFill>
            <a:srgbClr val="FFFFFF"/>
          </a:solidFill>
          <a:ln/>
          <a:effectLst>
            <a:outerShdw sx="100000" sy="100000" kx="0" ky="0" algn="bl" rotWithShape="0" blurRad="152400" dist="38100" dir="5400000">
              <a:srgbClr val="000000">
                <a:alpha val="28000"/>
              </a:srgbClr>
            </a:outerShdw>
          </a:effectLst>
        </p:spPr>
      </p:sp>
      <p:sp>
        <p:nvSpPr>
          <p:cNvPr id="15" name="Text 12"/>
          <p:cNvSpPr/>
          <p:nvPr/>
        </p:nvSpPr>
        <p:spPr>
          <a:xfrm>
            <a:off x="9317736" y="4480560"/>
            <a:ext cx="2103120" cy="548640"/>
          </a:xfrm>
          <a:prstGeom prst="rect">
            <a:avLst/>
          </a:prstGeom>
          <a:noFill/>
          <a:ln/>
        </p:spPr>
        <p:txBody>
          <a:bodyPr wrap="square" lIns="0" tIns="0" rIns="0" bIns="0" rtlCol="0" anchor="ctr"/>
          <a:lstStyle/>
          <a:p>
            <a:pPr indent="0" marL="0">
              <a:buNone/>
            </a:pPr>
            <a:r>
              <a:rPr lang="en-US" sz="3000" b="1" dirty="0">
                <a:solidFill>
                  <a:srgbClr val="F5C518"/>
                </a:solidFill>
                <a:latin typeface="Cambria" pitchFamily="34" charset="0"/>
                <a:ea typeface="Cambria" pitchFamily="34" charset="-122"/>
                <a:cs typeface="Cambria" pitchFamily="34" charset="-120"/>
              </a:rPr>
              <a:t>1</a:t>
            </a:r>
            <a:endParaRPr lang="en-US" sz="3000" dirty="0"/>
          </a:p>
        </p:txBody>
      </p:sp>
      <p:sp>
        <p:nvSpPr>
          <p:cNvPr id="16" name="Text 13"/>
          <p:cNvSpPr/>
          <p:nvPr/>
        </p:nvSpPr>
        <p:spPr>
          <a:xfrm>
            <a:off x="9317736" y="5029200"/>
            <a:ext cx="2103120" cy="365760"/>
          </a:xfrm>
          <a:prstGeom prst="rect">
            <a:avLst/>
          </a:prstGeom>
          <a:noFill/>
          <a:ln/>
        </p:spPr>
        <p:txBody>
          <a:bodyPr wrap="square" lIns="0" tIns="0" rIns="0" bIns="0" rtlCol="0" anchor="ctr"/>
          <a:lstStyle/>
          <a:p>
            <a:pPr indent="0" marL="0">
              <a:buNone/>
            </a:pPr>
            <a:r>
              <a:rPr lang="en-US" sz="1100" dirty="0">
                <a:solidFill>
                  <a:srgbClr val="5B6470"/>
                </a:solidFill>
                <a:latin typeface="Calibri" pitchFamily="34" charset="0"/>
                <a:ea typeface="Calibri" pitchFamily="34" charset="-122"/>
                <a:cs typeface="Calibri" pitchFamily="34" charset="-120"/>
              </a:rPr>
              <a:t>estación de carga</a:t>
            </a:r>
            <a:endParaRPr lang="en-US" sz="1100" dirty="0"/>
          </a:p>
        </p:txBody>
      </p:sp>
      <p:sp>
        <p:nvSpPr>
          <p:cNvPr id="17" name="Text 14"/>
          <p:cNvSpPr/>
          <p:nvPr/>
        </p:nvSpPr>
        <p:spPr>
          <a:xfrm>
            <a:off x="594360" y="5760720"/>
            <a:ext cx="10972800" cy="411480"/>
          </a:xfrm>
          <a:prstGeom prst="rect">
            <a:avLst/>
          </a:prstGeom>
          <a:noFill/>
          <a:ln/>
        </p:spPr>
        <p:txBody>
          <a:bodyPr wrap="square" lIns="0" tIns="0" rIns="0" bIns="0" rtlCol="0" anchor="ctr"/>
          <a:lstStyle/>
          <a:p>
            <a:pPr indent="0" marL="0">
              <a:buNone/>
            </a:pPr>
            <a:r>
              <a:rPr lang="en-US" sz="1350" b="1" dirty="0">
                <a:solidFill>
                  <a:srgbClr val="1A1D23"/>
                </a:solidFill>
                <a:latin typeface="Calibri" pitchFamily="34" charset="0"/>
                <a:ea typeface="Calibri" pitchFamily="34" charset="-122"/>
                <a:cs typeface="Calibri" pitchFamily="34" charset="-120"/>
              </a:rPr>
              <a:t>Esto se instala una sola vez y sirve para toda la flota: $14,288. La estación de carga va justo donde su plano ya dice "Carga de montacargas".</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71C"/>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ECEBE6"/>
                </a:solidFill>
                <a:latin typeface="Cambria" pitchFamily="34" charset="0"/>
                <a:ea typeface="Cambria" pitchFamily="34" charset="-122"/>
                <a:cs typeface="Cambria" pitchFamily="34" charset="-120"/>
              </a:rPr>
              <a:t>Y esto cómo arrancaría</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8B949E"/>
                </a:solidFill>
                <a:latin typeface="Calibri" pitchFamily="34" charset="0"/>
                <a:ea typeface="Calibri" pitchFamily="34" charset="-122"/>
                <a:cs typeface="Calibri" pitchFamily="34" charset="-120"/>
              </a:rPr>
              <a:t>No es plug and play, y no se lo vamos a vender así</a:t>
            </a:r>
            <a:endParaRPr lang="en-US" sz="1350" dirty="0"/>
          </a:p>
        </p:txBody>
      </p:sp>
      <p:sp>
        <p:nvSpPr>
          <p:cNvPr id="4" name="Shape 2"/>
          <p:cNvSpPr/>
          <p:nvPr/>
        </p:nvSpPr>
        <p:spPr>
          <a:xfrm>
            <a:off x="685800" y="1828800"/>
            <a:ext cx="384048" cy="384048"/>
          </a:xfrm>
          <a:prstGeom prst="ellipse">
            <a:avLst/>
          </a:prstGeom>
          <a:solidFill>
            <a:srgbClr val="F5C518"/>
          </a:solidFill>
          <a:ln/>
        </p:spPr>
      </p:sp>
      <p:sp>
        <p:nvSpPr>
          <p:cNvPr id="5" name="Text 3"/>
          <p:cNvSpPr/>
          <p:nvPr/>
        </p:nvSpPr>
        <p:spPr>
          <a:xfrm>
            <a:off x="685800" y="1828800"/>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298448" y="1810512"/>
            <a:ext cx="3291840" cy="365760"/>
          </a:xfrm>
          <a:prstGeom prst="rect">
            <a:avLst/>
          </a:prstGeom>
          <a:noFill/>
          <a:ln/>
        </p:spPr>
        <p:txBody>
          <a:bodyPr wrap="square" lIns="0" tIns="0" rIns="0" bIns="0" rtlCol="0" anchor="ctr"/>
          <a:lstStyle/>
          <a:p>
            <a:pPr indent="0" marL="0">
              <a:buNone/>
            </a:pPr>
            <a:r>
              <a:rPr lang="en-US" sz="1500" b="1" dirty="0">
                <a:solidFill>
                  <a:srgbClr val="ECEBE6"/>
                </a:solidFill>
                <a:latin typeface="Calibri" pitchFamily="34" charset="0"/>
                <a:ea typeface="Calibri" pitchFamily="34" charset="-122"/>
                <a:cs typeface="Calibri" pitchFamily="34" charset="-120"/>
              </a:rPr>
              <a:t>Vamos y medimos</a:t>
            </a:r>
            <a:endParaRPr lang="en-US" sz="1500" dirty="0"/>
          </a:p>
        </p:txBody>
      </p:sp>
      <p:sp>
        <p:nvSpPr>
          <p:cNvPr id="7" name="Text 5"/>
          <p:cNvSpPr/>
          <p:nvPr/>
        </p:nvSpPr>
        <p:spPr>
          <a:xfrm>
            <a:off x="4663440" y="1847088"/>
            <a:ext cx="6858000" cy="548640"/>
          </a:xfrm>
          <a:prstGeom prst="rect">
            <a:avLst/>
          </a:prstGeom>
          <a:noFill/>
          <a:ln/>
        </p:spPr>
        <p:txBody>
          <a:bodyPr wrap="square" lIns="0" tIns="0" rIns="0" bIns="0" rtlCol="0" anchor="t"/>
          <a:lstStyle/>
          <a:p>
            <a:pPr indent="0" marL="0">
              <a:buNone/>
            </a:pPr>
            <a:r>
              <a:rPr lang="en-US" sz="1200" dirty="0">
                <a:solidFill>
                  <a:srgbClr val="8B949E"/>
                </a:solidFill>
                <a:latin typeface="Calibri" pitchFamily="34" charset="0"/>
                <a:ea typeface="Calibri" pitchFamily="34" charset="-122"/>
                <a:cs typeface="Calibri" pitchFamily="34" charset="-120"/>
              </a:rPr>
              <a:t>Pasillos, alturas y red. Salen con el modelo 3D de su bodega aunque no nos compren nada.</a:t>
            </a:r>
            <a:endParaRPr lang="en-US" sz="1200" dirty="0"/>
          </a:p>
        </p:txBody>
      </p:sp>
      <p:sp>
        <p:nvSpPr>
          <p:cNvPr id="8" name="Shape 6"/>
          <p:cNvSpPr/>
          <p:nvPr/>
        </p:nvSpPr>
        <p:spPr>
          <a:xfrm>
            <a:off x="685800" y="2706624"/>
            <a:ext cx="384048" cy="384048"/>
          </a:xfrm>
          <a:prstGeom prst="ellipse">
            <a:avLst/>
          </a:prstGeom>
          <a:solidFill>
            <a:srgbClr val="F5C518"/>
          </a:solidFill>
          <a:ln/>
        </p:spPr>
      </p:sp>
      <p:sp>
        <p:nvSpPr>
          <p:cNvPr id="9" name="Text 7"/>
          <p:cNvSpPr/>
          <p:nvPr/>
        </p:nvSpPr>
        <p:spPr>
          <a:xfrm>
            <a:off x="685800" y="2706624"/>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298448" y="2688336"/>
            <a:ext cx="3291840" cy="365760"/>
          </a:xfrm>
          <a:prstGeom prst="rect">
            <a:avLst/>
          </a:prstGeom>
          <a:noFill/>
          <a:ln/>
        </p:spPr>
        <p:txBody>
          <a:bodyPr wrap="square" lIns="0" tIns="0" rIns="0" bIns="0" rtlCol="0" anchor="ctr"/>
          <a:lstStyle/>
          <a:p>
            <a:pPr indent="0" marL="0">
              <a:buNone/>
            </a:pPr>
            <a:r>
              <a:rPr lang="en-US" sz="1500" b="1" dirty="0">
                <a:solidFill>
                  <a:srgbClr val="ECEBE6"/>
                </a:solidFill>
                <a:latin typeface="Calibri" pitchFamily="34" charset="0"/>
                <a:ea typeface="Calibri" pitchFamily="34" charset="-122"/>
                <a:cs typeface="Calibri" pitchFamily="34" charset="-120"/>
              </a:rPr>
              <a:t>Revisamos el equipo</a:t>
            </a:r>
            <a:endParaRPr lang="en-US" sz="1500" dirty="0"/>
          </a:p>
        </p:txBody>
      </p:sp>
      <p:sp>
        <p:nvSpPr>
          <p:cNvPr id="11" name="Text 9"/>
          <p:cNvSpPr/>
          <p:nvPr/>
        </p:nvSpPr>
        <p:spPr>
          <a:xfrm>
            <a:off x="4663440" y="2724912"/>
            <a:ext cx="6858000" cy="548640"/>
          </a:xfrm>
          <a:prstGeom prst="rect">
            <a:avLst/>
          </a:prstGeom>
          <a:noFill/>
          <a:ln/>
        </p:spPr>
        <p:txBody>
          <a:bodyPr wrap="square" lIns="0" tIns="0" rIns="0" bIns="0" rtlCol="0" anchor="t"/>
          <a:lstStyle/>
          <a:p>
            <a:pPr indent="0" marL="0">
              <a:buNone/>
            </a:pPr>
            <a:r>
              <a:rPr lang="en-US" sz="1200" dirty="0">
                <a:solidFill>
                  <a:srgbClr val="8B949E"/>
                </a:solidFill>
                <a:latin typeface="Calibri" pitchFamily="34" charset="0"/>
                <a:ea typeface="Calibri" pitchFamily="34" charset="-122"/>
                <a:cs typeface="Calibri" pitchFamily="34" charset="-120"/>
              </a:rPr>
              <a:t>Confirmamos el bus CAN, la dirección y dónde cabe el kit. Los soportes se fabrican a la medida.</a:t>
            </a:r>
            <a:endParaRPr lang="en-US" sz="1200" dirty="0"/>
          </a:p>
        </p:txBody>
      </p:sp>
      <p:sp>
        <p:nvSpPr>
          <p:cNvPr id="12" name="Shape 10"/>
          <p:cNvSpPr/>
          <p:nvPr/>
        </p:nvSpPr>
        <p:spPr>
          <a:xfrm>
            <a:off x="685800" y="3584448"/>
            <a:ext cx="384048" cy="384048"/>
          </a:xfrm>
          <a:prstGeom prst="ellipse">
            <a:avLst/>
          </a:prstGeom>
          <a:solidFill>
            <a:srgbClr val="F5C518"/>
          </a:solidFill>
          <a:ln/>
        </p:spPr>
      </p:sp>
      <p:sp>
        <p:nvSpPr>
          <p:cNvPr id="13" name="Text 11"/>
          <p:cNvSpPr/>
          <p:nvPr/>
        </p:nvSpPr>
        <p:spPr>
          <a:xfrm>
            <a:off x="685800" y="3584448"/>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298448" y="3566160"/>
            <a:ext cx="3291840" cy="365760"/>
          </a:xfrm>
          <a:prstGeom prst="rect">
            <a:avLst/>
          </a:prstGeom>
          <a:noFill/>
          <a:ln/>
        </p:spPr>
        <p:txBody>
          <a:bodyPr wrap="square" lIns="0" tIns="0" rIns="0" bIns="0" rtlCol="0" anchor="ctr"/>
          <a:lstStyle/>
          <a:p>
            <a:pPr indent="0" marL="0">
              <a:buNone/>
            </a:pPr>
            <a:r>
              <a:rPr lang="en-US" sz="1500" b="1" dirty="0">
                <a:solidFill>
                  <a:srgbClr val="ECEBE6"/>
                </a:solidFill>
                <a:latin typeface="Calibri" pitchFamily="34" charset="0"/>
                <a:ea typeface="Calibri" pitchFamily="34" charset="-122"/>
                <a:cs typeface="Calibri" pitchFamily="34" charset="-120"/>
              </a:rPr>
              <a:t>Instalamos y mapeamos</a:t>
            </a:r>
            <a:endParaRPr lang="en-US" sz="1500" dirty="0"/>
          </a:p>
        </p:txBody>
      </p:sp>
      <p:sp>
        <p:nvSpPr>
          <p:cNvPr id="15" name="Text 13"/>
          <p:cNvSpPr/>
          <p:nvPr/>
        </p:nvSpPr>
        <p:spPr>
          <a:xfrm>
            <a:off x="4663440" y="3602736"/>
            <a:ext cx="6858000" cy="548640"/>
          </a:xfrm>
          <a:prstGeom prst="rect">
            <a:avLst/>
          </a:prstGeom>
          <a:noFill/>
          <a:ln/>
        </p:spPr>
        <p:txBody>
          <a:bodyPr wrap="square" lIns="0" tIns="0" rIns="0" bIns="0" rtlCol="0" anchor="t"/>
          <a:lstStyle/>
          <a:p>
            <a:pPr indent="0" marL="0">
              <a:buNone/>
            </a:pPr>
            <a:r>
              <a:rPr lang="en-US" sz="1200" dirty="0">
                <a:solidFill>
                  <a:srgbClr val="8B949E"/>
                </a:solidFill>
                <a:latin typeface="Calibri" pitchFamily="34" charset="0"/>
                <a:ea typeface="Calibri" pitchFamily="34" charset="-122"/>
                <a:cs typeface="Calibri" pitchFamily="34" charset="-120"/>
              </a:rPr>
              <a:t>3 a 5 días por unidad la primera vez. El kit recorre el almacén y arma su mapa.</a:t>
            </a:r>
            <a:endParaRPr lang="en-US" sz="1200" dirty="0"/>
          </a:p>
        </p:txBody>
      </p:sp>
      <p:sp>
        <p:nvSpPr>
          <p:cNvPr id="16" name="Shape 14"/>
          <p:cNvSpPr/>
          <p:nvPr/>
        </p:nvSpPr>
        <p:spPr>
          <a:xfrm>
            <a:off x="685800" y="4462272"/>
            <a:ext cx="384048" cy="384048"/>
          </a:xfrm>
          <a:prstGeom prst="ellipse">
            <a:avLst/>
          </a:prstGeom>
          <a:solidFill>
            <a:srgbClr val="39D98A"/>
          </a:solidFill>
          <a:ln/>
        </p:spPr>
      </p:sp>
      <p:sp>
        <p:nvSpPr>
          <p:cNvPr id="17" name="Text 15"/>
          <p:cNvSpPr/>
          <p:nvPr/>
        </p:nvSpPr>
        <p:spPr>
          <a:xfrm>
            <a:off x="685800" y="4462272"/>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298448" y="4443984"/>
            <a:ext cx="3291840" cy="365760"/>
          </a:xfrm>
          <a:prstGeom prst="rect">
            <a:avLst/>
          </a:prstGeom>
          <a:noFill/>
          <a:ln/>
        </p:spPr>
        <p:txBody>
          <a:bodyPr wrap="square" lIns="0" tIns="0" rIns="0" bIns="0" rtlCol="0" anchor="ctr"/>
          <a:lstStyle/>
          <a:p>
            <a:pPr indent="0" marL="0">
              <a:buNone/>
            </a:pPr>
            <a:r>
              <a:rPr lang="en-US" sz="1500" b="1" dirty="0">
                <a:solidFill>
                  <a:srgbClr val="ECEBE6"/>
                </a:solidFill>
                <a:latin typeface="Calibri" pitchFamily="34" charset="0"/>
                <a:ea typeface="Calibri" pitchFamily="34" charset="-122"/>
                <a:cs typeface="Calibri" pitchFamily="34" charset="-120"/>
              </a:rPr>
              <a:t>Fase Watch</a:t>
            </a:r>
            <a:endParaRPr lang="en-US" sz="1500" dirty="0"/>
          </a:p>
        </p:txBody>
      </p:sp>
      <p:sp>
        <p:nvSpPr>
          <p:cNvPr id="19" name="Text 17"/>
          <p:cNvSpPr/>
          <p:nvPr/>
        </p:nvSpPr>
        <p:spPr>
          <a:xfrm>
            <a:off x="4663440" y="4480560"/>
            <a:ext cx="6858000" cy="548640"/>
          </a:xfrm>
          <a:prstGeom prst="rect">
            <a:avLst/>
          </a:prstGeom>
          <a:noFill/>
          <a:ln/>
        </p:spPr>
        <p:txBody>
          <a:bodyPr wrap="square" lIns="0" tIns="0" rIns="0" bIns="0" rtlCol="0" anchor="t"/>
          <a:lstStyle/>
          <a:p>
            <a:pPr indent="0" marL="0">
              <a:buNone/>
            </a:pPr>
            <a:r>
              <a:rPr lang="en-US" sz="1200" dirty="0">
                <a:solidFill>
                  <a:srgbClr val="8B949E"/>
                </a:solidFill>
                <a:latin typeface="Calibri" pitchFamily="34" charset="0"/>
                <a:ea typeface="Calibri" pitchFamily="34" charset="-122"/>
                <a:cs typeface="Calibri" pitchFamily="34" charset="-120"/>
              </a:rPr>
              <a:t>Semanas operando en asistencia, juntando datos reales de ciclos y de dónde se traba.</a:t>
            </a:r>
            <a:endParaRPr lang="en-US" sz="1200" dirty="0"/>
          </a:p>
        </p:txBody>
      </p:sp>
      <p:sp>
        <p:nvSpPr>
          <p:cNvPr id="20" name="Shape 18"/>
          <p:cNvSpPr/>
          <p:nvPr/>
        </p:nvSpPr>
        <p:spPr>
          <a:xfrm>
            <a:off x="685800" y="5340096"/>
            <a:ext cx="384048" cy="384048"/>
          </a:xfrm>
          <a:prstGeom prst="ellipse">
            <a:avLst/>
          </a:prstGeom>
          <a:solidFill>
            <a:srgbClr val="F5C518"/>
          </a:solidFill>
          <a:ln/>
        </p:spPr>
      </p:sp>
      <p:sp>
        <p:nvSpPr>
          <p:cNvPr id="21" name="Text 19"/>
          <p:cNvSpPr/>
          <p:nvPr/>
        </p:nvSpPr>
        <p:spPr>
          <a:xfrm>
            <a:off x="685800" y="5340096"/>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1298448" y="5321808"/>
            <a:ext cx="3291840" cy="365760"/>
          </a:xfrm>
          <a:prstGeom prst="rect">
            <a:avLst/>
          </a:prstGeom>
          <a:noFill/>
          <a:ln/>
        </p:spPr>
        <p:txBody>
          <a:bodyPr wrap="square" lIns="0" tIns="0" rIns="0" bIns="0" rtlCol="0" anchor="ctr"/>
          <a:lstStyle/>
          <a:p>
            <a:pPr indent="0" marL="0">
              <a:buNone/>
            </a:pPr>
            <a:r>
              <a:rPr lang="en-US" sz="1500" b="1" dirty="0">
                <a:solidFill>
                  <a:srgbClr val="ECEBE6"/>
                </a:solidFill>
                <a:latin typeface="Calibri" pitchFamily="34" charset="0"/>
                <a:ea typeface="Calibri" pitchFamily="34" charset="-122"/>
                <a:cs typeface="Calibri" pitchFamily="34" charset="-120"/>
              </a:rPr>
              <a:t>Autonomía, ruta por ruta</a:t>
            </a:r>
            <a:endParaRPr lang="en-US" sz="1500" dirty="0"/>
          </a:p>
        </p:txBody>
      </p:sp>
      <p:sp>
        <p:nvSpPr>
          <p:cNvPr id="23" name="Text 21"/>
          <p:cNvSpPr/>
          <p:nvPr/>
        </p:nvSpPr>
        <p:spPr>
          <a:xfrm>
            <a:off x="4663440" y="5358384"/>
            <a:ext cx="6858000" cy="548640"/>
          </a:xfrm>
          <a:prstGeom prst="rect">
            <a:avLst/>
          </a:prstGeom>
          <a:noFill/>
          <a:ln/>
        </p:spPr>
        <p:txBody>
          <a:bodyPr wrap="square" lIns="0" tIns="0" rIns="0" bIns="0" rtlCol="0" anchor="t"/>
          <a:lstStyle/>
          <a:p>
            <a:pPr indent="0" marL="0">
              <a:buNone/>
            </a:pPr>
            <a:r>
              <a:rPr lang="en-US" sz="1200" dirty="0">
                <a:solidFill>
                  <a:srgbClr val="8B949E"/>
                </a:solidFill>
                <a:latin typeface="Calibri" pitchFamily="34" charset="0"/>
                <a:ea typeface="Calibri" pitchFamily="34" charset="-122"/>
                <a:cs typeface="Calibri" pitchFamily="34" charset="-120"/>
              </a:rPr>
              <a:t>Empezando por la más repetitiva. Nunca todo de golpe.</a:t>
            </a:r>
            <a:endParaRPr lang="en-US" sz="1200" dirty="0"/>
          </a:p>
        </p:txBody>
      </p:sp>
      <p:sp>
        <p:nvSpPr>
          <p:cNvPr id="24" name="Text 22"/>
          <p:cNvSpPr/>
          <p:nvPr/>
        </p:nvSpPr>
        <p:spPr>
          <a:xfrm>
            <a:off x="594360" y="6263640"/>
            <a:ext cx="10972800" cy="411480"/>
          </a:xfrm>
          <a:prstGeom prst="rect">
            <a:avLst/>
          </a:prstGeom>
          <a:noFill/>
          <a:ln/>
        </p:spPr>
        <p:txBody>
          <a:bodyPr wrap="square" lIns="0" tIns="0" rIns="0" bIns="0" rtlCol="0" anchor="ctr"/>
          <a:lstStyle/>
          <a:p>
            <a:pPr indent="0" marL="0">
              <a:buNone/>
            </a:pPr>
            <a:r>
              <a:rPr lang="en-US" sz="1400" b="1" dirty="0">
                <a:solidFill>
                  <a:srgbClr val="39D98A"/>
                </a:solidFill>
                <a:latin typeface="Calibri" pitchFamily="34" charset="0"/>
                <a:ea typeface="Calibri" pitchFamily="34" charset="-122"/>
                <a:cs typeface="Calibri" pitchFamily="34" charset="-120"/>
              </a:rPr>
              <a:t>El paso 4 es el que importa: con sus propios datos ustedes deciden si el paso 5 vale la pena. No nosotros.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384048"/>
            <a:ext cx="10972800" cy="777240"/>
          </a:xfrm>
          <a:prstGeom prst="rect">
            <a:avLst/>
          </a:prstGeom>
          <a:noFill/>
          <a:ln/>
        </p:spPr>
        <p:txBody>
          <a:bodyPr wrap="square" lIns="0" tIns="0" rIns="0" bIns="0" rtlCol="0" anchor="ctr"/>
          <a:lstStyle/>
          <a:p>
            <a:pPr indent="0" marL="0">
              <a:buNone/>
            </a:pPr>
            <a:r>
              <a:rPr lang="en-US" sz="3400" b="1" dirty="0">
                <a:solidFill>
                  <a:srgbClr val="1A1D23"/>
                </a:solidFill>
                <a:latin typeface="Cambria" pitchFamily="34" charset="0"/>
                <a:ea typeface="Cambria" pitchFamily="34" charset="-122"/>
                <a:cs typeface="Cambria" pitchFamily="34" charset="-120"/>
              </a:rPr>
              <a:t>Lo que necesitamos de ustedes</a:t>
            </a:r>
            <a:endParaRPr lang="en-US" sz="3400" dirty="0"/>
          </a:p>
        </p:txBody>
      </p:sp>
      <p:sp>
        <p:nvSpPr>
          <p:cNvPr id="3" name="Text 1"/>
          <p:cNvSpPr/>
          <p:nvPr/>
        </p:nvSpPr>
        <p:spPr>
          <a:xfrm>
            <a:off x="594360" y="1133856"/>
            <a:ext cx="10972800" cy="365760"/>
          </a:xfrm>
          <a:prstGeom prst="rect">
            <a:avLst/>
          </a:prstGeom>
          <a:noFill/>
          <a:ln/>
        </p:spPr>
        <p:txBody>
          <a:bodyPr wrap="square" lIns="0" tIns="0" rIns="0" bIns="0" rtlCol="0" anchor="ctr"/>
          <a:lstStyle/>
          <a:p>
            <a:pPr indent="0" marL="0">
              <a:buNone/>
            </a:pPr>
            <a:r>
              <a:rPr lang="en-US" sz="1350" dirty="0">
                <a:solidFill>
                  <a:srgbClr val="5B6470"/>
                </a:solidFill>
                <a:latin typeface="Calibri" pitchFamily="34" charset="0"/>
                <a:ea typeface="Calibri" pitchFamily="34" charset="-122"/>
                <a:cs typeface="Calibri" pitchFamily="34" charset="-120"/>
              </a:rPr>
              <a:t>Cinco respuestas y les podemos cotizar en firme</a:t>
            </a:r>
            <a:endParaRPr lang="en-US" sz="1350" dirty="0"/>
          </a:p>
        </p:txBody>
      </p:sp>
      <p:sp>
        <p:nvSpPr>
          <p:cNvPr id="4" name="Shape 2"/>
          <p:cNvSpPr/>
          <p:nvPr/>
        </p:nvSpPr>
        <p:spPr>
          <a:xfrm>
            <a:off x="594360" y="1783080"/>
            <a:ext cx="10972800" cy="749808"/>
          </a:xfrm>
          <a:prstGeom prst="roundRect">
            <a:avLst>
              <a:gd name="adj" fmla="val 10976"/>
            </a:avLst>
          </a:prstGeom>
          <a:solidFill>
            <a:srgbClr val="FFFFFF"/>
          </a:solidFill>
          <a:ln/>
          <a:effectLst>
            <a:outerShdw sx="100000" sy="100000" kx="0" ky="0" algn="bl" rotWithShape="0" blurRad="152400" dist="38100" dir="5400000">
              <a:srgbClr val="000000">
                <a:alpha val="28000"/>
              </a:srgbClr>
            </a:outerShdw>
          </a:effectLst>
        </p:spPr>
      </p:sp>
      <p:sp>
        <p:nvSpPr>
          <p:cNvPr id="5" name="Shape 3"/>
          <p:cNvSpPr/>
          <p:nvPr/>
        </p:nvSpPr>
        <p:spPr>
          <a:xfrm>
            <a:off x="914400" y="1965960"/>
            <a:ext cx="384048" cy="384048"/>
          </a:xfrm>
          <a:prstGeom prst="ellipse">
            <a:avLst/>
          </a:prstGeom>
          <a:solidFill>
            <a:srgbClr val="F5C518"/>
          </a:solidFill>
          <a:ln/>
        </p:spPr>
      </p:sp>
      <p:sp>
        <p:nvSpPr>
          <p:cNvPr id="6" name="Text 4"/>
          <p:cNvSpPr/>
          <p:nvPr/>
        </p:nvSpPr>
        <p:spPr>
          <a:xfrm>
            <a:off x="914400" y="1965960"/>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81328" y="1901952"/>
            <a:ext cx="9692640" cy="320040"/>
          </a:xfrm>
          <a:prstGeom prst="rect">
            <a:avLst/>
          </a:prstGeom>
          <a:noFill/>
          <a:ln/>
        </p:spPr>
        <p:txBody>
          <a:bodyPr wrap="square" lIns="0" tIns="0" rIns="0" bIns="0" rtlCol="0" anchor="ctr"/>
          <a:lstStyle/>
          <a:p>
            <a:pPr indent="0" marL="0">
              <a:buNone/>
            </a:pPr>
            <a:r>
              <a:rPr lang="en-US" sz="1450" b="1" dirty="0">
                <a:solidFill>
                  <a:srgbClr val="1A1D23"/>
                </a:solidFill>
                <a:latin typeface="Calibri" pitchFamily="34" charset="0"/>
                <a:ea typeface="Calibri" pitchFamily="34" charset="-122"/>
                <a:cs typeface="Calibri" pitchFamily="34" charset="-120"/>
              </a:rPr>
              <a:t>¿Cuál de las tres propuestas se va a construir?</a:t>
            </a:r>
            <a:endParaRPr lang="en-US" sz="1450" dirty="0"/>
          </a:p>
        </p:txBody>
      </p:sp>
      <p:sp>
        <p:nvSpPr>
          <p:cNvPr id="8" name="Text 6"/>
          <p:cNvSpPr/>
          <p:nvPr/>
        </p:nvSpPr>
        <p:spPr>
          <a:xfrm>
            <a:off x="1481328" y="2212848"/>
            <a:ext cx="9692640" cy="274320"/>
          </a:xfrm>
          <a:prstGeom prst="rect">
            <a:avLst/>
          </a:prstGeom>
          <a:noFill/>
          <a:ln/>
        </p:spPr>
        <p:txBody>
          <a:bodyPr wrap="square" lIns="0" tIns="0" rIns="0" bIns="0" rtlCol="0" anchor="ctr"/>
          <a:lstStyle/>
          <a:p>
            <a:pPr indent="0" marL="0">
              <a:buNone/>
            </a:pPr>
            <a:r>
              <a:rPr lang="en-US" sz="1150" dirty="0">
                <a:solidFill>
                  <a:srgbClr val="5B6470"/>
                </a:solidFill>
                <a:latin typeface="Calibri" pitchFamily="34" charset="0"/>
                <a:ea typeface="Calibri" pitchFamily="34" charset="-122"/>
                <a:cs typeface="Calibri" pitchFamily="34" charset="-120"/>
              </a:rPr>
              <a:t>De eso depende todo el dimensionamiento</a:t>
            </a:r>
            <a:endParaRPr lang="en-US" sz="1150" dirty="0"/>
          </a:p>
        </p:txBody>
      </p:sp>
      <p:sp>
        <p:nvSpPr>
          <p:cNvPr id="9" name="Shape 7"/>
          <p:cNvSpPr/>
          <p:nvPr/>
        </p:nvSpPr>
        <p:spPr>
          <a:xfrm>
            <a:off x="594360" y="2670048"/>
            <a:ext cx="10972800" cy="749808"/>
          </a:xfrm>
          <a:prstGeom prst="roundRect">
            <a:avLst>
              <a:gd name="adj" fmla="val 10976"/>
            </a:avLst>
          </a:prstGeom>
          <a:solidFill>
            <a:srgbClr val="FFFFFF"/>
          </a:solidFill>
          <a:ln/>
          <a:effectLst>
            <a:outerShdw sx="100000" sy="100000" kx="0" ky="0" algn="bl" rotWithShape="0" blurRad="152400" dist="38100" dir="5400000">
              <a:srgbClr val="000000">
                <a:alpha val="28000"/>
              </a:srgbClr>
            </a:outerShdw>
          </a:effectLst>
        </p:spPr>
      </p:sp>
      <p:sp>
        <p:nvSpPr>
          <p:cNvPr id="10" name="Shape 8"/>
          <p:cNvSpPr/>
          <p:nvPr/>
        </p:nvSpPr>
        <p:spPr>
          <a:xfrm>
            <a:off x="914400" y="2852928"/>
            <a:ext cx="384048" cy="384048"/>
          </a:xfrm>
          <a:prstGeom prst="ellipse">
            <a:avLst/>
          </a:prstGeom>
          <a:solidFill>
            <a:srgbClr val="F5C518"/>
          </a:solidFill>
          <a:ln/>
        </p:spPr>
      </p:sp>
      <p:sp>
        <p:nvSpPr>
          <p:cNvPr id="11" name="Text 9"/>
          <p:cNvSpPr/>
          <p:nvPr/>
        </p:nvSpPr>
        <p:spPr>
          <a:xfrm>
            <a:off x="914400" y="2852928"/>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481328" y="2788920"/>
            <a:ext cx="9692640" cy="320040"/>
          </a:xfrm>
          <a:prstGeom prst="rect">
            <a:avLst/>
          </a:prstGeom>
          <a:noFill/>
          <a:ln/>
        </p:spPr>
        <p:txBody>
          <a:bodyPr wrap="square" lIns="0" tIns="0" rIns="0" bIns="0" rtlCol="0" anchor="ctr"/>
          <a:lstStyle/>
          <a:p>
            <a:pPr indent="0" marL="0">
              <a:buNone/>
            </a:pPr>
            <a:r>
              <a:rPr lang="en-US" sz="1450" b="1" dirty="0">
                <a:solidFill>
                  <a:srgbClr val="1A1D23"/>
                </a:solidFill>
                <a:latin typeface="Calibri" pitchFamily="34" charset="0"/>
                <a:ea typeface="Calibri" pitchFamily="34" charset="-122"/>
                <a:cs typeface="Calibri" pitchFamily="34" charset="-120"/>
              </a:rPr>
              <a:t>¿Con qué equipo trabajan hoy? Marca, modelo y ficha</a:t>
            </a:r>
            <a:endParaRPr lang="en-US" sz="1450" dirty="0"/>
          </a:p>
        </p:txBody>
      </p:sp>
      <p:sp>
        <p:nvSpPr>
          <p:cNvPr id="13" name="Text 11"/>
          <p:cNvSpPr/>
          <p:nvPr/>
        </p:nvSpPr>
        <p:spPr>
          <a:xfrm>
            <a:off x="1481328" y="3099816"/>
            <a:ext cx="9692640" cy="274320"/>
          </a:xfrm>
          <a:prstGeom prst="rect">
            <a:avLst/>
          </a:prstGeom>
          <a:noFill/>
          <a:ln/>
        </p:spPr>
        <p:txBody>
          <a:bodyPr wrap="square" lIns="0" tIns="0" rIns="0" bIns="0" rtlCol="0" anchor="ctr"/>
          <a:lstStyle/>
          <a:p>
            <a:pPr indent="0" marL="0">
              <a:buNone/>
            </a:pPr>
            <a:r>
              <a:rPr lang="en-US" sz="1150" dirty="0">
                <a:solidFill>
                  <a:srgbClr val="5B6470"/>
                </a:solidFill>
                <a:latin typeface="Calibri" pitchFamily="34" charset="0"/>
                <a:ea typeface="Calibri" pitchFamily="34" charset="-122"/>
                <a:cs typeface="Calibri" pitchFamily="34" charset="-120"/>
              </a:rPr>
              <a:t>Para saber si el pasillo real le sirve</a:t>
            </a:r>
            <a:endParaRPr lang="en-US" sz="1150" dirty="0"/>
          </a:p>
        </p:txBody>
      </p:sp>
      <p:sp>
        <p:nvSpPr>
          <p:cNvPr id="14" name="Shape 12"/>
          <p:cNvSpPr/>
          <p:nvPr/>
        </p:nvSpPr>
        <p:spPr>
          <a:xfrm>
            <a:off x="594360" y="3557016"/>
            <a:ext cx="10972800" cy="749808"/>
          </a:xfrm>
          <a:prstGeom prst="roundRect">
            <a:avLst>
              <a:gd name="adj" fmla="val 10976"/>
            </a:avLst>
          </a:prstGeom>
          <a:solidFill>
            <a:srgbClr val="FFFFFF"/>
          </a:solidFill>
          <a:ln/>
          <a:effectLst>
            <a:outerShdw sx="100000" sy="100000" kx="0" ky="0" algn="bl" rotWithShape="0" blurRad="152400" dist="38100" dir="5400000">
              <a:srgbClr val="000000">
                <a:alpha val="28000"/>
              </a:srgbClr>
            </a:outerShdw>
          </a:effectLst>
        </p:spPr>
      </p:sp>
      <p:sp>
        <p:nvSpPr>
          <p:cNvPr id="15" name="Shape 13"/>
          <p:cNvSpPr/>
          <p:nvPr/>
        </p:nvSpPr>
        <p:spPr>
          <a:xfrm>
            <a:off x="914400" y="3739896"/>
            <a:ext cx="384048" cy="384048"/>
          </a:xfrm>
          <a:prstGeom prst="ellipse">
            <a:avLst/>
          </a:prstGeom>
          <a:solidFill>
            <a:srgbClr val="F5C518"/>
          </a:solidFill>
          <a:ln/>
        </p:spPr>
      </p:sp>
      <p:sp>
        <p:nvSpPr>
          <p:cNvPr id="16" name="Text 14"/>
          <p:cNvSpPr/>
          <p:nvPr/>
        </p:nvSpPr>
        <p:spPr>
          <a:xfrm>
            <a:off x="914400" y="3739896"/>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481328" y="3675888"/>
            <a:ext cx="9692640" cy="320040"/>
          </a:xfrm>
          <a:prstGeom prst="rect">
            <a:avLst/>
          </a:prstGeom>
          <a:noFill/>
          <a:ln/>
        </p:spPr>
        <p:txBody>
          <a:bodyPr wrap="square" lIns="0" tIns="0" rIns="0" bIns="0" rtlCol="0" anchor="ctr"/>
          <a:lstStyle/>
          <a:p>
            <a:pPr indent="0" marL="0">
              <a:buNone/>
            </a:pPr>
            <a:r>
              <a:rPr lang="en-US" sz="1450" b="1" dirty="0">
                <a:solidFill>
                  <a:srgbClr val="1A1D23"/>
                </a:solidFill>
                <a:latin typeface="Calibri" pitchFamily="34" charset="0"/>
                <a:ea typeface="Calibri" pitchFamily="34" charset="-122"/>
                <a:cs typeface="Calibri" pitchFamily="34" charset="-120"/>
              </a:rPr>
              <a:t>¿Podemos medir un pasillo con cinta?</a:t>
            </a:r>
            <a:endParaRPr lang="en-US" sz="1450" dirty="0"/>
          </a:p>
        </p:txBody>
      </p:sp>
      <p:sp>
        <p:nvSpPr>
          <p:cNvPr id="18" name="Text 16"/>
          <p:cNvSpPr/>
          <p:nvPr/>
        </p:nvSpPr>
        <p:spPr>
          <a:xfrm>
            <a:off x="1481328" y="3986784"/>
            <a:ext cx="9692640" cy="274320"/>
          </a:xfrm>
          <a:prstGeom prst="rect">
            <a:avLst/>
          </a:prstGeom>
          <a:noFill/>
          <a:ln/>
        </p:spPr>
        <p:txBody>
          <a:bodyPr wrap="square" lIns="0" tIns="0" rIns="0" bIns="0" rtlCol="0" anchor="ctr"/>
          <a:lstStyle/>
          <a:p>
            <a:pPr indent="0" marL="0">
              <a:buNone/>
            </a:pPr>
            <a:r>
              <a:rPr lang="en-US" sz="1150" dirty="0">
                <a:solidFill>
                  <a:srgbClr val="5B6470"/>
                </a:solidFill>
                <a:latin typeface="Calibri" pitchFamily="34" charset="0"/>
                <a:ea typeface="Calibri" pitchFamily="34" charset="-122"/>
                <a:cs typeface="Calibri" pitchFamily="34" charset="-120"/>
              </a:rPr>
              <a:t>Confirma o descarta que el plano esté mal acotado</a:t>
            </a:r>
            <a:endParaRPr lang="en-US" sz="1150" dirty="0"/>
          </a:p>
        </p:txBody>
      </p:sp>
      <p:sp>
        <p:nvSpPr>
          <p:cNvPr id="19" name="Shape 17"/>
          <p:cNvSpPr/>
          <p:nvPr/>
        </p:nvSpPr>
        <p:spPr>
          <a:xfrm>
            <a:off x="594360" y="4443984"/>
            <a:ext cx="10972800" cy="749808"/>
          </a:xfrm>
          <a:prstGeom prst="roundRect">
            <a:avLst>
              <a:gd name="adj" fmla="val 10976"/>
            </a:avLst>
          </a:prstGeom>
          <a:solidFill>
            <a:srgbClr val="FFFFFF"/>
          </a:solidFill>
          <a:ln/>
          <a:effectLst>
            <a:outerShdw sx="100000" sy="100000" kx="0" ky="0" algn="bl" rotWithShape="0" blurRad="152400" dist="38100" dir="5400000">
              <a:srgbClr val="000000">
                <a:alpha val="28000"/>
              </a:srgbClr>
            </a:outerShdw>
          </a:effectLst>
        </p:spPr>
      </p:sp>
      <p:sp>
        <p:nvSpPr>
          <p:cNvPr id="20" name="Shape 18"/>
          <p:cNvSpPr/>
          <p:nvPr/>
        </p:nvSpPr>
        <p:spPr>
          <a:xfrm>
            <a:off x="914400" y="4626864"/>
            <a:ext cx="384048" cy="384048"/>
          </a:xfrm>
          <a:prstGeom prst="ellipse">
            <a:avLst/>
          </a:prstGeom>
          <a:solidFill>
            <a:srgbClr val="F5C518"/>
          </a:solidFill>
          <a:ln/>
        </p:spPr>
      </p:sp>
      <p:sp>
        <p:nvSpPr>
          <p:cNvPr id="21" name="Text 19"/>
          <p:cNvSpPr/>
          <p:nvPr/>
        </p:nvSpPr>
        <p:spPr>
          <a:xfrm>
            <a:off x="914400" y="4626864"/>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1481328" y="4562856"/>
            <a:ext cx="9692640" cy="320040"/>
          </a:xfrm>
          <a:prstGeom prst="rect">
            <a:avLst/>
          </a:prstGeom>
          <a:noFill/>
          <a:ln/>
        </p:spPr>
        <p:txBody>
          <a:bodyPr wrap="square" lIns="0" tIns="0" rIns="0" bIns="0" rtlCol="0" anchor="ctr"/>
          <a:lstStyle/>
          <a:p>
            <a:pPr indent="0" marL="0">
              <a:buNone/>
            </a:pPr>
            <a:r>
              <a:rPr lang="en-US" sz="1450" b="1" dirty="0">
                <a:solidFill>
                  <a:srgbClr val="1A1D23"/>
                </a:solidFill>
                <a:latin typeface="Calibri" pitchFamily="34" charset="0"/>
                <a:ea typeface="Calibri" pitchFamily="34" charset="-122"/>
                <a:cs typeface="Calibri" pitchFamily="34" charset="-120"/>
              </a:rPr>
              <a:t>¿Cómo sirven los niveles 4 y 5 del rack?</a:t>
            </a:r>
            <a:endParaRPr lang="en-US" sz="1450" dirty="0"/>
          </a:p>
        </p:txBody>
      </p:sp>
      <p:sp>
        <p:nvSpPr>
          <p:cNvPr id="23" name="Text 21"/>
          <p:cNvSpPr/>
          <p:nvPr/>
        </p:nvSpPr>
        <p:spPr>
          <a:xfrm>
            <a:off x="1481328" y="4873752"/>
            <a:ext cx="9692640" cy="274320"/>
          </a:xfrm>
          <a:prstGeom prst="rect">
            <a:avLst/>
          </a:prstGeom>
          <a:noFill/>
          <a:ln/>
        </p:spPr>
        <p:txBody>
          <a:bodyPr wrap="square" lIns="0" tIns="0" rIns="0" bIns="0" rtlCol="0" anchor="ctr"/>
          <a:lstStyle/>
          <a:p>
            <a:pPr indent="0" marL="0">
              <a:buNone/>
            </a:pPr>
            <a:r>
              <a:rPr lang="en-US" sz="1150" dirty="0">
                <a:solidFill>
                  <a:srgbClr val="5B6470"/>
                </a:solidFill>
                <a:latin typeface="Calibri" pitchFamily="34" charset="0"/>
                <a:ea typeface="Calibri" pitchFamily="34" charset="-122"/>
                <a:cs typeface="Calibri" pitchFamily="34" charset="-120"/>
              </a:rPr>
              <a:t>El KBE estándar eleva 3.0 m y el rack llega a ~7 m</a:t>
            </a:r>
            <a:endParaRPr lang="en-US" sz="1150" dirty="0"/>
          </a:p>
        </p:txBody>
      </p:sp>
      <p:sp>
        <p:nvSpPr>
          <p:cNvPr id="24" name="Shape 22"/>
          <p:cNvSpPr/>
          <p:nvPr/>
        </p:nvSpPr>
        <p:spPr>
          <a:xfrm>
            <a:off x="594360" y="5330952"/>
            <a:ext cx="10972800" cy="749808"/>
          </a:xfrm>
          <a:prstGeom prst="roundRect">
            <a:avLst>
              <a:gd name="adj" fmla="val 10976"/>
            </a:avLst>
          </a:prstGeom>
          <a:solidFill>
            <a:srgbClr val="FFFFFF"/>
          </a:solidFill>
          <a:ln/>
          <a:effectLst>
            <a:outerShdw sx="100000" sy="100000" kx="0" ky="0" algn="bl" rotWithShape="0" blurRad="152400" dist="38100" dir="5400000">
              <a:srgbClr val="000000">
                <a:alpha val="28000"/>
              </a:srgbClr>
            </a:outerShdw>
          </a:effectLst>
        </p:spPr>
      </p:sp>
      <p:sp>
        <p:nvSpPr>
          <p:cNvPr id="25" name="Shape 23"/>
          <p:cNvSpPr/>
          <p:nvPr/>
        </p:nvSpPr>
        <p:spPr>
          <a:xfrm>
            <a:off x="914400" y="5513832"/>
            <a:ext cx="384048" cy="384048"/>
          </a:xfrm>
          <a:prstGeom prst="ellipse">
            <a:avLst/>
          </a:prstGeom>
          <a:solidFill>
            <a:srgbClr val="F5C518"/>
          </a:solidFill>
          <a:ln/>
        </p:spPr>
      </p:sp>
      <p:sp>
        <p:nvSpPr>
          <p:cNvPr id="26" name="Text 24"/>
          <p:cNvSpPr/>
          <p:nvPr/>
        </p:nvSpPr>
        <p:spPr>
          <a:xfrm>
            <a:off x="914400" y="5513832"/>
            <a:ext cx="384048" cy="384048"/>
          </a:xfrm>
          <a:prstGeom prst="rect">
            <a:avLst/>
          </a:prstGeom>
          <a:noFill/>
          <a:ln/>
        </p:spPr>
        <p:txBody>
          <a:bodyPr wrap="square" lIns="0" tIns="0" rIns="0" bIns="0" rtlCol="0" anchor="ctr"/>
          <a:lstStyle/>
          <a:p>
            <a:pPr algn="ctr" indent="0" marL="0">
              <a:buNone/>
            </a:pPr>
            <a:r>
              <a:rPr lang="en-US" sz="1500" b="1" dirty="0">
                <a:solidFill>
                  <a:srgbClr val="14171C"/>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1481328" y="5449824"/>
            <a:ext cx="9692640" cy="320040"/>
          </a:xfrm>
          <a:prstGeom prst="rect">
            <a:avLst/>
          </a:prstGeom>
          <a:noFill/>
          <a:ln/>
        </p:spPr>
        <p:txBody>
          <a:bodyPr wrap="square" lIns="0" tIns="0" rIns="0" bIns="0" rtlCol="0" anchor="ctr"/>
          <a:lstStyle/>
          <a:p>
            <a:pPr indent="0" marL="0">
              <a:buNone/>
            </a:pPr>
            <a:r>
              <a:rPr lang="en-US" sz="1450" b="1" dirty="0">
                <a:solidFill>
                  <a:srgbClr val="1A1D23"/>
                </a:solidFill>
                <a:latin typeface="Calibri" pitchFamily="34" charset="0"/>
                <a:ea typeface="Calibri" pitchFamily="34" charset="-122"/>
                <a:cs typeface="Calibri" pitchFamily="34" charset="-120"/>
              </a:rPr>
              <a:t>¿El controlador del Baoli deja hablarle por CAN?</a:t>
            </a:r>
            <a:endParaRPr lang="en-US" sz="1450" dirty="0"/>
          </a:p>
        </p:txBody>
      </p:sp>
      <p:sp>
        <p:nvSpPr>
          <p:cNvPr id="28" name="Text 26"/>
          <p:cNvSpPr/>
          <p:nvPr/>
        </p:nvSpPr>
        <p:spPr>
          <a:xfrm>
            <a:off x="1481328" y="5760720"/>
            <a:ext cx="9692640" cy="274320"/>
          </a:xfrm>
          <a:prstGeom prst="rect">
            <a:avLst/>
          </a:prstGeom>
          <a:noFill/>
          <a:ln/>
        </p:spPr>
        <p:txBody>
          <a:bodyPr wrap="square" lIns="0" tIns="0" rIns="0" bIns="0" rtlCol="0" anchor="ctr"/>
          <a:lstStyle/>
          <a:p>
            <a:pPr indent="0" marL="0">
              <a:buNone/>
            </a:pPr>
            <a:r>
              <a:rPr lang="en-US" sz="1150" dirty="0">
                <a:solidFill>
                  <a:srgbClr val="5B6470"/>
                </a:solidFill>
                <a:latin typeface="Calibri" pitchFamily="34" charset="0"/>
                <a:ea typeface="Calibri" pitchFamily="34" charset="-122"/>
                <a:cs typeface="Calibri" pitchFamily="34" charset="-120"/>
              </a:rPr>
              <a:t>De eso depende el diseño de actuación y su costo</a:t>
            </a:r>
            <a:endParaRPr lang="en-US" sz="1150" dirty="0"/>
          </a:p>
        </p:txBody>
      </p:sp>
      <p:sp>
        <p:nvSpPr>
          <p:cNvPr id="29" name="Text 27"/>
          <p:cNvSpPr/>
          <p:nvPr/>
        </p:nvSpPr>
        <p:spPr>
          <a:xfrm>
            <a:off x="594360" y="6355080"/>
            <a:ext cx="10972800" cy="411480"/>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Con eso en la mano, la cotización sale en una semana.</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71C"/>
        </a:solidFill>
      </p:bgPr>
    </p:bg>
    <p:spTree>
      <p:nvGrpSpPr>
        <p:cNvPr id="1" name=""/>
        <p:cNvGrpSpPr/>
        <p:nvPr/>
      </p:nvGrpSpPr>
      <p:grpSpPr>
        <a:xfrm>
          <a:off x="0" y="0"/>
          <a:ext cx="0" cy="0"/>
          <a:chOff x="0" y="0"/>
          <a:chExt cx="0" cy="0"/>
        </a:xfrm>
      </p:grpSpPr>
      <p:pic>
        <p:nvPicPr>
          <p:cNvPr id="2" name="Image 0" descr="im_prop.jpg">    </p:cNvPr>
          <p:cNvPicPr>
            <a:picLocks noChangeAspect="1"/>
          </p:cNvPicPr>
          <p:nvPr/>
        </p:nvPicPr>
        <p:blipFill>
          <a:blip r:embed="rId1">
            <a:alphaModFix amt="18000"/>
          </a:blip>
          <a:srcRect l="0" r="0" t="0" b="0"/>
          <a:stretch/>
        </p:blipFill>
        <p:spPr>
          <a:xfrm>
            <a:off x="0" y="0"/>
            <a:ext cx="12161520" cy="6858000"/>
          </a:xfrm>
          <a:prstGeom prst="rect">
            <a:avLst/>
          </a:prstGeom>
        </p:spPr>
      </p:pic>
      <p:sp>
        <p:nvSpPr>
          <p:cNvPr id="3" name="Shape 0"/>
          <p:cNvSpPr/>
          <p:nvPr/>
        </p:nvSpPr>
        <p:spPr>
          <a:xfrm>
            <a:off x="0" y="0"/>
            <a:ext cx="12161520" cy="6858000"/>
          </a:xfrm>
          <a:prstGeom prst="rect">
            <a:avLst/>
          </a:prstGeom>
          <a:solidFill>
            <a:srgbClr val="14171C">
              <a:alpha val="90000"/>
            </a:srgbClr>
          </a:solidFill>
          <a:ln/>
        </p:spPr>
      </p:sp>
      <p:sp>
        <p:nvSpPr>
          <p:cNvPr id="4" name="Shape 1"/>
          <p:cNvSpPr/>
          <p:nvPr/>
        </p:nvSpPr>
        <p:spPr>
          <a:xfrm>
            <a:off x="822960" y="1901952"/>
            <a:ext cx="1371600" cy="41148"/>
          </a:xfrm>
          <a:prstGeom prst="rect">
            <a:avLst/>
          </a:prstGeom>
          <a:solidFill>
            <a:srgbClr val="F5C518"/>
          </a:solidFill>
          <a:ln/>
        </p:spPr>
      </p:sp>
      <p:sp>
        <p:nvSpPr>
          <p:cNvPr id="5" name="Text 2"/>
          <p:cNvSpPr/>
          <p:nvPr/>
        </p:nvSpPr>
        <p:spPr>
          <a:xfrm>
            <a:off x="822960" y="2057400"/>
            <a:ext cx="10515600" cy="731520"/>
          </a:xfrm>
          <a:prstGeom prst="rect">
            <a:avLst/>
          </a:prstGeom>
          <a:noFill/>
          <a:ln/>
        </p:spPr>
        <p:txBody>
          <a:bodyPr wrap="square" lIns="0" tIns="0" rIns="0" bIns="0" rtlCol="0" anchor="ctr"/>
          <a:lstStyle/>
          <a:p>
            <a:pPr indent="0" marL="0">
              <a:buNone/>
            </a:pPr>
            <a:r>
              <a:rPr lang="en-US" sz="3200" b="1" dirty="0">
                <a:solidFill>
                  <a:srgbClr val="ECEBE6"/>
                </a:solidFill>
                <a:latin typeface="Cambria" pitchFamily="34" charset="0"/>
                <a:ea typeface="Cambria" pitchFamily="34" charset="-122"/>
                <a:cs typeface="Cambria" pitchFamily="34" charset="-120"/>
              </a:rPr>
              <a:t>No les estamos vendiendo un montacargas nuevo.</a:t>
            </a:r>
            <a:endParaRPr lang="en-US" sz="3200" dirty="0"/>
          </a:p>
        </p:txBody>
      </p:sp>
      <p:sp>
        <p:nvSpPr>
          <p:cNvPr id="6" name="Text 3"/>
          <p:cNvSpPr/>
          <p:nvPr/>
        </p:nvSpPr>
        <p:spPr>
          <a:xfrm>
            <a:off x="822960" y="2834640"/>
            <a:ext cx="10515600" cy="1280160"/>
          </a:xfrm>
          <a:prstGeom prst="rect">
            <a:avLst/>
          </a:prstGeom>
          <a:noFill/>
          <a:ln/>
        </p:spPr>
        <p:txBody>
          <a:bodyPr wrap="square" lIns="0" tIns="0" rIns="0" bIns="0" rtlCol="0" anchor="ctr"/>
          <a:lstStyle/>
          <a:p>
            <a:pPr indent="0" marL="0">
              <a:lnSpc>
                <a:spcPts val="3200"/>
              </a:lnSpc>
              <a:buNone/>
            </a:pPr>
            <a:r>
              <a:rPr lang="en-US" sz="2400" dirty="0">
                <a:solidFill>
                  <a:srgbClr val="F5C518"/>
                </a:solidFill>
                <a:latin typeface="Cambria" pitchFamily="34" charset="0"/>
                <a:ea typeface="Cambria" pitchFamily="34" charset="-122"/>
                <a:cs typeface="Cambria" pitchFamily="34" charset="-120"/>
              </a:rPr>
              <a:t>Les vendemos el cerebro, los ojos y las manos</a:t>
            </a:r>
            <a:endParaRPr lang="en-US" sz="2400" dirty="0"/>
          </a:p>
          <a:p>
            <a:pPr indent="0" marL="0">
              <a:lnSpc>
                <a:spcPts val="3200"/>
              </a:lnSpc>
              <a:buNone/>
            </a:pPr>
            <a:r>
              <a:rPr lang="en-US" sz="2400" dirty="0">
                <a:solidFill>
                  <a:srgbClr val="F5C518"/>
                </a:solidFill>
                <a:latin typeface="Cambria" pitchFamily="34" charset="0"/>
                <a:ea typeface="Cambria" pitchFamily="34" charset="-122"/>
                <a:cs typeface="Cambria" pitchFamily="34" charset="-120"/>
              </a:rPr>
              <a:t>que le faltan al que ya tienen trabajando en la bodega.</a:t>
            </a:r>
            <a:endParaRPr lang="en-US" sz="2400" dirty="0"/>
          </a:p>
        </p:txBody>
      </p:sp>
      <p:sp>
        <p:nvSpPr>
          <p:cNvPr id="7" name="Text 4"/>
          <p:cNvSpPr/>
          <p:nvPr/>
        </p:nvSpPr>
        <p:spPr>
          <a:xfrm>
            <a:off x="822960" y="5120640"/>
            <a:ext cx="7315200" cy="457200"/>
          </a:xfrm>
          <a:prstGeom prst="rect">
            <a:avLst/>
          </a:prstGeom>
          <a:noFill/>
          <a:ln/>
        </p:spPr>
        <p:txBody>
          <a:bodyPr wrap="square" lIns="0" tIns="0" rIns="0" bIns="0" rtlCol="0" anchor="ctr"/>
          <a:lstStyle/>
          <a:p>
            <a:pPr indent="0" marL="0">
              <a:buNone/>
            </a:pPr>
            <a:r>
              <a:rPr lang="en-US" sz="1800" b="1" dirty="0">
                <a:solidFill>
                  <a:srgbClr val="8B949E"/>
                </a:solidFill>
                <a:latin typeface="Calibri" pitchFamily="34" charset="0"/>
                <a:ea typeface="Calibri" pitchFamily="34" charset="-122"/>
                <a:cs typeface="Calibri" pitchFamily="34" charset="-120"/>
              </a:rPr>
              <a:t>Gracias · ¿Qué les quedó dando vueltas?</a:t>
            </a:r>
            <a:endParaRPr lang="en-US" sz="1800" dirty="0"/>
          </a:p>
        </p:txBody>
      </p:sp>
      <p:sp>
        <p:nvSpPr>
          <p:cNvPr id="8" name="Text 5"/>
          <p:cNvSpPr/>
          <p:nvPr/>
        </p:nvSpPr>
        <p:spPr>
          <a:xfrm>
            <a:off x="822960" y="5852160"/>
            <a:ext cx="7315200" cy="365760"/>
          </a:xfrm>
          <a:prstGeom prst="rect">
            <a:avLst/>
          </a:prstGeom>
          <a:noFill/>
          <a:ln/>
        </p:spPr>
        <p:txBody>
          <a:bodyPr wrap="square" lIns="0" tIns="0" rIns="0" bIns="0" rtlCol="0" anchor="ctr"/>
          <a:lstStyle/>
          <a:p>
            <a:pPr indent="0" marL="0">
              <a:buNone/>
            </a:pPr>
            <a:r>
              <a:rPr lang="en-US" sz="1300" b="1" dirty="0">
                <a:solidFill>
                  <a:srgbClr val="ECEBE6"/>
                </a:solidFill>
                <a:latin typeface="Calibri" pitchFamily="34" charset="0"/>
                <a:ea typeface="Calibri" pitchFamily="34" charset="-122"/>
                <a:cs typeface="Calibri" pitchFamily="34" charset="-120"/>
              </a:rPr>
              <a:t>TaTa · Tecnología Avanzada de Transporte Autónomo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TaTa · Tecnología Avanzada de Transporte Autónomo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TaTa · Automatización de montacargas — RETHINK / ELCATEX</dc:title>
  <dc:subject>PptxGenJS Presentation</dc:subject>
  <dc:creator>TaTa</dc:creator>
  <cp:lastModifiedBy>TaTa</cp:lastModifiedBy>
  <cp:revision>1</cp:revision>
  <dcterms:created xsi:type="dcterms:W3CDTF">2026-08-19T04:09:28Z</dcterms:created>
  <dcterms:modified xsi:type="dcterms:W3CDTF">2026-08-19T04:09:28Z</dcterms:modified>
</cp:coreProperties>
</file>